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6" r:id="rId4"/>
    <p:sldId id="267" r:id="rId5"/>
    <p:sldId id="268" r:id="rId6"/>
    <p:sldId id="269" r:id="rId7"/>
    <p:sldId id="271" r:id="rId8"/>
    <p:sldId id="270" r:id="rId9"/>
    <p:sldId id="260" r:id="rId10"/>
    <p:sldId id="272" r:id="rId11"/>
    <p:sldId id="273" r:id="rId12"/>
    <p:sldId id="274" r:id="rId13"/>
    <p:sldId id="298" r:id="rId1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51D595-A31D-4C25-9CF9-FF3780052B82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</dgm:pt>
    <dgm:pt modelId="{47EBA533-6781-42CC-B146-247921D5C4B9}">
      <dgm:prSet phldrT="[Texte]"/>
      <dgm:spPr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fr-FR" dirty="0">
              <a:latin typeface="Silka"/>
            </a:rPr>
            <a:t>zoning</a:t>
          </a:r>
        </a:p>
      </dgm:t>
    </dgm:pt>
    <dgm:pt modelId="{F3923186-5E78-4A0F-8C71-C12C1420433B}" type="parTrans" cxnId="{EC552B4E-4FF3-46F3-813D-9A926F74CCB5}">
      <dgm:prSet/>
      <dgm:spPr/>
      <dgm:t>
        <a:bodyPr/>
        <a:lstStyle/>
        <a:p>
          <a:endParaRPr lang="fr-FR"/>
        </a:p>
      </dgm:t>
    </dgm:pt>
    <dgm:pt modelId="{1CA2F5B1-3CA2-4A99-8B47-91FA4AD07C0F}" type="sibTrans" cxnId="{EC552B4E-4FF3-46F3-813D-9A926F74CCB5}">
      <dgm:prSet/>
      <dgm:spPr/>
      <dgm:t>
        <a:bodyPr/>
        <a:lstStyle/>
        <a:p>
          <a:endParaRPr lang="fr-FR"/>
        </a:p>
      </dgm:t>
    </dgm:pt>
    <dgm:pt modelId="{E508FA27-4A91-4A6D-B68C-E48D3C8EA359}">
      <dgm:prSet/>
      <dgm:spPr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fr-FR" dirty="0">
              <a:latin typeface="Silka" panose="00000500000000000000"/>
            </a:rPr>
            <a:t>maquette</a:t>
          </a:r>
        </a:p>
      </dgm:t>
    </dgm:pt>
    <dgm:pt modelId="{46C30FB1-486B-4C8B-B5B4-C357866A4E9B}" type="parTrans" cxnId="{196E2326-0D95-465D-980E-8CBAC88D6B09}">
      <dgm:prSet/>
      <dgm:spPr/>
      <dgm:t>
        <a:bodyPr/>
        <a:lstStyle/>
        <a:p>
          <a:endParaRPr lang="fr-FR"/>
        </a:p>
      </dgm:t>
    </dgm:pt>
    <dgm:pt modelId="{4F588527-84EA-43E0-8324-9B2770E4268A}" type="sibTrans" cxnId="{196E2326-0D95-465D-980E-8CBAC88D6B09}">
      <dgm:prSet/>
      <dgm:spPr/>
      <dgm:t>
        <a:bodyPr/>
        <a:lstStyle/>
        <a:p>
          <a:endParaRPr lang="fr-FR"/>
        </a:p>
      </dgm:t>
    </dgm:pt>
    <dgm:pt modelId="{78BC444B-B321-4DFF-ADA7-C8591269E102}">
      <dgm:prSet/>
      <dgm:spPr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fr-FR" dirty="0">
              <a:latin typeface="Silka" panose="00000500000000000000"/>
            </a:rPr>
            <a:t>prototype</a:t>
          </a:r>
        </a:p>
      </dgm:t>
    </dgm:pt>
    <dgm:pt modelId="{F3C2C6D1-FC53-4697-AACF-BFEDB223B780}" type="parTrans" cxnId="{788E94A1-A388-4AD9-9DD1-6C71BD59E1F6}">
      <dgm:prSet/>
      <dgm:spPr/>
      <dgm:t>
        <a:bodyPr/>
        <a:lstStyle/>
        <a:p>
          <a:endParaRPr lang="fr-FR"/>
        </a:p>
      </dgm:t>
    </dgm:pt>
    <dgm:pt modelId="{2AE395AF-41C3-4242-99DC-A2E0C0F4E93E}" type="sibTrans" cxnId="{788E94A1-A388-4AD9-9DD1-6C71BD59E1F6}">
      <dgm:prSet/>
      <dgm:spPr/>
      <dgm:t>
        <a:bodyPr/>
        <a:lstStyle/>
        <a:p>
          <a:endParaRPr lang="fr-FR"/>
        </a:p>
      </dgm:t>
    </dgm:pt>
    <dgm:pt modelId="{38DE727C-4B86-4D6D-BE0C-31E551466C95}">
      <dgm:prSet phldrT="[Texte]"/>
      <dgm:spPr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</dgm:spPr>
      <dgm:t>
        <a:bodyPr/>
        <a:lstStyle/>
        <a:p>
          <a:r>
            <a:rPr lang="fr-FR" dirty="0">
              <a:latin typeface="Silka"/>
            </a:rPr>
            <a:t>wireframe</a:t>
          </a:r>
        </a:p>
      </dgm:t>
    </dgm:pt>
    <dgm:pt modelId="{BBB3C016-1192-466D-9169-F2B2CA6EDFC8}" type="sibTrans" cxnId="{7FC63D32-7801-40AB-AF71-0B0FE291E9D6}">
      <dgm:prSet/>
      <dgm:spPr/>
      <dgm:t>
        <a:bodyPr/>
        <a:lstStyle/>
        <a:p>
          <a:endParaRPr lang="fr-FR"/>
        </a:p>
      </dgm:t>
    </dgm:pt>
    <dgm:pt modelId="{D57DB6DA-E9B8-4916-8EA4-1AEA2343B124}" type="parTrans" cxnId="{7FC63D32-7801-40AB-AF71-0B0FE291E9D6}">
      <dgm:prSet/>
      <dgm:spPr/>
      <dgm:t>
        <a:bodyPr/>
        <a:lstStyle/>
        <a:p>
          <a:endParaRPr lang="fr-FR"/>
        </a:p>
      </dgm:t>
    </dgm:pt>
    <dgm:pt modelId="{67373071-54B7-4375-906C-666B64C75F7A}" type="pres">
      <dgm:prSet presAssocID="{1051D595-A31D-4C25-9CF9-FF3780052B82}" presName="Name0" presStyleCnt="0">
        <dgm:presLayoutVars>
          <dgm:dir/>
          <dgm:resizeHandles val="exact"/>
        </dgm:presLayoutVars>
      </dgm:prSet>
      <dgm:spPr/>
    </dgm:pt>
    <dgm:pt modelId="{13F997A1-A59E-455C-ADFB-95DCE43A1D59}" type="pres">
      <dgm:prSet presAssocID="{47EBA533-6781-42CC-B146-247921D5C4B9}" presName="node" presStyleLbl="node1" presStyleIdx="0" presStyleCnt="4" custLinFactNeighborX="2693">
        <dgm:presLayoutVars>
          <dgm:bulletEnabled val="1"/>
        </dgm:presLayoutVars>
      </dgm:prSet>
      <dgm:spPr/>
    </dgm:pt>
    <dgm:pt modelId="{518D13C6-3416-4F36-AC25-EC38B423B82D}" type="pres">
      <dgm:prSet presAssocID="{1CA2F5B1-3CA2-4A99-8B47-91FA4AD07C0F}" presName="sibTrans" presStyleLbl="sibTrans2D1" presStyleIdx="0" presStyleCnt="3"/>
      <dgm:spPr/>
    </dgm:pt>
    <dgm:pt modelId="{9ADFB2B1-81F9-4F57-A788-989077C37C3A}" type="pres">
      <dgm:prSet presAssocID="{1CA2F5B1-3CA2-4A99-8B47-91FA4AD07C0F}" presName="connectorText" presStyleLbl="sibTrans2D1" presStyleIdx="0" presStyleCnt="3"/>
      <dgm:spPr/>
    </dgm:pt>
    <dgm:pt modelId="{B44EB135-E20D-4320-B89D-48B1766C10F6}" type="pres">
      <dgm:prSet presAssocID="{38DE727C-4B86-4D6D-BE0C-31E551466C95}" presName="node" presStyleLbl="node1" presStyleIdx="1" presStyleCnt="4">
        <dgm:presLayoutVars>
          <dgm:bulletEnabled val="1"/>
        </dgm:presLayoutVars>
      </dgm:prSet>
      <dgm:spPr/>
    </dgm:pt>
    <dgm:pt modelId="{EF041BE3-B260-46B6-A117-904F3F1C8ADF}" type="pres">
      <dgm:prSet presAssocID="{BBB3C016-1192-466D-9169-F2B2CA6EDFC8}" presName="sibTrans" presStyleLbl="sibTrans2D1" presStyleIdx="1" presStyleCnt="3"/>
      <dgm:spPr/>
    </dgm:pt>
    <dgm:pt modelId="{A05D4777-6831-4C53-A4B0-0323FC75FFDA}" type="pres">
      <dgm:prSet presAssocID="{BBB3C016-1192-466D-9169-F2B2CA6EDFC8}" presName="connectorText" presStyleLbl="sibTrans2D1" presStyleIdx="1" presStyleCnt="3"/>
      <dgm:spPr/>
    </dgm:pt>
    <dgm:pt modelId="{C7ADCDB8-F9B2-43EF-8C6F-3C0EC99DE1A5}" type="pres">
      <dgm:prSet presAssocID="{E508FA27-4A91-4A6D-B68C-E48D3C8EA359}" presName="node" presStyleLbl="node1" presStyleIdx="2" presStyleCnt="4">
        <dgm:presLayoutVars>
          <dgm:bulletEnabled val="1"/>
        </dgm:presLayoutVars>
      </dgm:prSet>
      <dgm:spPr/>
    </dgm:pt>
    <dgm:pt modelId="{D5772B19-5DE9-4781-8BAA-1D1120FA995A}" type="pres">
      <dgm:prSet presAssocID="{4F588527-84EA-43E0-8324-9B2770E4268A}" presName="sibTrans" presStyleLbl="sibTrans2D1" presStyleIdx="2" presStyleCnt="3"/>
      <dgm:spPr/>
    </dgm:pt>
    <dgm:pt modelId="{9A39553C-530D-449D-842C-3A05C6D69E27}" type="pres">
      <dgm:prSet presAssocID="{4F588527-84EA-43E0-8324-9B2770E4268A}" presName="connectorText" presStyleLbl="sibTrans2D1" presStyleIdx="2" presStyleCnt="3"/>
      <dgm:spPr/>
    </dgm:pt>
    <dgm:pt modelId="{2623F129-38BB-4F7C-A422-4D1B598C035D}" type="pres">
      <dgm:prSet presAssocID="{78BC444B-B321-4DFF-ADA7-C8591269E102}" presName="node" presStyleLbl="node1" presStyleIdx="3" presStyleCnt="4">
        <dgm:presLayoutVars>
          <dgm:bulletEnabled val="1"/>
        </dgm:presLayoutVars>
      </dgm:prSet>
      <dgm:spPr/>
    </dgm:pt>
  </dgm:ptLst>
  <dgm:cxnLst>
    <dgm:cxn modelId="{0E24720D-AEAD-4F42-9199-BD12A32F8BA7}" type="presOf" srcId="{BBB3C016-1192-466D-9169-F2B2CA6EDFC8}" destId="{A05D4777-6831-4C53-A4B0-0323FC75FFDA}" srcOrd="1" destOrd="0" presId="urn:microsoft.com/office/officeart/2005/8/layout/process1"/>
    <dgm:cxn modelId="{196E2326-0D95-465D-980E-8CBAC88D6B09}" srcId="{1051D595-A31D-4C25-9CF9-FF3780052B82}" destId="{E508FA27-4A91-4A6D-B68C-E48D3C8EA359}" srcOrd="2" destOrd="0" parTransId="{46C30FB1-486B-4C8B-B5B4-C357866A4E9B}" sibTransId="{4F588527-84EA-43E0-8324-9B2770E4268A}"/>
    <dgm:cxn modelId="{7FC63D32-7801-40AB-AF71-0B0FE291E9D6}" srcId="{1051D595-A31D-4C25-9CF9-FF3780052B82}" destId="{38DE727C-4B86-4D6D-BE0C-31E551466C95}" srcOrd="1" destOrd="0" parTransId="{D57DB6DA-E9B8-4916-8EA4-1AEA2343B124}" sibTransId="{BBB3C016-1192-466D-9169-F2B2CA6EDFC8}"/>
    <dgm:cxn modelId="{68C5033A-0FCA-43BE-A8F8-4CFB1A4F18B6}" type="presOf" srcId="{4F588527-84EA-43E0-8324-9B2770E4268A}" destId="{D5772B19-5DE9-4781-8BAA-1D1120FA995A}" srcOrd="0" destOrd="0" presId="urn:microsoft.com/office/officeart/2005/8/layout/process1"/>
    <dgm:cxn modelId="{E568B162-5F77-4F98-844B-FCD242696D99}" type="presOf" srcId="{E508FA27-4A91-4A6D-B68C-E48D3C8EA359}" destId="{C7ADCDB8-F9B2-43EF-8C6F-3C0EC99DE1A5}" srcOrd="0" destOrd="0" presId="urn:microsoft.com/office/officeart/2005/8/layout/process1"/>
    <dgm:cxn modelId="{1F757B66-4808-4E0F-BBF3-561357786EE6}" type="presOf" srcId="{78BC444B-B321-4DFF-ADA7-C8591269E102}" destId="{2623F129-38BB-4F7C-A422-4D1B598C035D}" srcOrd="0" destOrd="0" presId="urn:microsoft.com/office/officeart/2005/8/layout/process1"/>
    <dgm:cxn modelId="{6E7FDD68-5FB0-4313-BA33-9E9442A69DFB}" type="presOf" srcId="{1051D595-A31D-4C25-9CF9-FF3780052B82}" destId="{67373071-54B7-4375-906C-666B64C75F7A}" srcOrd="0" destOrd="0" presId="urn:microsoft.com/office/officeart/2005/8/layout/process1"/>
    <dgm:cxn modelId="{06DCE64D-5ABF-4FDA-82B0-89426031A2D6}" type="presOf" srcId="{BBB3C016-1192-466D-9169-F2B2CA6EDFC8}" destId="{EF041BE3-B260-46B6-A117-904F3F1C8ADF}" srcOrd="0" destOrd="0" presId="urn:microsoft.com/office/officeart/2005/8/layout/process1"/>
    <dgm:cxn modelId="{EC552B4E-4FF3-46F3-813D-9A926F74CCB5}" srcId="{1051D595-A31D-4C25-9CF9-FF3780052B82}" destId="{47EBA533-6781-42CC-B146-247921D5C4B9}" srcOrd="0" destOrd="0" parTransId="{F3923186-5E78-4A0F-8C71-C12C1420433B}" sibTransId="{1CA2F5B1-3CA2-4A99-8B47-91FA4AD07C0F}"/>
    <dgm:cxn modelId="{4D15C454-7A77-42DE-A042-389D479D68AE}" type="presOf" srcId="{4F588527-84EA-43E0-8324-9B2770E4268A}" destId="{9A39553C-530D-449D-842C-3A05C6D69E27}" srcOrd="1" destOrd="0" presId="urn:microsoft.com/office/officeart/2005/8/layout/process1"/>
    <dgm:cxn modelId="{43605677-5E0D-4296-93DE-F97E1018A140}" type="presOf" srcId="{47EBA533-6781-42CC-B146-247921D5C4B9}" destId="{13F997A1-A59E-455C-ADFB-95DCE43A1D59}" srcOrd="0" destOrd="0" presId="urn:microsoft.com/office/officeart/2005/8/layout/process1"/>
    <dgm:cxn modelId="{EABB7192-4ED4-4B76-B348-322ACCCF7820}" type="presOf" srcId="{38DE727C-4B86-4D6D-BE0C-31E551466C95}" destId="{B44EB135-E20D-4320-B89D-48B1766C10F6}" srcOrd="0" destOrd="0" presId="urn:microsoft.com/office/officeart/2005/8/layout/process1"/>
    <dgm:cxn modelId="{BBD97795-35D8-4CEE-BE22-81F54FCA7EC4}" type="presOf" srcId="{1CA2F5B1-3CA2-4A99-8B47-91FA4AD07C0F}" destId="{9ADFB2B1-81F9-4F57-A788-989077C37C3A}" srcOrd="1" destOrd="0" presId="urn:microsoft.com/office/officeart/2005/8/layout/process1"/>
    <dgm:cxn modelId="{788E94A1-A388-4AD9-9DD1-6C71BD59E1F6}" srcId="{1051D595-A31D-4C25-9CF9-FF3780052B82}" destId="{78BC444B-B321-4DFF-ADA7-C8591269E102}" srcOrd="3" destOrd="0" parTransId="{F3C2C6D1-FC53-4697-AACF-BFEDB223B780}" sibTransId="{2AE395AF-41C3-4242-99DC-A2E0C0F4E93E}"/>
    <dgm:cxn modelId="{6290AFD5-F400-4C14-9E87-E66338278F6A}" type="presOf" srcId="{1CA2F5B1-3CA2-4A99-8B47-91FA4AD07C0F}" destId="{518D13C6-3416-4F36-AC25-EC38B423B82D}" srcOrd="0" destOrd="0" presId="urn:microsoft.com/office/officeart/2005/8/layout/process1"/>
    <dgm:cxn modelId="{11B4C70A-D054-4B56-9EAB-CBB6282FC098}" type="presParOf" srcId="{67373071-54B7-4375-906C-666B64C75F7A}" destId="{13F997A1-A59E-455C-ADFB-95DCE43A1D59}" srcOrd="0" destOrd="0" presId="urn:microsoft.com/office/officeart/2005/8/layout/process1"/>
    <dgm:cxn modelId="{2249B75E-0F27-4939-8F8D-93E086BCD7E5}" type="presParOf" srcId="{67373071-54B7-4375-906C-666B64C75F7A}" destId="{518D13C6-3416-4F36-AC25-EC38B423B82D}" srcOrd="1" destOrd="0" presId="urn:microsoft.com/office/officeart/2005/8/layout/process1"/>
    <dgm:cxn modelId="{8FFBBBBB-C00C-4E3D-AC2D-EFB8D48839F1}" type="presParOf" srcId="{518D13C6-3416-4F36-AC25-EC38B423B82D}" destId="{9ADFB2B1-81F9-4F57-A788-989077C37C3A}" srcOrd="0" destOrd="0" presId="urn:microsoft.com/office/officeart/2005/8/layout/process1"/>
    <dgm:cxn modelId="{D5C51005-9ADC-42FC-B541-AF94BCE650E7}" type="presParOf" srcId="{67373071-54B7-4375-906C-666B64C75F7A}" destId="{B44EB135-E20D-4320-B89D-48B1766C10F6}" srcOrd="2" destOrd="0" presId="urn:microsoft.com/office/officeart/2005/8/layout/process1"/>
    <dgm:cxn modelId="{37929775-C7E0-44EB-9A8A-EAF774150D54}" type="presParOf" srcId="{67373071-54B7-4375-906C-666B64C75F7A}" destId="{EF041BE3-B260-46B6-A117-904F3F1C8ADF}" srcOrd="3" destOrd="0" presId="urn:microsoft.com/office/officeart/2005/8/layout/process1"/>
    <dgm:cxn modelId="{2EC12916-D7BF-41AB-9BC6-5768B7C078CD}" type="presParOf" srcId="{EF041BE3-B260-46B6-A117-904F3F1C8ADF}" destId="{A05D4777-6831-4C53-A4B0-0323FC75FFDA}" srcOrd="0" destOrd="0" presId="urn:microsoft.com/office/officeart/2005/8/layout/process1"/>
    <dgm:cxn modelId="{4EA22E58-C385-45DF-814A-AA26646D4B3D}" type="presParOf" srcId="{67373071-54B7-4375-906C-666B64C75F7A}" destId="{C7ADCDB8-F9B2-43EF-8C6F-3C0EC99DE1A5}" srcOrd="4" destOrd="0" presId="urn:microsoft.com/office/officeart/2005/8/layout/process1"/>
    <dgm:cxn modelId="{DB9ABBFE-D78A-4920-A424-9D2930970F14}" type="presParOf" srcId="{67373071-54B7-4375-906C-666B64C75F7A}" destId="{D5772B19-5DE9-4781-8BAA-1D1120FA995A}" srcOrd="5" destOrd="0" presId="urn:microsoft.com/office/officeart/2005/8/layout/process1"/>
    <dgm:cxn modelId="{4BF1737C-752E-4BE4-BE53-08866E6A5DDF}" type="presParOf" srcId="{D5772B19-5DE9-4781-8BAA-1D1120FA995A}" destId="{9A39553C-530D-449D-842C-3A05C6D69E27}" srcOrd="0" destOrd="0" presId="urn:microsoft.com/office/officeart/2005/8/layout/process1"/>
    <dgm:cxn modelId="{E4349A4A-EAA2-4D83-9BD9-972B59131319}" type="presParOf" srcId="{67373071-54B7-4375-906C-666B64C75F7A}" destId="{2623F129-38BB-4F7C-A422-4D1B598C035D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F997A1-A59E-455C-ADFB-95DCE43A1D59}">
      <dsp:nvSpPr>
        <dsp:cNvPr id="0" name=""/>
        <dsp:cNvSpPr/>
      </dsp:nvSpPr>
      <dsp:spPr>
        <a:xfrm>
          <a:off x="27178" y="2851031"/>
          <a:ext cx="2081168" cy="124870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Silka"/>
            </a:rPr>
            <a:t>zoning</a:t>
          </a:r>
        </a:p>
      </dsp:txBody>
      <dsp:txXfrm>
        <a:off x="63751" y="2887604"/>
        <a:ext cx="2008022" cy="1175555"/>
      </dsp:txXfrm>
    </dsp:sp>
    <dsp:sp modelId="{518D13C6-3416-4F36-AC25-EC38B423B82D}">
      <dsp:nvSpPr>
        <dsp:cNvPr id="0" name=""/>
        <dsp:cNvSpPr/>
      </dsp:nvSpPr>
      <dsp:spPr>
        <a:xfrm>
          <a:off x="2310859" y="3217317"/>
          <a:ext cx="429326" cy="5161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2310859" y="3320543"/>
        <a:ext cx="300528" cy="309677"/>
      </dsp:txXfrm>
    </dsp:sp>
    <dsp:sp modelId="{B44EB135-E20D-4320-B89D-48B1766C10F6}">
      <dsp:nvSpPr>
        <dsp:cNvPr id="0" name=""/>
        <dsp:cNvSpPr/>
      </dsp:nvSpPr>
      <dsp:spPr>
        <a:xfrm>
          <a:off x="2918396" y="2851031"/>
          <a:ext cx="2081168" cy="124870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Silka"/>
            </a:rPr>
            <a:t>wireframe</a:t>
          </a:r>
        </a:p>
      </dsp:txBody>
      <dsp:txXfrm>
        <a:off x="2954969" y="2887604"/>
        <a:ext cx="2008022" cy="1175555"/>
      </dsp:txXfrm>
    </dsp:sp>
    <dsp:sp modelId="{EF041BE3-B260-46B6-A117-904F3F1C8ADF}">
      <dsp:nvSpPr>
        <dsp:cNvPr id="0" name=""/>
        <dsp:cNvSpPr/>
      </dsp:nvSpPr>
      <dsp:spPr>
        <a:xfrm>
          <a:off x="5207682" y="3217317"/>
          <a:ext cx="441207" cy="5161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5207682" y="3320543"/>
        <a:ext cx="308845" cy="309677"/>
      </dsp:txXfrm>
    </dsp:sp>
    <dsp:sp modelId="{C7ADCDB8-F9B2-43EF-8C6F-3C0EC99DE1A5}">
      <dsp:nvSpPr>
        <dsp:cNvPr id="0" name=""/>
        <dsp:cNvSpPr/>
      </dsp:nvSpPr>
      <dsp:spPr>
        <a:xfrm>
          <a:off x="5832032" y="2851031"/>
          <a:ext cx="2081168" cy="124870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Silka" panose="00000500000000000000"/>
            </a:rPr>
            <a:t>maquette</a:t>
          </a:r>
        </a:p>
      </dsp:txBody>
      <dsp:txXfrm>
        <a:off x="5868605" y="2887604"/>
        <a:ext cx="2008022" cy="1175555"/>
      </dsp:txXfrm>
    </dsp:sp>
    <dsp:sp modelId="{D5772B19-5DE9-4781-8BAA-1D1120FA995A}">
      <dsp:nvSpPr>
        <dsp:cNvPr id="0" name=""/>
        <dsp:cNvSpPr/>
      </dsp:nvSpPr>
      <dsp:spPr>
        <a:xfrm>
          <a:off x="8121318" y="3217317"/>
          <a:ext cx="441207" cy="516129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fr-FR" sz="2200" kern="1200"/>
        </a:p>
      </dsp:txBody>
      <dsp:txXfrm>
        <a:off x="8121318" y="3320543"/>
        <a:ext cx="308845" cy="309677"/>
      </dsp:txXfrm>
    </dsp:sp>
    <dsp:sp modelId="{2623F129-38BB-4F7C-A422-4D1B598C035D}">
      <dsp:nvSpPr>
        <dsp:cNvPr id="0" name=""/>
        <dsp:cNvSpPr/>
      </dsp:nvSpPr>
      <dsp:spPr>
        <a:xfrm>
          <a:off x="8745669" y="2851031"/>
          <a:ext cx="2081168" cy="1248701"/>
        </a:xfrm>
        <a:prstGeom prst="roundRect">
          <a:avLst>
            <a:gd name="adj" fmla="val 10000"/>
          </a:avLst>
        </a:prstGeom>
        <a:solidFill>
          <a:schemeClr val="bg1">
            <a:lumMod val="85000"/>
          </a:schemeClr>
        </a:solidFill>
        <a:ln>
          <a:solidFill>
            <a:schemeClr val="bg1">
              <a:lumMod val="95000"/>
            </a:schemeClr>
          </a:solidFill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300" kern="1200" dirty="0">
              <a:latin typeface="Silka" panose="00000500000000000000"/>
            </a:rPr>
            <a:t>prototype</a:t>
          </a:r>
        </a:p>
      </dsp:txBody>
      <dsp:txXfrm>
        <a:off x="8782242" y="2887604"/>
        <a:ext cx="2008022" cy="11755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657617-8C31-4DE7-B9F8-BB197F09CE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70550DC-D5AC-49BA-955D-6F0DB3C55C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C5D40C4-9AB3-4974-9680-1C6257AE8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9693C2-BACD-432E-A211-F7331C0E14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182F03CB-209E-4E52-831B-50311C083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0811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070CA-5AEF-4333-B09B-B62ECBAFF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ABA8926-EC89-4FCE-8EE2-510E00FCE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BC6F1E2-8B72-4C56-A3D2-D38F4724D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3F9FE44-E5DF-455B-94D1-038316552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51AF112-9DE8-4E96-8454-E9AE767B5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3574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DEAB57-4A8A-43E2-9829-8ABC3F663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87972DE-1CD0-4D75-92D6-396E01D4D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C9D641A-0D03-43CD-A2AD-40BD5E850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843567F-E3EE-4C3B-AF90-ADA9EB235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C660C44-0283-40AA-B3DF-B63DAA5BB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67501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D988F7-3C22-42BD-9931-59C7F74A5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C179B9-C8EA-438B-86AA-7010F898E3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DC93930-95D6-43EA-84B0-52BA247FB5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5BD324C-18A0-4803-AE5F-CC6E057BB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FF7F904-5A43-425E-BFCC-ADE5287A6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FEB72EF-5748-4BF0-A59A-82D7FB04C4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8885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79A945-DA19-41DE-AB8E-36E6ECA9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A94B410-A0F8-4285-961D-7F303075FB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D8946C23-14A7-4275-A836-2098673DCB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D76E5C5-EDE7-46F3-9904-4A2A806DE6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4CF9CC0-39DD-461D-87A7-7C4A02F729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31B6870-7A25-44D4-BE25-C6FC82107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9A82D2D-A957-4540-BBE0-E64A0D7C1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603CE5-6A2C-4D15-96C3-225C964A0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609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5D8137-673F-4218-A8E6-51C307E4F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A7503BF-434F-43F4-81DA-2B6BB17FDB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B508054-1A7B-412F-9C26-3BEE7629B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CF7CFE2-2150-4D55-A571-C6FE117B4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57501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A5E99CB-8A35-4A89-BA5B-79CA618BA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B071F24-FF90-44FA-A3B5-D870D170ED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A3624F1-1A37-43FF-A831-D44093605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3379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736CEE-371C-4DAD-8E59-2DFA728E9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5A74E4-0132-4ABF-BB39-F661C4E864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9070399-0E2C-49A1-BC16-697122643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0E4DD58-AA3F-4D13-A48D-C45FFE708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8FED541-5B81-4195-AC82-0F1B03C87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E93CFEC-6460-4CF6-B983-1EA8391D3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415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48EAE9-35A4-414A-8BE8-FCB84B86CF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0830FA7-4F08-48C7-BD42-774BA6A967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57D66CC-6E7F-40BA-BB14-466CCA67DD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ED9B495-D655-4E1A-9AF1-5DA394553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794089E-3EDD-433F-829B-DBDD7A0A3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DF3E2BF-B357-4D01-A117-AB7675414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531561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5DBC426-C249-4E6E-A6A6-6FECE1EEA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C5F47A6-205D-431F-A5A1-BF11174DF7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2D48687-42A0-49E9-A877-0269174FF6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FE1E49-D482-4CD7-8BFE-16BE6072F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0F2B71-B2CF-4035-B970-053B49120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832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3EF823A9-45D9-4292-AF85-22387020BE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C510187-CE5E-4DCF-A26D-C5045E4EDB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EABB4E9-5078-4948-AC1B-AB0837F63C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F121F66-A09E-432A-A8D9-E9A5DB24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473C79-CD04-44AF-803B-1A6627D68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93289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70267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E617DE7B-C945-4E34-BEC4-DC7068F82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78E49C6-7CFD-4861-9E4E-AA17296ED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9A62F7-985B-48FC-8ACF-3D6A77DB6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E4385E-C94D-49E4-85D5-D2118CE29696}" type="datetimeFigureOut">
              <a:rPr lang="fr-FR" smtClean="0"/>
              <a:t>02/08/2023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DD62D49-E559-4077-9531-5A418AA394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0A782EC-4B10-4684-8F22-989D417AAA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D31596-ABF0-4653-8226-AC3D5CB5F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4515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annipolito.fr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pencil.evolus.vn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7081284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32D7DE57-EA08-41D9-972C-F0579F99CBA5}"/>
              </a:ext>
            </a:extLst>
          </p:cNvPr>
          <p:cNvSpPr txBox="1">
            <a:spLocks/>
          </p:cNvSpPr>
          <p:nvPr/>
        </p:nvSpPr>
        <p:spPr>
          <a:xfrm>
            <a:off x="453311" y="215703"/>
            <a:ext cx="5745470" cy="238760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dirty="0"/>
              <a:t>UX/UI &amp; Landing Page</a:t>
            </a:r>
          </a:p>
        </p:txBody>
      </p:sp>
      <p:sp>
        <p:nvSpPr>
          <p:cNvPr id="9" name="Espace réservé de la date 3">
            <a:extLst>
              <a:ext uri="{FF2B5EF4-FFF2-40B4-BE49-F238E27FC236}">
                <a16:creationId xmlns:a16="http://schemas.microsoft.com/office/drawing/2014/main" id="{C6E2C8AC-AFB2-4A02-A569-68D2D194B9DD}"/>
              </a:ext>
            </a:extLst>
          </p:cNvPr>
          <p:cNvSpPr txBox="1">
            <a:spLocks/>
          </p:cNvSpPr>
          <p:nvPr/>
        </p:nvSpPr>
        <p:spPr>
          <a:xfrm>
            <a:off x="274502" y="6356350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FS Consulting </a:t>
            </a:r>
          </a:p>
        </p:txBody>
      </p:sp>
      <p:sp>
        <p:nvSpPr>
          <p:cNvPr id="10" name="Espace réservé du numéro de diapositive 5">
            <a:extLst>
              <a:ext uri="{FF2B5EF4-FFF2-40B4-BE49-F238E27FC236}">
                <a16:creationId xmlns:a16="http://schemas.microsoft.com/office/drawing/2014/main" id="{C8DA517E-F120-4AA3-8829-AE4F48BF9D63}"/>
              </a:ext>
            </a:extLst>
          </p:cNvPr>
          <p:cNvSpPr txBox="1">
            <a:spLocks/>
          </p:cNvSpPr>
          <p:nvPr/>
        </p:nvSpPr>
        <p:spPr>
          <a:xfrm>
            <a:off x="10374903" y="6356350"/>
            <a:ext cx="1817097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</a:rPr>
              <a:t>Rocket </a:t>
            </a:r>
            <a:r>
              <a:rPr lang="fr-FR" sz="1200" dirty="0" err="1">
                <a:latin typeface="Silka" panose="00000500000000000000" pitchFamily="50" charset="0"/>
              </a:rPr>
              <a:t>School</a:t>
            </a:r>
            <a:r>
              <a:rPr lang="fr-FR" sz="1200" dirty="0">
                <a:latin typeface="Silka" panose="00000500000000000000" pitchFamily="50" charset="0"/>
              </a:rPr>
              <a:t> Paris</a:t>
            </a:r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90A8216A-4EFD-4310-822D-2D52E24AE1B7}"/>
              </a:ext>
            </a:extLst>
          </p:cNvPr>
          <p:cNvSpPr txBox="1">
            <a:spLocks/>
          </p:cNvSpPr>
          <p:nvPr/>
        </p:nvSpPr>
        <p:spPr>
          <a:xfrm>
            <a:off x="453311" y="4391209"/>
            <a:ext cx="6542912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Chapitre 5 : prototypage</a:t>
            </a:r>
            <a:b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</a:br>
            <a:endParaRPr lang="fr-FR" sz="6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pic>
        <p:nvPicPr>
          <p:cNvPr id="12" name="Picture 2" descr="École de Marketing, Customer Success et Vente nouvelle génération | Rocket  School">
            <a:extLst>
              <a:ext uri="{FF2B5EF4-FFF2-40B4-BE49-F238E27FC236}">
                <a16:creationId xmlns:a16="http://schemas.microsoft.com/office/drawing/2014/main" id="{4FC9F2F4-AB66-4486-A0A4-4E524E89B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1458" y="554440"/>
            <a:ext cx="2804774" cy="987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9060305A-CB28-4182-807A-8A1B30341D4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66" y="4586709"/>
            <a:ext cx="2456466" cy="153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2088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e 8">
            <a:extLst>
              <a:ext uri="{FF2B5EF4-FFF2-40B4-BE49-F238E27FC236}">
                <a16:creationId xmlns:a16="http://schemas.microsoft.com/office/drawing/2014/main" id="{FAD4A629-24B4-4FAE-8DCC-C22E2FA5A730}"/>
              </a:ext>
            </a:extLst>
          </p:cNvPr>
          <p:cNvGrpSpPr/>
          <p:nvPr/>
        </p:nvGrpSpPr>
        <p:grpSpPr>
          <a:xfrm>
            <a:off x="435936" y="-779130"/>
            <a:ext cx="6298362" cy="2573668"/>
            <a:chOff x="574159" y="-896088"/>
            <a:chExt cx="6298362" cy="2573668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306CA3A-DB2C-4EDF-B180-243A6EE2F29E}"/>
                </a:ext>
              </a:extLst>
            </p:cNvPr>
            <p:cNvSpPr/>
            <p:nvPr/>
          </p:nvSpPr>
          <p:spPr>
            <a:xfrm>
              <a:off x="1127050" y="624957"/>
              <a:ext cx="1849263" cy="1052623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9E21E66-B7B9-43E6-940B-B05A5E1A18D2}"/>
                </a:ext>
              </a:extLst>
            </p:cNvPr>
            <p:cNvSpPr/>
            <p:nvPr/>
          </p:nvSpPr>
          <p:spPr>
            <a:xfrm>
              <a:off x="574159" y="297712"/>
              <a:ext cx="1743739" cy="97051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5" name="Titre 1">
              <a:extLst>
                <a:ext uri="{FF2B5EF4-FFF2-40B4-BE49-F238E27FC236}">
                  <a16:creationId xmlns:a16="http://schemas.microsoft.com/office/drawing/2014/main" id="{004A79D6-2688-4942-8432-E3877276557A}"/>
                </a:ext>
              </a:extLst>
            </p:cNvPr>
            <p:cNvSpPr txBox="1">
              <a:spLocks/>
            </p:cNvSpPr>
            <p:nvPr/>
          </p:nvSpPr>
          <p:spPr>
            <a:xfrm>
              <a:off x="1127051" y="-896088"/>
              <a:ext cx="5745470" cy="2387600"/>
            </a:xfrm>
            <a:prstGeom prst="rect">
              <a:avLst/>
            </a:prstGeom>
          </p:spPr>
          <p:txBody>
            <a:bodyPr anchor="b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Silka" panose="00000500000000000000" pitchFamily="50" charset="0"/>
                  <a:ea typeface="+mj-ea"/>
                  <a:cs typeface="+mj-cs"/>
                </a:defRPr>
              </a:lvl1pPr>
            </a:lstStyle>
            <a:p>
              <a:r>
                <a:rPr lang="fr-FR" dirty="0"/>
                <a:t>introduction</a:t>
              </a:r>
            </a:p>
          </p:txBody>
        </p:sp>
      </p:grpSp>
      <p:sp>
        <p:nvSpPr>
          <p:cNvPr id="10" name="Rectangle 9">
            <a:extLst>
              <a:ext uri="{FF2B5EF4-FFF2-40B4-BE49-F238E27FC236}">
                <a16:creationId xmlns:a16="http://schemas.microsoft.com/office/drawing/2014/main" id="{96D4A525-D06E-466C-A461-E6AD904F2888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0350F4BF-EDE9-4DC7-8ADC-D6AB7BA341EC}"/>
              </a:ext>
            </a:extLst>
          </p:cNvPr>
          <p:cNvSpPr txBox="1">
            <a:spLocks/>
          </p:cNvSpPr>
          <p:nvPr/>
        </p:nvSpPr>
        <p:spPr>
          <a:xfrm>
            <a:off x="6492949" y="3175946"/>
            <a:ext cx="5699051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1"/>
            <a:r>
              <a:rPr lang="fr-FR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  </a:t>
            </a:r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travailler en équipe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sz="4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valider un projet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  <a:p>
            <a:pPr marL="857250" indent="-857250">
              <a:buFont typeface="Arial" panose="020B0604020202020204" pitchFamily="34" charset="0"/>
              <a:buChar char="•"/>
            </a:pPr>
            <a:endParaRPr lang="fr-FR" sz="4000" dirty="0">
              <a:solidFill>
                <a:schemeClr val="tx1">
                  <a:lumMod val="85000"/>
                  <a:lumOff val="15000"/>
                </a:schemeClr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e la date 3">
            <a:extLst>
              <a:ext uri="{FF2B5EF4-FFF2-40B4-BE49-F238E27FC236}">
                <a16:creationId xmlns:a16="http://schemas.microsoft.com/office/drawing/2014/main" id="{6C3A7163-C084-46CE-8077-1699F091BFD0}"/>
              </a:ext>
            </a:extLst>
          </p:cNvPr>
          <p:cNvSpPr txBox="1">
            <a:spLocks/>
          </p:cNvSpPr>
          <p:nvPr/>
        </p:nvSpPr>
        <p:spPr>
          <a:xfrm>
            <a:off x="10013724" y="6390855"/>
            <a:ext cx="2743200" cy="365125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600" kern="120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200" dirty="0">
                <a:latin typeface="Silka" panose="00000500000000000000" pitchFamily="50" charset="0"/>
                <a:hlinkClick r:id="rId2"/>
              </a:rPr>
              <a:t>source : </a:t>
            </a:r>
            <a:r>
              <a:rPr lang="fr-FR" sz="1200" dirty="0" err="1">
                <a:latin typeface="Silka" panose="00000500000000000000" pitchFamily="50" charset="0"/>
                <a:hlinkClick r:id="rId2"/>
              </a:rPr>
              <a:t>gianni</a:t>
            </a:r>
            <a:r>
              <a:rPr lang="fr-FR" sz="1200" dirty="0">
                <a:latin typeface="Silka" panose="00000500000000000000" pitchFamily="50" charset="0"/>
                <a:hlinkClick r:id="rId2"/>
              </a:rPr>
              <a:t> </a:t>
            </a:r>
            <a:r>
              <a:rPr lang="fr-FR" sz="1200" dirty="0" err="1">
                <a:latin typeface="Silka" panose="00000500000000000000" pitchFamily="50" charset="0"/>
                <a:hlinkClick r:id="rId2"/>
              </a:rPr>
              <a:t>polito</a:t>
            </a:r>
            <a:endParaRPr lang="fr-FR" sz="1200" dirty="0">
              <a:latin typeface="Silka" panose="00000500000000000000" pitchFamily="50" charset="0"/>
            </a:endParaRPr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006B31-F5F8-4325-AB06-96D56C62A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32D5C5-2ED2-434D-B2C7-066487D37C5F}" type="slidenum">
              <a:rPr lang="fr-FR" smtClean="0"/>
              <a:t>2</a:t>
            </a:fld>
            <a:endParaRPr lang="fr-FR"/>
          </a:p>
        </p:txBody>
      </p:sp>
      <p:pic>
        <p:nvPicPr>
          <p:cNvPr id="1028" name="Picture 4" descr="Logiciel de maquettes fonctionnelles et de collaboration | Cacoo">
            <a:extLst>
              <a:ext uri="{FF2B5EF4-FFF2-40B4-BE49-F238E27FC236}">
                <a16:creationId xmlns:a16="http://schemas.microsoft.com/office/drawing/2014/main" id="{AFC3B5FC-113E-42A8-BA4F-E47A16596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334" y="2485098"/>
            <a:ext cx="5509867" cy="3496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72150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processus de prototypage</a:t>
            </a:r>
          </a:p>
        </p:txBody>
      </p:sp>
      <p:graphicFrame>
        <p:nvGraphicFramePr>
          <p:cNvPr id="2" name="Diagramme 1">
            <a:extLst>
              <a:ext uri="{FF2B5EF4-FFF2-40B4-BE49-F238E27FC236}">
                <a16:creationId xmlns:a16="http://schemas.microsoft.com/office/drawing/2014/main" id="{6EE6AA7C-8F83-43D8-B863-70B999051B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4558549"/>
              </p:ext>
            </p:extLst>
          </p:nvPr>
        </p:nvGraphicFramePr>
        <p:xfrm>
          <a:off x="680201" y="324129"/>
          <a:ext cx="10831598" cy="695076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BE9D340-E560-496B-8DDE-339526ED3DE3}"/>
              </a:ext>
            </a:extLst>
          </p:cNvPr>
          <p:cNvCxnSpPr>
            <a:cxnSpLocks/>
          </p:cNvCxnSpPr>
          <p:nvPr/>
        </p:nvCxnSpPr>
        <p:spPr>
          <a:xfrm>
            <a:off x="680201" y="2756452"/>
            <a:ext cx="4898964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E65E6B6E-5096-4D92-B7C3-5F5C535C23B6}"/>
              </a:ext>
            </a:extLst>
          </p:cNvPr>
          <p:cNvCxnSpPr>
            <a:cxnSpLocks/>
          </p:cNvCxnSpPr>
          <p:nvPr/>
        </p:nvCxnSpPr>
        <p:spPr>
          <a:xfrm>
            <a:off x="3631096" y="4817165"/>
            <a:ext cx="7880703" cy="0"/>
          </a:xfrm>
          <a:prstGeom prst="line">
            <a:avLst/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Titre 1">
            <a:extLst>
              <a:ext uri="{FF2B5EF4-FFF2-40B4-BE49-F238E27FC236}">
                <a16:creationId xmlns:a16="http://schemas.microsoft.com/office/drawing/2014/main" id="{A2892E3E-8655-4337-B190-004527E5A89B}"/>
              </a:ext>
            </a:extLst>
          </p:cNvPr>
          <p:cNvSpPr txBox="1">
            <a:spLocks/>
          </p:cNvSpPr>
          <p:nvPr/>
        </p:nvSpPr>
        <p:spPr>
          <a:xfrm>
            <a:off x="1598225" y="1654441"/>
            <a:ext cx="1290750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UX</a:t>
            </a:r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AD3EA095-B733-41C0-B37D-AB43C1F1EA94}"/>
              </a:ext>
            </a:extLst>
          </p:cNvPr>
          <p:cNvSpPr txBox="1">
            <a:spLocks/>
          </p:cNvSpPr>
          <p:nvPr/>
        </p:nvSpPr>
        <p:spPr>
          <a:xfrm>
            <a:off x="7277255" y="5013867"/>
            <a:ext cx="780067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UI</a:t>
            </a:r>
          </a:p>
        </p:txBody>
      </p:sp>
    </p:spTree>
    <p:extLst>
      <p:ext uri="{BB962C8B-B14F-4D97-AF65-F5344CB8AC3E}">
        <p14:creationId xmlns:p14="http://schemas.microsoft.com/office/powerpoint/2010/main" val="2440515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zoning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5D6D5B-2A54-4957-9597-39E65F5A3E13}"/>
              </a:ext>
            </a:extLst>
          </p:cNvPr>
          <p:cNvSpPr txBox="1">
            <a:spLocks/>
          </p:cNvSpPr>
          <p:nvPr/>
        </p:nvSpPr>
        <p:spPr>
          <a:xfrm>
            <a:off x="304307" y="3253092"/>
            <a:ext cx="5130205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représente grossièrement         le produit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détermine son contenu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fait office de croquis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1026" name="Picture 2" descr="Le zoning pour les nuls : UX avant tout">
            <a:extLst>
              <a:ext uri="{FF2B5EF4-FFF2-40B4-BE49-F238E27FC236}">
                <a16:creationId xmlns:a16="http://schemas.microsoft.com/office/drawing/2014/main" id="{E174014E-9146-4700-AC96-6D6481589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5404" y="2040921"/>
            <a:ext cx="5745470" cy="4241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3026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wireframe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5D6D5B-2A54-4957-9597-39E65F5A3E13}"/>
              </a:ext>
            </a:extLst>
          </p:cNvPr>
          <p:cNvSpPr txBox="1">
            <a:spLocks/>
          </p:cNvSpPr>
          <p:nvPr/>
        </p:nvSpPr>
        <p:spPr>
          <a:xfrm>
            <a:off x="105524" y="4470401"/>
            <a:ext cx="5990476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maquette basse définition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organise les différents </a:t>
            </a:r>
            <a:r>
              <a:rPr lang="fr-FR" sz="2800"/>
              <a:t>éléments et </a:t>
            </a:r>
            <a:r>
              <a:rPr lang="fr-FR" sz="2800" dirty="0"/>
              <a:t>formes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est orienté sur la réflexion et l’ergonomie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présente l’ensemble des fonctionnalité du produit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l’occasion d’incorporer l’UX </a:t>
            </a:r>
            <a:r>
              <a:rPr lang="fr-FR" sz="2800" dirty="0" err="1"/>
              <a:t>writing</a:t>
            </a:r>
            <a:endParaRPr lang="fr-FR" sz="2800" dirty="0"/>
          </a:p>
        </p:txBody>
      </p:sp>
      <p:pic>
        <p:nvPicPr>
          <p:cNvPr id="2050" name="Picture 2" descr="Le guide complet pour réaliser des wireframes pro - Arquen">
            <a:extLst>
              <a:ext uri="{FF2B5EF4-FFF2-40B4-BE49-F238E27FC236}">
                <a16:creationId xmlns:a16="http://schemas.microsoft.com/office/drawing/2014/main" id="{16E1A862-3FAF-4AED-BF97-C7564D286A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0437" y="2161914"/>
            <a:ext cx="6090936" cy="3540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5557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maquette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5D6D5B-2A54-4957-9597-39E65F5A3E13}"/>
              </a:ext>
            </a:extLst>
          </p:cNvPr>
          <p:cNvSpPr txBox="1">
            <a:spLocks/>
          </p:cNvSpPr>
          <p:nvPr/>
        </p:nvSpPr>
        <p:spPr>
          <a:xfrm>
            <a:off x="304307" y="3604041"/>
            <a:ext cx="5791693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la représentation graphique            du produit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la validation de l’UI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la représentation directe du produit final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3074" name="Picture 2" descr="25+ Pro Business Website Templates 2019 - TemplateMag">
            <a:extLst>
              <a:ext uri="{FF2B5EF4-FFF2-40B4-BE49-F238E27FC236}">
                <a16:creationId xmlns:a16="http://schemas.microsoft.com/office/drawing/2014/main" id="{F97B5145-EB01-475B-A70F-42E173E55C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307" y="1193800"/>
            <a:ext cx="5588000" cy="447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2414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la maquette</a:t>
            </a:r>
          </a:p>
        </p:txBody>
      </p:sp>
      <p:pic>
        <p:nvPicPr>
          <p:cNvPr id="4098" name="Picture 2" descr="Adobe lance Experience Design pour concevoir des maquettes d&amp;#39;applis et  sites web">
            <a:extLst>
              <a:ext uri="{FF2B5EF4-FFF2-40B4-BE49-F238E27FC236}">
                <a16:creationId xmlns:a16="http://schemas.microsoft.com/office/drawing/2014/main" id="{EC031DF5-6DA1-4BF0-99D6-BF679B427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440" y="1123881"/>
            <a:ext cx="9529120" cy="6058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4" descr="Conception d&amp;#39;interface utilisateur d&amp;#39;application mobile avec maquettes |  Modèles PSD gratuits">
            <a:extLst>
              <a:ext uri="{FF2B5EF4-FFF2-40B4-BE49-F238E27FC236}">
                <a16:creationId xmlns:a16="http://schemas.microsoft.com/office/drawing/2014/main" id="{0291C4EC-74CB-4E49-B2A4-FD927A7176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4" name="AutoShape 8" descr="App Mockup Templates | Mockup Generator | Perfect for your app">
            <a:extLst>
              <a:ext uri="{FF2B5EF4-FFF2-40B4-BE49-F238E27FC236}">
                <a16:creationId xmlns:a16="http://schemas.microsoft.com/office/drawing/2014/main" id="{03C448C6-FB4E-44A2-8E67-03ADED29663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  <p:sp>
        <p:nvSpPr>
          <p:cNvPr id="10" name="AutoShape 12" descr="App Mockup Templates | Mockup Generator | Perfect for your app">
            <a:extLst>
              <a:ext uri="{FF2B5EF4-FFF2-40B4-BE49-F238E27FC236}">
                <a16:creationId xmlns:a16="http://schemas.microsoft.com/office/drawing/2014/main" id="{E3C5CF74-9B89-4CA7-8F5E-C4D93EF2979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478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87189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56819566-C791-4FA2-8727-E5467C2FD7BE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44967" y="0"/>
            <a:ext cx="5745470" cy="2387600"/>
          </a:xfrm>
        </p:spPr>
        <p:txBody>
          <a:bodyPr/>
          <a:lstStyle/>
          <a:p>
            <a:endParaRPr lang="fr-FR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71E839-11A9-433B-A7F7-175176E7926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74D6B466-79D8-4A1F-977C-3E3AD15A1511}"/>
              </a:ext>
            </a:extLst>
          </p:cNvPr>
          <p:cNvSpPr txBox="1">
            <a:spLocks/>
          </p:cNvSpPr>
          <p:nvPr/>
        </p:nvSpPr>
        <p:spPr>
          <a:xfrm>
            <a:off x="304307" y="32412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 prototype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725D6D5B-2A54-4957-9597-39E65F5A3E13}"/>
              </a:ext>
            </a:extLst>
          </p:cNvPr>
          <p:cNvSpPr txBox="1">
            <a:spLocks/>
          </p:cNvSpPr>
          <p:nvPr/>
        </p:nvSpPr>
        <p:spPr>
          <a:xfrm>
            <a:off x="304307" y="3565512"/>
            <a:ext cx="5745470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une simulation du produit final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le prototype est interactif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permet de valider le projet avant son lancement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pic>
        <p:nvPicPr>
          <p:cNvPr id="5122" name="Picture 2" descr="Free prototyping tool for web &amp;amp; mobile apps - Justinmind">
            <a:extLst>
              <a:ext uri="{FF2B5EF4-FFF2-40B4-BE49-F238E27FC236}">
                <a16:creationId xmlns:a16="http://schemas.microsoft.com/office/drawing/2014/main" id="{4E389C2D-E9B2-47FB-B0D9-B972061801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9039" y="2590187"/>
            <a:ext cx="6148654" cy="4065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14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les outils pour faire un prototype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9</a:t>
            </a:fld>
            <a:endParaRPr lang="fr-FR"/>
          </a:p>
        </p:txBody>
      </p:sp>
      <p:sp>
        <p:nvSpPr>
          <p:cNvPr id="10" name="Titre 1">
            <a:extLst>
              <a:ext uri="{FF2B5EF4-FFF2-40B4-BE49-F238E27FC236}">
                <a16:creationId xmlns:a16="http://schemas.microsoft.com/office/drawing/2014/main" id="{FE130696-218A-4D4E-A7CB-9689C5E5B80D}"/>
              </a:ext>
            </a:extLst>
          </p:cNvPr>
          <p:cNvSpPr txBox="1">
            <a:spLocks/>
          </p:cNvSpPr>
          <p:nvPr/>
        </p:nvSpPr>
        <p:spPr>
          <a:xfrm>
            <a:off x="9143852" y="5827706"/>
            <a:ext cx="2743200" cy="5286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>
                <a:hlinkClick r:id="rId2"/>
              </a:rPr>
              <a:t>pencil.evolus.vn</a:t>
            </a:r>
            <a:endParaRPr lang="fr-FR" sz="2800" dirty="0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D925D31-BF87-4FB7-8892-09D96C7E75E3}"/>
              </a:ext>
            </a:extLst>
          </p:cNvPr>
          <p:cNvSpPr txBox="1">
            <a:spLocks/>
          </p:cNvSpPr>
          <p:nvPr/>
        </p:nvSpPr>
        <p:spPr>
          <a:xfrm>
            <a:off x="357315" y="3398603"/>
            <a:ext cx="7063902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la suite Adobe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 err="1"/>
              <a:t>Figma</a:t>
            </a:r>
            <a:endParaRPr lang="fr-FR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une feuille et un stylo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/>
              <a:t>PowerPoint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 err="1"/>
              <a:t>Canva</a:t>
            </a:r>
            <a:r>
              <a:rPr lang="fr-FR" sz="2800" dirty="0"/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2800" dirty="0" err="1"/>
              <a:t>Wix</a:t>
            </a:r>
            <a:r>
              <a:rPr lang="fr-FR" sz="2800" dirty="0"/>
              <a:t>, WordPress, </a:t>
            </a:r>
            <a:r>
              <a:rPr lang="fr-FR" sz="2800" dirty="0" err="1"/>
              <a:t>WebFlow</a:t>
            </a:r>
            <a:r>
              <a:rPr lang="fr-FR" sz="2800" dirty="0"/>
              <a:t>, </a:t>
            </a:r>
            <a:r>
              <a:rPr lang="fr-FR" sz="2800" dirty="0" err="1"/>
              <a:t>Squarespace</a:t>
            </a:r>
            <a:r>
              <a:rPr lang="fr-FR" sz="2800" dirty="0"/>
              <a:t>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2800" dirty="0"/>
          </a:p>
        </p:txBody>
      </p:sp>
      <p:sp>
        <p:nvSpPr>
          <p:cNvPr id="13" name="Titre 1">
            <a:extLst>
              <a:ext uri="{FF2B5EF4-FFF2-40B4-BE49-F238E27FC236}">
                <a16:creationId xmlns:a16="http://schemas.microsoft.com/office/drawing/2014/main" id="{E94707C4-6FBF-4F03-B0D6-B1FEB39A7F7C}"/>
              </a:ext>
            </a:extLst>
          </p:cNvPr>
          <p:cNvSpPr txBox="1">
            <a:spLocks/>
          </p:cNvSpPr>
          <p:nvPr/>
        </p:nvSpPr>
        <p:spPr>
          <a:xfrm>
            <a:off x="3764828" y="5823287"/>
            <a:ext cx="5379024" cy="528644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/>
              <a:t>un outil </a:t>
            </a:r>
            <a:r>
              <a:rPr lang="fr-FR" sz="2800" dirty="0" err="1"/>
              <a:t>opensource</a:t>
            </a:r>
            <a:r>
              <a:rPr lang="fr-FR" sz="2800" dirty="0"/>
              <a:t> pour le zoning :</a:t>
            </a:r>
          </a:p>
        </p:txBody>
      </p:sp>
      <p:pic>
        <p:nvPicPr>
          <p:cNvPr id="6146" name="Picture 2" descr="Adobe Essentials 2020: Illustrator, Photoshop, InDesign et XD - Cours Udemy  gratuits - Que des Projet">
            <a:extLst>
              <a:ext uri="{FF2B5EF4-FFF2-40B4-BE49-F238E27FC236}">
                <a16:creationId xmlns:a16="http://schemas.microsoft.com/office/drawing/2014/main" id="{93A7BB2F-5225-4417-ACDA-2ADEDD70CA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2685" y="1584084"/>
            <a:ext cx="4572000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Figma — Wikipédia">
            <a:extLst>
              <a:ext uri="{FF2B5EF4-FFF2-40B4-BE49-F238E27FC236}">
                <a16:creationId xmlns:a16="http://schemas.microsoft.com/office/drawing/2014/main" id="{403C8791-11E2-43C3-A41D-C3DD877BB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953" y="4757268"/>
            <a:ext cx="1006927" cy="15131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1932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397071" y="30450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NE PAS DESIGNER DIRECTEMENT ?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10</a:t>
            </a:fld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D925D31-BF87-4FB7-8892-09D96C7E75E3}"/>
              </a:ext>
            </a:extLst>
          </p:cNvPr>
          <p:cNvSpPr txBox="1">
            <a:spLocks/>
          </p:cNvSpPr>
          <p:nvPr/>
        </p:nvSpPr>
        <p:spPr>
          <a:xfrm>
            <a:off x="396576" y="4670812"/>
            <a:ext cx="11198581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ergonomie &gt; design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le design a comme rôle de représenter les attributs de la marque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peut faire perdre du temps </a:t>
            </a:r>
          </a:p>
          <a:p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113754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397071" y="30450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Bebas Neue" panose="020B0606020202050201" pitchFamily="34" charset="0"/>
              </a:rPr>
              <a:t>POURQUOI faire un prototype ?</a:t>
            </a: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11</a:t>
            </a:fld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D925D31-BF87-4FB7-8892-09D96C7E75E3}"/>
              </a:ext>
            </a:extLst>
          </p:cNvPr>
          <p:cNvSpPr txBox="1">
            <a:spLocks/>
          </p:cNvSpPr>
          <p:nvPr/>
        </p:nvSpPr>
        <p:spPr>
          <a:xfrm>
            <a:off x="397070" y="5800712"/>
            <a:ext cx="10253675" cy="1057288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favorise la réflexion sur les leviers de conversion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permet de matérialiser ses idées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sz="4400" dirty="0"/>
              <a:t>permet de valider un projet à toutes les étapes de sa conception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fr-FR" sz="4400" dirty="0"/>
          </a:p>
          <a:p>
            <a:endParaRPr lang="fr-FR" sz="4400" dirty="0"/>
          </a:p>
        </p:txBody>
      </p:sp>
    </p:spTree>
    <p:extLst>
      <p:ext uri="{BB962C8B-B14F-4D97-AF65-F5344CB8AC3E}">
        <p14:creationId xmlns:p14="http://schemas.microsoft.com/office/powerpoint/2010/main" val="4137052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96ADB7EC-A703-4461-8052-6C519D945B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92" y="0"/>
            <a:ext cx="2720108" cy="1702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397071" y="304509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étude de cas : </a:t>
            </a:r>
            <a:r>
              <a:rPr lang="fr-FR" sz="6000" dirty="0" err="1">
                <a:solidFill>
                  <a:schemeClr val="bg1"/>
                </a:solidFill>
                <a:latin typeface="Bebas Neue" panose="020B0606020202050201" pitchFamily="34" charset="0"/>
              </a:rPr>
              <a:t>dunder</a:t>
            </a:r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 </a:t>
            </a:r>
            <a:r>
              <a:rPr lang="fr-FR" sz="6000">
                <a:solidFill>
                  <a:schemeClr val="bg1"/>
                </a:solidFill>
                <a:latin typeface="Bebas Neue" panose="020B0606020202050201" pitchFamily="34" charset="0"/>
              </a:rPr>
              <a:t>mifflin</a:t>
            </a:r>
            <a:endParaRPr lang="fr-FR" sz="6000" dirty="0">
              <a:solidFill>
                <a:schemeClr val="bg1"/>
              </a:solidFill>
              <a:latin typeface="Bebas Neue" panose="020B0606020202050201" pitchFamily="34" charset="0"/>
            </a:endParaRPr>
          </a:p>
        </p:txBody>
      </p:sp>
      <p:sp>
        <p:nvSpPr>
          <p:cNvPr id="12" name="Espace réservé du numéro de diapositive 11">
            <a:extLst>
              <a:ext uri="{FF2B5EF4-FFF2-40B4-BE49-F238E27FC236}">
                <a16:creationId xmlns:a16="http://schemas.microsoft.com/office/drawing/2014/main" id="{E15DC55F-ECFB-425B-A449-8AEC41865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50E92-4701-4803-BF4A-1BCEAA5421B4}" type="slidenum">
              <a:rPr lang="fr-FR" smtClean="0"/>
              <a:t>12</a:t>
            </a:fld>
            <a:endParaRPr lang="fr-FR"/>
          </a:p>
        </p:txBody>
      </p:sp>
      <p:sp>
        <p:nvSpPr>
          <p:cNvPr id="11" name="Titre 1">
            <a:extLst>
              <a:ext uri="{FF2B5EF4-FFF2-40B4-BE49-F238E27FC236}">
                <a16:creationId xmlns:a16="http://schemas.microsoft.com/office/drawing/2014/main" id="{8D925D31-BF87-4FB7-8892-09D96C7E75E3}"/>
              </a:ext>
            </a:extLst>
          </p:cNvPr>
          <p:cNvSpPr txBox="1">
            <a:spLocks/>
          </p:cNvSpPr>
          <p:nvPr/>
        </p:nvSpPr>
        <p:spPr>
          <a:xfrm>
            <a:off x="397070" y="6037676"/>
            <a:ext cx="10253675" cy="2354193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r>
              <a:rPr lang="fr-FR" sz="2800" dirty="0" err="1">
                <a:solidFill>
                  <a:schemeClr val="bg1"/>
                </a:solidFill>
              </a:rPr>
              <a:t>Dunder</a:t>
            </a:r>
            <a:r>
              <a:rPr lang="fr-FR" sz="2800" dirty="0">
                <a:solidFill>
                  <a:schemeClr val="bg1"/>
                </a:solidFill>
              </a:rPr>
              <a:t> </a:t>
            </a:r>
            <a:r>
              <a:rPr lang="fr-FR" sz="2800" dirty="0" err="1">
                <a:solidFill>
                  <a:schemeClr val="bg1"/>
                </a:solidFill>
              </a:rPr>
              <a:t>Mifflin</a:t>
            </a:r>
            <a:r>
              <a:rPr lang="fr-FR" sz="2800" dirty="0">
                <a:solidFill>
                  <a:schemeClr val="bg1"/>
                </a:solidFill>
              </a:rPr>
              <a:t>, entreprise de vente de papier et d’imprimantes vous sollicite pour une landing page.</a:t>
            </a:r>
          </a:p>
          <a:p>
            <a:endParaRPr lang="fr-FR" sz="2800" dirty="0">
              <a:solidFill>
                <a:schemeClr val="bg1"/>
              </a:solidFill>
            </a:endParaRPr>
          </a:p>
          <a:p>
            <a:r>
              <a:rPr lang="fr-FR" sz="2800" dirty="0">
                <a:solidFill>
                  <a:schemeClr val="bg1"/>
                </a:solidFill>
              </a:rPr>
              <a:t>l’entreprise cible principalement les professionnels et a deux activités principales :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la vente de papier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fr-FR" sz="2800" dirty="0">
                <a:solidFill>
                  <a:schemeClr val="bg1"/>
                </a:solidFill>
              </a:rPr>
              <a:t>la vente d’imprimantes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bg1"/>
              </a:solidFill>
            </a:endParaRPr>
          </a:p>
          <a:p>
            <a:r>
              <a:rPr lang="fr-FR" sz="2800" dirty="0">
                <a:solidFill>
                  <a:schemeClr val="bg1"/>
                </a:solidFill>
              </a:rPr>
              <a:t>Michael, le directeur, vous demande de réaliser un zoning selon les informations que vous disposez</a:t>
            </a:r>
          </a:p>
          <a:p>
            <a:endParaRPr lang="fr-FR" sz="2800" dirty="0">
              <a:solidFill>
                <a:schemeClr val="bg1"/>
              </a:solidFill>
            </a:endParaRPr>
          </a:p>
          <a:p>
            <a:r>
              <a:rPr lang="fr-FR" sz="2800" dirty="0">
                <a:solidFill>
                  <a:schemeClr val="bg1"/>
                </a:solidFill>
              </a:rPr>
              <a:t>l’objectif de cette landing page est de réaliser des ventes d’imprimantes multifonctions. </a:t>
            </a:r>
          </a:p>
          <a:p>
            <a:endParaRPr lang="fr-FR" sz="28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endParaRPr lang="fr-FR" sz="2800" dirty="0">
              <a:solidFill>
                <a:schemeClr val="bg1"/>
              </a:solidFill>
            </a:endParaRPr>
          </a:p>
          <a:p>
            <a:endParaRPr lang="fr-FR" sz="2800" dirty="0">
              <a:solidFill>
                <a:schemeClr val="bg1"/>
              </a:solidFill>
            </a:endParaRPr>
          </a:p>
          <a:p>
            <a:endParaRPr lang="fr-FR" sz="2800" dirty="0">
              <a:solidFill>
                <a:schemeClr val="bg1"/>
              </a:solidFill>
            </a:endParaRPr>
          </a:p>
          <a:p>
            <a:endParaRPr lang="fr-FR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65523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A778A8E-7B4D-4778-A283-631837C6B0AC}"/>
              </a:ext>
            </a:extLst>
          </p:cNvPr>
          <p:cNvSpPr txBox="1">
            <a:spLocks/>
          </p:cNvSpPr>
          <p:nvPr/>
        </p:nvSpPr>
        <p:spPr>
          <a:xfrm>
            <a:off x="261777" y="445275"/>
            <a:ext cx="10253675" cy="105728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6000" dirty="0">
                <a:solidFill>
                  <a:schemeClr val="bg1"/>
                </a:solidFill>
                <a:latin typeface="Bebas Neue" panose="020B0606020202050201" pitchFamily="34" charset="0"/>
              </a:rPr>
              <a:t>NEXT STEP</a:t>
            </a:r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648064E8-0149-4E0C-918F-EA82F107BEC2}"/>
              </a:ext>
            </a:extLst>
          </p:cNvPr>
          <p:cNvSpPr txBox="1">
            <a:spLocks/>
          </p:cNvSpPr>
          <p:nvPr/>
        </p:nvSpPr>
        <p:spPr>
          <a:xfrm>
            <a:off x="283288" y="3829414"/>
            <a:ext cx="11625423" cy="750280"/>
          </a:xfrm>
          <a:prstGeom prst="rect">
            <a:avLst/>
          </a:prstGeom>
        </p:spPr>
        <p:txBody>
          <a:bodyPr anchor="b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>
                    <a:lumMod val="85000"/>
                    <a:lumOff val="15000"/>
                  </a:schemeClr>
                </a:solidFill>
                <a:latin typeface="Silka" panose="00000500000000000000" pitchFamily="50" charset="0"/>
                <a:ea typeface="+mj-ea"/>
                <a:cs typeface="+mj-cs"/>
              </a:defRPr>
            </a:lvl1pPr>
          </a:lstStyle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Poppins" panose="00000500000000000000" pitchFamily="2" charset="0"/>
              </a:rPr>
              <a:t>trouver des leviers de conversion </a:t>
            </a:r>
          </a:p>
          <a:p>
            <a:pPr marL="857250" indent="-857250">
              <a:buFont typeface="Arial" panose="020B0604020202020204" pitchFamily="34" charset="0"/>
              <a:buChar char="•"/>
            </a:pPr>
            <a:r>
              <a:rPr lang="fr-FR" dirty="0">
                <a:solidFill>
                  <a:schemeClr val="bg1"/>
                </a:solidFill>
                <a:latin typeface="Poppins" panose="00000500000000000000" pitchFamily="2" charset="0"/>
              </a:rPr>
              <a:t>optimiser une landing page</a:t>
            </a:r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36E1C059-12D6-45B8-AF6B-8266F86666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90BFB3-04A2-4225-B01E-C26AF18CA1C7}" type="slidenum">
              <a:rPr lang="fr-FR" smtClean="0"/>
              <a:t>13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7646436-9056-4EE3-A6CD-0EE5846C7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38838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526</TotalTime>
  <Words>298</Words>
  <Application>Microsoft Office PowerPoint</Application>
  <PresentationFormat>Grand écran</PresentationFormat>
  <Paragraphs>75</Paragraphs>
  <Slides>13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20" baseType="lpstr">
      <vt:lpstr>Arial</vt:lpstr>
      <vt:lpstr>Bebas Neue</vt:lpstr>
      <vt:lpstr>Calibri</vt:lpstr>
      <vt:lpstr>Calibri Light</vt:lpstr>
      <vt:lpstr>Poppins</vt:lpstr>
      <vt:lpstr>Silka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User1</dc:creator>
  <cp:lastModifiedBy>AKOUCHE Adel</cp:lastModifiedBy>
  <cp:revision>11</cp:revision>
  <dcterms:created xsi:type="dcterms:W3CDTF">2021-11-18T05:44:36Z</dcterms:created>
  <dcterms:modified xsi:type="dcterms:W3CDTF">2023-08-02T15:36:34Z</dcterms:modified>
</cp:coreProperties>
</file>