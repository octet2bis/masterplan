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317" r:id="rId4"/>
    <p:sldId id="337" r:id="rId5"/>
    <p:sldId id="304" r:id="rId6"/>
    <p:sldId id="313" r:id="rId7"/>
    <p:sldId id="339" r:id="rId8"/>
    <p:sldId id="340" r:id="rId9"/>
    <p:sldId id="341" r:id="rId10"/>
    <p:sldId id="281" r:id="rId11"/>
    <p:sldId id="342" r:id="rId12"/>
    <p:sldId id="286" r:id="rId13"/>
    <p:sldId id="343" r:id="rId14"/>
    <p:sldId id="289" r:id="rId15"/>
    <p:sldId id="344" r:id="rId16"/>
    <p:sldId id="296" r:id="rId17"/>
    <p:sldId id="345" r:id="rId18"/>
    <p:sldId id="346" r:id="rId19"/>
    <p:sldId id="347" r:id="rId20"/>
    <p:sldId id="348" r:id="rId21"/>
    <p:sldId id="299" r:id="rId22"/>
    <p:sldId id="264" r:id="rId23"/>
    <p:sldId id="325" r:id="rId24"/>
    <p:sldId id="336" r:id="rId2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19E"/>
    <a:srgbClr val="1871A9"/>
    <a:srgbClr val="BEC2E8"/>
    <a:srgbClr val="B4C7E7"/>
    <a:srgbClr val="1F4E7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DBC1DB-F904-4ED4-91EC-ED869F3FE908}" type="datetimeFigureOut">
              <a:rPr lang="fr-FR" smtClean="0"/>
              <a:t>02/05/2023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77C7D-0C16-438B-AA37-6324CDB8250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7296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029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A1499D-1446-4E04-AAE9-0F53FA0E4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4F14D-AFF3-470D-9806-087CEC0715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E0A6ED-3CC6-4D50-9CFE-05B3EBC50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85E6A-7D02-4E43-8ACA-C8662A82C9C4}" type="datetime1">
              <a:rPr lang="fr-FR" smtClean="0"/>
              <a:t>02/05/2023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890BC0-0958-4CAE-95AE-5D71BF12E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6D66F5F-8328-4338-AC3F-32239B5C7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61986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5B48302-A599-4833-AFC0-1323DBCA6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26B1E1-2F99-4DEF-9452-DD20A9E987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D01FB8-A82C-49BF-9B46-6E439F44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C07CDB-0744-4C76-93AB-E8B7EE07BA7F}" type="datetime1">
              <a:rPr lang="fr-FR" smtClean="0"/>
              <a:t>02/05/2023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9B381A4-F05D-4CF1-BBFA-7932ECE60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891D034-9C23-435C-991A-F06A339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7327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74BE04-6C9D-4EAD-BE8B-D94772788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5BF750-F6A3-4EE1-B9AA-1BAFCDAA23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1EDE41D-71C0-45B1-8D96-ECBA40957B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619CCB-53F4-46FD-9ED6-652BDF617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20AA8-DB14-44C6-956E-F6E0EEAD56F9}" type="datetime1">
              <a:rPr lang="fr-FR" smtClean="0"/>
              <a:t>02/05/2023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F918141-0A9D-4E94-8BF9-58166F39F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5443D87-8997-4BC2-A259-8FD4500D3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6089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C3BF19-4476-4566-9CEC-3E2E626D3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F6A3E-7141-4F74-BDA1-96690C7526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641606-4939-4363-A8A2-26AFCBDA3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C676DEDB-0060-4A12-88A2-CFA6C3E00F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D9DA22D7-639D-4375-948A-DD772BA06A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FE85279-70F7-4898-BABF-33CAF59F2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4878F-7FAE-40E5-87E0-15E2E5B585C8}" type="datetime1">
              <a:rPr lang="fr-FR" smtClean="0"/>
              <a:t>02/05/2023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ED99652-4A05-49D9-9BEC-E92BDF55C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BCBAE0A0-FCC4-4F4C-8F90-12132C83F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3648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05936-6A3A-4300-ACFE-EEDFBC970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68909AB-093A-4BCB-9825-82200B0AD5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E2122-D94C-419B-8AC0-48C98DAE3707}" type="datetime1">
              <a:rPr lang="fr-FR" smtClean="0"/>
              <a:t>02/05/2023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1D1FF6E-F117-4151-9947-B6E031BBD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EFBC609-8C3A-4465-A7A9-2F6436572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3115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2AFA2BCE-5BE9-4F89-9981-DCBA0F851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DC048-C528-4723-899C-F8862751532C}" type="datetime1">
              <a:rPr lang="fr-FR" smtClean="0"/>
              <a:t>02/05/2023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3398552-706C-48C2-9C3B-288B6BF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AC78B2F-BF9F-4817-A1EC-58AACDA03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7826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CCA24E-0E39-467C-916D-53B9FDD46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30F977B-0F1A-481B-BD1B-6D44FDC996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6AB8AC9-5CC7-4EFC-AC0B-049F6B5313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861F640-386A-443B-9708-A314D79A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DB301-81F5-4238-9A43-07B17721BF85}" type="datetime1">
              <a:rPr lang="fr-FR" smtClean="0"/>
              <a:t>02/05/2023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003D8C-9F88-4936-9468-91149B249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D623694-DF0C-435A-BB75-84F6A1AC4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4967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2B3396-1F2B-45BB-9282-0B4FE836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B2F398F-574C-4D62-8764-1B26989DC0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F561EB9-22A7-4F64-9F59-5384144525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4A1BBA3-F8C2-47EF-9602-1859C8BD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57BB0-3357-4204-92CF-43C04F4FFA1E}" type="datetime1">
              <a:rPr lang="fr-FR" smtClean="0"/>
              <a:t>02/05/2023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7C8D5AD-91DD-4E1F-A09C-68524B545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8CCBFB-DDBE-4AC6-A4D7-8CCAC312B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6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6DEBE9-5F4A-4E6C-82C1-1C8B596EB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9EA56B5-35C9-4DC0-8FA1-CA2D97A5E0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7B836D0-8478-4982-98F6-A6F7CE0FB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0FAB57-D298-4856-B02B-0F4A6F0F600A}" type="datetime1">
              <a:rPr lang="fr-FR" smtClean="0"/>
              <a:t>02/05/2023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0965E9-FCB0-4F5B-897D-EC9F06E9D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546CC1-9BDA-4375-9ED5-7702CA10F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877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DF4DBC5-0857-406F-9B0B-49EE0E31F6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B849488-7657-4758-AB53-3F1256341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595FD13-E122-4E58-9D68-7E93E06BC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C1997B-FC33-4AAC-B47C-BAF6E4E8D9E7}" type="datetime1">
              <a:rPr lang="fr-FR" smtClean="0"/>
              <a:t>02/05/2023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7A1DE80-EC4A-4FC8-B448-474078475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ADACE03-8677-4602-9797-9DC1BC5A9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191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791F028-C547-4C15-94D4-F4111DCFE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69FA9BE-FB49-4241-BAA1-3B6716B0B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A40CB4-D352-442A-9B62-8BF3647B83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27D251-361F-4C2E-81DA-2E7DDCD8F7D5}" type="datetime1">
              <a:rPr lang="fr-FR" smtClean="0"/>
              <a:t>02/05/2023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ADD21E-12B4-4E60-A942-4339717CBF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BEF094-F7FD-48CB-8D1D-5C0AFA2C39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50E92-4701-4803-BF4A-1BCEAA5421B4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07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introduction au SEO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44967" y="4391209"/>
            <a:ext cx="685125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5 : 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PAGE SEO</a:t>
            </a: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1601"/>
            <a:chOff x="574159" y="-896088"/>
            <a:chExt cx="6298362" cy="25716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265274" y="622890"/>
              <a:ext cx="1743738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705086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Déroulement du workshop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CONTEXTE du cours</a:t>
            </a:r>
          </a:p>
        </p:txBody>
      </p:sp>
      <p:pic>
        <p:nvPicPr>
          <p:cNvPr id="12" name="Image 11">
            <a:extLst>
              <a:ext uri="{FF2B5EF4-FFF2-40B4-BE49-F238E27FC236}">
                <a16:creationId xmlns:a16="http://schemas.microsoft.com/office/drawing/2014/main" id="{07D6A0A9-CCFC-4FDD-83F1-6600DA04DD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828" y="3129514"/>
            <a:ext cx="3540642" cy="2208431"/>
          </a:xfrm>
          <a:prstGeom prst="rect">
            <a:avLst/>
          </a:prstGeom>
        </p:spPr>
      </p:pic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C00E0682-CBB5-42C2-9457-021A05C1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1601"/>
            <a:chOff x="574159" y="-896088"/>
            <a:chExt cx="6298362" cy="2571601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265274" y="622890"/>
              <a:ext cx="1743738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programme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332882" y="1933648"/>
            <a:ext cx="10480892" cy="38365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24121" y="3429000"/>
            <a:ext cx="963306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JOUR 1 : HISTORIQUE, fonctionnement, SEO ON PAGE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3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jour 2 : off-page SEO, netlinking, analyse de la concurrence, outils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3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3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JOUR 3 : TECHNICAL SEO,  données structurées, OUTILS D’analyse et de suivi </a:t>
            </a:r>
          </a:p>
        </p:txBody>
      </p:sp>
      <p:sp>
        <p:nvSpPr>
          <p:cNvPr id="15" name="Espace réservé du numéro de diapositive 14">
            <a:extLst>
              <a:ext uri="{FF2B5EF4-FFF2-40B4-BE49-F238E27FC236}">
                <a16:creationId xmlns:a16="http://schemas.microsoft.com/office/drawing/2014/main" id="{C00E0682-CBB5-42C2-9457-021A05C14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19106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957256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Mais avant ça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A45278C6-C984-D3CC-F667-77347E897A9D}"/>
              </a:ext>
            </a:extLst>
          </p:cNvPr>
          <p:cNvSpPr txBox="1">
            <a:spLocks/>
          </p:cNvSpPr>
          <p:nvPr/>
        </p:nvSpPr>
        <p:spPr>
          <a:xfrm>
            <a:off x="3017702" y="4600794"/>
            <a:ext cx="857056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</a:t>
            </a:r>
            <a:r>
              <a:rPr lang="fr-FR" sz="4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PETIT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RAPPEL S’impose </a:t>
            </a:r>
          </a:p>
        </p:txBody>
      </p:sp>
    </p:spTree>
    <p:extLst>
      <p:ext uri="{BB962C8B-B14F-4D97-AF65-F5344CB8AC3E}">
        <p14:creationId xmlns:p14="http://schemas.microsoft.com/office/powerpoint/2010/main" val="3355468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-30152" y="-1926"/>
            <a:ext cx="857906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78BDD5-FC65-CD60-59A5-778B0F20AF7C}"/>
              </a:ext>
            </a:extLst>
          </p:cNvPr>
          <p:cNvSpPr txBox="1">
            <a:spLocks/>
          </p:cNvSpPr>
          <p:nvPr/>
        </p:nvSpPr>
        <p:spPr>
          <a:xfrm>
            <a:off x="9051920" y="6157765"/>
            <a:ext cx="3902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41300" dirty="0">
                <a:solidFill>
                  <a:srgbClr val="303030"/>
                </a:solidFill>
                <a:latin typeface="Poppins" panose="00000500000000000000" pitchFamily="2" charset="0"/>
              </a:rPr>
              <a:t>?</a:t>
            </a:r>
            <a:endParaRPr lang="fr-FR" sz="413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6BCEAA3-53B4-8D01-7C4F-FE2C500AFB7A}"/>
              </a:ext>
            </a:extLst>
          </p:cNvPr>
          <p:cNvSpPr txBox="1">
            <a:spLocks/>
          </p:cNvSpPr>
          <p:nvPr/>
        </p:nvSpPr>
        <p:spPr>
          <a:xfrm>
            <a:off x="328695" y="3105490"/>
            <a:ext cx="7285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 est l’objectif du SEO ?</a:t>
            </a:r>
          </a:p>
        </p:txBody>
      </p:sp>
    </p:spTree>
    <p:extLst>
      <p:ext uri="{BB962C8B-B14F-4D97-AF65-F5344CB8AC3E}">
        <p14:creationId xmlns:p14="http://schemas.microsoft.com/office/powerpoint/2010/main" val="599074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-645886" y="3211446"/>
            <a:ext cx="1348377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BUT ULTIME DU SEO EST D’AUGMENTER LA Visibilité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0914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-30152" y="-1926"/>
            <a:ext cx="8579066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78BDD5-FC65-CD60-59A5-778B0F20AF7C}"/>
              </a:ext>
            </a:extLst>
          </p:cNvPr>
          <p:cNvSpPr txBox="1">
            <a:spLocks/>
          </p:cNvSpPr>
          <p:nvPr/>
        </p:nvSpPr>
        <p:spPr>
          <a:xfrm>
            <a:off x="9051920" y="6157765"/>
            <a:ext cx="3902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41300" dirty="0">
                <a:solidFill>
                  <a:srgbClr val="303030"/>
                </a:solidFill>
                <a:latin typeface="Poppins" panose="00000500000000000000" pitchFamily="2" charset="0"/>
              </a:rPr>
              <a:t>?</a:t>
            </a:r>
            <a:endParaRPr lang="fr-FR" sz="413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06BCEAA3-53B4-8D01-7C4F-FE2C500AFB7A}"/>
              </a:ext>
            </a:extLst>
          </p:cNvPr>
          <p:cNvSpPr txBox="1">
            <a:spLocks/>
          </p:cNvSpPr>
          <p:nvPr/>
        </p:nvSpPr>
        <p:spPr>
          <a:xfrm>
            <a:off x="311111" y="2898430"/>
            <a:ext cx="7285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comment les moteurs de recherches classent les sites internet ? </a:t>
            </a:r>
          </a:p>
        </p:txBody>
      </p:sp>
    </p:spTree>
    <p:extLst>
      <p:ext uri="{BB962C8B-B14F-4D97-AF65-F5344CB8AC3E}">
        <p14:creationId xmlns:p14="http://schemas.microsoft.com/office/powerpoint/2010/main" val="2474418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2360010" y="338420"/>
            <a:ext cx="687126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PROCESSUS DE CLASSEMENT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581EA902-1EDA-110F-755B-D490FD0DE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534" y="1395708"/>
            <a:ext cx="6980736" cy="492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8208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citez 3 pratiques interdites par google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401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61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38813" y="79858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BLACK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hat</a:t>
            </a:r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 : </a:t>
            </a:r>
          </a:p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hacker l’algorithme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65CF3FC-CA5A-A1A8-E16F-A60F2CFE63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065" y="1344337"/>
            <a:ext cx="5704936" cy="5513663"/>
          </a:xfrm>
          <a:prstGeom prst="rect">
            <a:avLst/>
          </a:prstGeom>
        </p:spPr>
      </p:pic>
      <p:sp>
        <p:nvSpPr>
          <p:cNvPr id="4" name="Titre 1">
            <a:extLst>
              <a:ext uri="{FF2B5EF4-FFF2-40B4-BE49-F238E27FC236}">
                <a16:creationId xmlns:a16="http://schemas.microsoft.com/office/drawing/2014/main" id="{3465DA26-44BF-F2B9-9333-41E27C87D0B6}"/>
              </a:ext>
            </a:extLst>
          </p:cNvPr>
          <p:cNvSpPr txBox="1">
            <a:spLocks/>
          </p:cNvSpPr>
          <p:nvPr/>
        </p:nvSpPr>
        <p:spPr>
          <a:xfrm>
            <a:off x="-1832282" y="5969551"/>
            <a:ext cx="8042458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1200" dirty="0">
                <a:solidFill>
                  <a:schemeClr val="bg1"/>
                </a:solidFill>
                <a:latin typeface="Poppins" panose="00000500000000000000" pitchFamily="2" charset="0"/>
              </a:rPr>
              <a:t>(Google sera toujours plus fort que toi)</a:t>
            </a:r>
            <a:endParaRPr lang="fr-F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1426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Vous vous souvenez de la mise à jour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hummingbird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?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8010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hummingbird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update - 2013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04307" y="2678720"/>
            <a:ext cx="117427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a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permi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a Google de comprendre le contexte qui entoure les mots-clés ainsi que les intentions de recherche des utilisateurs.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depuis la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hummingbird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update, les sites doivent ajouter du contexte à leurs contenus en utilisant des mots connexes au mot-clé cible.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FR" sz="18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la pertinence d’une page n’est plus mesurée selon la densité de mots mais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pltuôt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aux LSI (Latent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Semantic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18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Indexing</a:t>
            </a:r>
            <a:r>
              <a:rPr lang="fr-FR" sz="1800" i="1" dirty="0">
                <a:solidFill>
                  <a:srgbClr val="303030"/>
                </a:solidFill>
                <a:latin typeface="Poppins" panose="00000500000000000000" pitchFamily="2" charset="0"/>
              </a:rPr>
              <a:t>).</a:t>
            </a:r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C65913DA-20FA-DF27-A30F-B7FFE5FAEFD7}"/>
              </a:ext>
            </a:extLst>
          </p:cNvPr>
          <p:cNvSpPr txBox="1">
            <a:spLocks/>
          </p:cNvSpPr>
          <p:nvPr/>
        </p:nvSpPr>
        <p:spPr>
          <a:xfrm>
            <a:off x="304307" y="4792328"/>
            <a:ext cx="599171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600" u="sng" dirty="0">
                <a:solidFill>
                  <a:srgbClr val="C00000"/>
                </a:solidFill>
                <a:latin typeface="Bebas Neue" panose="020B0606020202050201" pitchFamily="34" charset="0"/>
              </a:rPr>
              <a:t>INTRODUCTION DES LSI</a:t>
            </a:r>
          </a:p>
        </p:txBody>
      </p:sp>
      <p:pic>
        <p:nvPicPr>
          <p:cNvPr id="9220" name="Picture 4" descr="Hummingbird Jokes – Be Your Own Birder">
            <a:extLst>
              <a:ext uri="{FF2B5EF4-FFF2-40B4-BE49-F238E27FC236}">
                <a16:creationId xmlns:a16="http://schemas.microsoft.com/office/drawing/2014/main" id="{AF57EB14-4E9E-7940-681B-D3967F449D4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75" r="19478"/>
          <a:stretch/>
        </p:blipFill>
        <p:spPr bwMode="auto">
          <a:xfrm>
            <a:off x="6797040" y="3429000"/>
            <a:ext cx="5394960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3710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900356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et c’est quoi les LSI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2124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un exemple </a:t>
            </a:r>
          </a:p>
        </p:txBody>
      </p:sp>
      <p:pic>
        <p:nvPicPr>
          <p:cNvPr id="12290" name="Picture 2" descr="What are LSI Keywords? And Do They Help With SEO?">
            <a:extLst>
              <a:ext uri="{FF2B5EF4-FFF2-40B4-BE49-F238E27FC236}">
                <a16:creationId xmlns:a16="http://schemas.microsoft.com/office/drawing/2014/main" id="{9A00ED2A-021D-FEA1-39BC-AD6DFAC862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5862" y="1639477"/>
            <a:ext cx="7720275" cy="5218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13284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09192" y="2494915"/>
            <a:ext cx="853704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ok. </a:t>
            </a:r>
          </a:p>
          <a:p>
            <a:endParaRPr lang="fr-FR" sz="88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r>
              <a:rPr lang="fr-FR" sz="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Alors quels sont les 3 facteurs clés pour le référencement sur google ? 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9112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bg1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224636" y="907256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143000" indent="-1143000">
              <a:buAutoNum type="arabicPeriod"/>
            </a:pP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l’analyse de RANKBRAIN</a:t>
            </a:r>
          </a:p>
          <a:p>
            <a:pPr marL="1143000" indent="-1143000">
              <a:buAutoNum type="arabicPeriod"/>
            </a:pP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pertinence du contenu </a:t>
            </a:r>
          </a:p>
          <a:p>
            <a:pPr marL="1143000" indent="-1143000">
              <a:buAutoNum type="arabicPeriod"/>
            </a:pP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qualité des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backlins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404D11D-E5CF-A40C-DDE6-9C8A6280A0D7}"/>
              </a:ext>
            </a:extLst>
          </p:cNvPr>
          <p:cNvSpPr txBox="1">
            <a:spLocks/>
          </p:cNvSpPr>
          <p:nvPr/>
        </p:nvSpPr>
        <p:spPr>
          <a:xfrm>
            <a:off x="352177" y="4020950"/>
            <a:ext cx="1148764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Rank Brain analyse : </a:t>
            </a:r>
          </a:p>
          <a:p>
            <a:endParaRPr lang="fr-FR" sz="2000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l’utilisation des LSI (Latent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Semantic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Indexing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le taux de rebond : pourcentage de l'ensemble des sessions sur votre site au cours desquelles l’utilisateur n’a accédé qu'à une seule page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le </a:t>
            </a:r>
            <a:r>
              <a:rPr lang="fr-FR" sz="1800" dirty="0" err="1">
                <a:solidFill>
                  <a:srgbClr val="303030"/>
                </a:solidFill>
                <a:latin typeface="Poppins" panose="00000500000000000000" pitchFamily="2" charset="0"/>
              </a:rPr>
              <a:t>dwell</a:t>
            </a: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 time : le temps passé sur le site avant de retourner à la SERP)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800" dirty="0">
                <a:solidFill>
                  <a:srgbClr val="303030"/>
                </a:solidFill>
                <a:latin typeface="Poppins" panose="00000500000000000000" pitchFamily="2" charset="0"/>
              </a:rPr>
              <a:t>l’engagement </a:t>
            </a:r>
          </a:p>
        </p:txBody>
      </p:sp>
      <p:pic>
        <p:nvPicPr>
          <p:cNvPr id="14340" name="Picture 4" descr="Google RankBrain Algorithm: A Guide Part 1 | Toledo SEO for Growth">
            <a:extLst>
              <a:ext uri="{FF2B5EF4-FFF2-40B4-BE49-F238E27FC236}">
                <a16:creationId xmlns:a16="http://schemas.microsoft.com/office/drawing/2014/main" id="{D42A368D-5A6C-5DAD-E257-6975CE95F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370" t="1" r="11369" b="7365"/>
          <a:stretch/>
        </p:blipFill>
        <p:spPr bwMode="auto">
          <a:xfrm>
            <a:off x="9054252" y="2749249"/>
            <a:ext cx="3123707" cy="40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Google RankBrain Algorithm: A Guide Part 1 | Toledo SEO for Growth">
            <a:extLst>
              <a:ext uri="{FF2B5EF4-FFF2-40B4-BE49-F238E27FC236}">
                <a16:creationId xmlns:a16="http://schemas.microsoft.com/office/drawing/2014/main" id="{9B076A50-7401-362D-DD96-024208846D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61" t="53016" r="51954" b="7365"/>
          <a:stretch/>
        </p:blipFill>
        <p:spPr bwMode="auto">
          <a:xfrm>
            <a:off x="5587212" y="4926717"/>
            <a:ext cx="3703626" cy="1743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0469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r>
              <a:rPr lang="fr-FR" dirty="0"/>
              <a:t>²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224637" y="2371712"/>
            <a:ext cx="11742726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66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Rappel sur </a:t>
            </a:r>
          </a:p>
          <a:p>
            <a:r>
              <a:rPr lang="fr-FR" sz="16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chatgpt</a:t>
            </a:r>
            <a:endParaRPr lang="fr-FR" sz="16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3074" name="Picture 2" descr="ChatGPT — Wikipédia">
            <a:extLst>
              <a:ext uri="{FF2B5EF4-FFF2-40B4-BE49-F238E27FC236}">
                <a16:creationId xmlns:a16="http://schemas.microsoft.com/office/drawing/2014/main" id="{D559D979-F3AB-3352-511E-10448AF0A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4534" y="2661313"/>
            <a:ext cx="3800901" cy="3800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89507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2323" y="1761669"/>
            <a:ext cx="953706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on-page </a:t>
            </a:r>
            <a:r>
              <a:rPr lang="fr-FR" sz="8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: </a:t>
            </a:r>
          </a:p>
          <a:p>
            <a:endParaRPr lang="fr-FR" sz="88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 faut-il optimiser ? </a:t>
            </a:r>
            <a:endParaRPr lang="fr-FR" sz="6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0FA6E4F3-2CF8-F602-BACF-E2B5014B53CE}"/>
              </a:ext>
            </a:extLst>
          </p:cNvPr>
          <p:cNvSpPr txBox="1">
            <a:spLocks/>
          </p:cNvSpPr>
          <p:nvPr/>
        </p:nvSpPr>
        <p:spPr>
          <a:xfrm>
            <a:off x="526178" y="5731616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l’URL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-titre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la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meta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-description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signaux utilisateurs (user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signals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balises titres (H1, H2, H3 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optimisation des images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LSI – indexation sémantique latente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maillage interne (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internal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linking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05256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35734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35070" y="3061685"/>
            <a:ext cx="1046009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8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vous souvenez-vous des intentions de recherche?</a:t>
            </a:r>
            <a:endParaRPr lang="fr-FR" sz="66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F9930143-E24E-C224-0F79-BCA5FF75EA40}"/>
              </a:ext>
            </a:extLst>
          </p:cNvPr>
          <p:cNvSpPr txBox="1">
            <a:spLocks/>
          </p:cNvSpPr>
          <p:nvPr/>
        </p:nvSpPr>
        <p:spPr>
          <a:xfrm>
            <a:off x="111959" y="5188227"/>
            <a:ext cx="665378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800" b="1" i="1" dirty="0">
              <a:solidFill>
                <a:srgbClr val="303030"/>
              </a:solidFill>
              <a:latin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74887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B4C7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" name="Titre 1">
            <a:extLst>
              <a:ext uri="{FF2B5EF4-FFF2-40B4-BE49-F238E27FC236}">
                <a16:creationId xmlns:a16="http://schemas.microsoft.com/office/drawing/2014/main" id="{9FF12EFD-47CB-5BA0-B844-5F436C63CD4D}"/>
              </a:ext>
            </a:extLst>
          </p:cNvPr>
          <p:cNvSpPr txBox="1">
            <a:spLocks/>
          </p:cNvSpPr>
          <p:nvPr/>
        </p:nvSpPr>
        <p:spPr>
          <a:xfrm>
            <a:off x="144967" y="2575520"/>
            <a:ext cx="8797443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C’EST MEGA </a:t>
            </a:r>
          </a:p>
          <a:p>
            <a:r>
              <a:rPr lang="fr-FR" sz="138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IMPORTANT</a:t>
            </a:r>
          </a:p>
          <a:p>
            <a:endParaRPr lang="fr-FR" sz="138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3B0EEB6A-743B-1FC7-3CFB-CF2095793022}"/>
              </a:ext>
            </a:extLst>
          </p:cNvPr>
          <p:cNvSpPr/>
          <p:nvPr/>
        </p:nvSpPr>
        <p:spPr>
          <a:xfrm>
            <a:off x="144967" y="3948545"/>
            <a:ext cx="11201906" cy="266007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B380B781-3F11-343A-01DA-F1DC76366C17}"/>
              </a:ext>
            </a:extLst>
          </p:cNvPr>
          <p:cNvSpPr txBox="1">
            <a:spLocks/>
          </p:cNvSpPr>
          <p:nvPr/>
        </p:nvSpPr>
        <p:spPr>
          <a:xfrm>
            <a:off x="318408" y="5542601"/>
            <a:ext cx="1155518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pages locales : 	ville/lieu (Fiche d’entreprise, mairie, jardin, salle de concert…)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produit : 	achat de produit (boutiques e-commerce)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de catégorie :	achat de produit –aussi-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d’information :	répond à une question (blog, page d’accueil)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annuaire : 	trouver des sites (pages avec des liens organisés par thèmes)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comparative : 	comparer des offres (tops, comparatifs,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  <a:p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page pratique :	page proposant un outil (calculateur, convertisseur, </a:t>
            </a:r>
            <a:r>
              <a:rPr lang="fr-FR" sz="2000" dirty="0" err="1">
                <a:solidFill>
                  <a:srgbClr val="303030"/>
                </a:solidFill>
                <a:latin typeface="Poppins" panose="00000500000000000000" pitchFamily="2" charset="0"/>
              </a:rPr>
              <a:t>etc</a:t>
            </a: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21898772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piliers du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1952209"/>
            <a:ext cx="6851404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2</a:t>
            </a:r>
            <a:r>
              <a:rPr lang="fr-FR" sz="6600" b="0" i="0" dirty="0">
                <a:solidFill>
                  <a:srgbClr val="303030"/>
                </a:solidFill>
                <a:effectLst/>
                <a:latin typeface="Poppins" panose="00000500000000000000" pitchFamily="2" charset="0"/>
              </a:rPr>
              <a:t>. off</a:t>
            </a:r>
            <a:r>
              <a:rPr lang="fr-FR" sz="6600" dirty="0">
                <a:solidFill>
                  <a:srgbClr val="303030"/>
                </a:solidFill>
                <a:latin typeface="Poppins" panose="00000500000000000000" pitchFamily="2" charset="0"/>
              </a:rPr>
              <a:t> page SEO</a:t>
            </a:r>
            <a:endParaRPr lang="fr-FR" sz="6600" dirty="0"/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21</a:t>
            </a:fld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F62A5A7-16D4-55A8-364D-B64386B5F7CE}"/>
              </a:ext>
            </a:extLst>
          </p:cNvPr>
          <p:cNvSpPr txBox="1">
            <a:spLocks/>
          </p:cNvSpPr>
          <p:nvPr/>
        </p:nvSpPr>
        <p:spPr>
          <a:xfrm>
            <a:off x="8496300" y="5662445"/>
            <a:ext cx="3295502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algn="r"/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les actions réalisées en dehors du site.</a:t>
            </a:r>
          </a:p>
          <a:p>
            <a:pPr algn="r"/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algn="r"/>
            <a:endParaRPr lang="fr-FR" sz="2000" i="1" dirty="0">
              <a:solidFill>
                <a:srgbClr val="303030"/>
              </a:solidFill>
              <a:latin typeface="Poppins" panose="00000500000000000000" pitchFamily="2" charset="0"/>
            </a:endParaRPr>
          </a:p>
          <a:p>
            <a:pPr algn="r"/>
            <a:r>
              <a:rPr lang="fr-FR" sz="1600" i="1" dirty="0" err="1">
                <a:solidFill>
                  <a:srgbClr val="303030"/>
                </a:solidFill>
                <a:latin typeface="Poppins" panose="00000500000000000000" pitchFamily="2" charset="0"/>
              </a:rPr>
              <a:t>backlinks</a:t>
            </a:r>
            <a:r>
              <a:rPr lang="fr-FR" sz="1600" i="1" dirty="0">
                <a:solidFill>
                  <a:srgbClr val="303030"/>
                </a:solidFill>
                <a:latin typeface="Poppins" panose="00000500000000000000" pitchFamily="2" charset="0"/>
              </a:rPr>
              <a:t> de qualité, partage sur les réseaux sociaux, création d’un blog, etc</a:t>
            </a:r>
            <a:r>
              <a:rPr lang="fr-FR" sz="2000" i="1" dirty="0">
                <a:solidFill>
                  <a:srgbClr val="303030"/>
                </a:solidFill>
                <a:latin typeface="Poppins" panose="00000500000000000000" pitchFamily="2" charset="0"/>
              </a:rPr>
              <a:t>.</a:t>
            </a:r>
            <a:endParaRPr lang="fr-FR" sz="1600" i="1" dirty="0"/>
          </a:p>
        </p:txBody>
      </p:sp>
      <p:pic>
        <p:nvPicPr>
          <p:cNvPr id="15362" name="Picture 2" descr="SEO Off Page : Qu'est-ce que c'est ? Comment l'utiliser ? - METADOSI">
            <a:extLst>
              <a:ext uri="{FF2B5EF4-FFF2-40B4-BE49-F238E27FC236}">
                <a16:creationId xmlns:a16="http://schemas.microsoft.com/office/drawing/2014/main" id="{935CA062-2660-83A2-BA86-379DB79E7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9627" y="3152135"/>
            <a:ext cx="4148987" cy="3084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Off-Page SEO Benefits?. Off-Page SEO is an abbreviation for… | by  Visualwebz | Seattle SEO | Medium">
            <a:extLst>
              <a:ext uri="{FF2B5EF4-FFF2-40B4-BE49-F238E27FC236}">
                <a16:creationId xmlns:a16="http://schemas.microsoft.com/office/drawing/2014/main" id="{02D00F98-1F82-1A8B-46BD-185DC1E8C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2277" y="239226"/>
            <a:ext cx="3819525" cy="417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3954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030" name="Picture 6" descr="Off-Page SEO – Go Beyond Backlinks - InMarket Sales">
            <a:extLst>
              <a:ext uri="{FF2B5EF4-FFF2-40B4-BE49-F238E27FC236}">
                <a16:creationId xmlns:a16="http://schemas.microsoft.com/office/drawing/2014/main" id="{19487FE8-9BED-764B-7EB0-187729A8D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5885" y="730960"/>
            <a:ext cx="9885040" cy="617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201313" y="3820035"/>
            <a:ext cx="6351526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articles de presse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mentions par des institutions (CCI, URSSAF…)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partenariat avec un autre site dans le même domaine d’activité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brand mention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000" dirty="0">
                <a:solidFill>
                  <a:srgbClr val="303030"/>
                </a:solidFill>
                <a:latin typeface="Poppins" panose="00000500000000000000" pitchFamily="2" charset="0"/>
              </a:rPr>
              <a:t>backlinking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75609" y="476983"/>
            <a:ext cx="772148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OFF page </a:t>
            </a:r>
            <a:r>
              <a:rPr lang="fr-FR" sz="60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seo</a:t>
            </a:r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- </a:t>
            </a:r>
          </a:p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quelles actions privilégier?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201313" y="6043608"/>
            <a:ext cx="5653961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il faut nécessairement que les liens qui renvoient vers votre site aient un lien direct ou indirect avec votre activité</a:t>
            </a:r>
          </a:p>
        </p:txBody>
      </p:sp>
    </p:spTree>
    <p:extLst>
      <p:ext uri="{BB962C8B-B14F-4D97-AF65-F5344CB8AC3E}">
        <p14:creationId xmlns:p14="http://schemas.microsoft.com/office/powerpoint/2010/main" val="3620130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1030" name="Picture 6" descr="Off-Page SEO – Go Beyond Backlinks - InMarket Sales">
            <a:extLst>
              <a:ext uri="{FF2B5EF4-FFF2-40B4-BE49-F238E27FC236}">
                <a16:creationId xmlns:a16="http://schemas.microsoft.com/office/drawing/2014/main" id="{19487FE8-9BED-764B-7EB0-187729A8D6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EDEDED"/>
              </a:clrFrom>
              <a:clrTo>
                <a:srgbClr val="EDEDED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415" y="628740"/>
            <a:ext cx="9885040" cy="6178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175609" y="476983"/>
            <a:ext cx="772148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POURQUOI ?</a:t>
            </a: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92240DEC-66D2-4CB2-8B0B-C1410CAC3C5D}"/>
              </a:ext>
            </a:extLst>
          </p:cNvPr>
          <p:cNvSpPr txBox="1">
            <a:spLocks/>
          </p:cNvSpPr>
          <p:nvPr/>
        </p:nvSpPr>
        <p:spPr>
          <a:xfrm>
            <a:off x="602511" y="5205752"/>
            <a:ext cx="6351526" cy="565469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endParaRPr lang="fr-FR" sz="2000" dirty="0"/>
          </a:p>
        </p:txBody>
      </p:sp>
      <p:sp>
        <p:nvSpPr>
          <p:cNvPr id="12" name="Titre 1">
            <a:extLst>
              <a:ext uri="{FF2B5EF4-FFF2-40B4-BE49-F238E27FC236}">
                <a16:creationId xmlns:a16="http://schemas.microsoft.com/office/drawing/2014/main" id="{A2359B88-C08C-4C02-A7DE-ADDDBD3831A6}"/>
              </a:ext>
            </a:extLst>
          </p:cNvPr>
          <p:cNvSpPr txBox="1">
            <a:spLocks/>
          </p:cNvSpPr>
          <p:nvPr/>
        </p:nvSpPr>
        <p:spPr>
          <a:xfrm>
            <a:off x="175609" y="4653843"/>
            <a:ext cx="5653961" cy="428462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si votre page est de performance égale à une autre page en termes de on-page SEO et de performance technique, </a:t>
            </a:r>
          </a:p>
          <a:p>
            <a:endParaRPr lang="fr-FR" sz="2400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fr-FR" sz="2400" dirty="0">
                <a:solidFill>
                  <a:schemeClr val="accent5">
                    <a:lumMod val="50000"/>
                  </a:schemeClr>
                </a:solidFill>
              </a:rPr>
              <a:t>Google se référencera au nombre de domaines pertinents qui renvoient vers les pages pour les référencer.</a:t>
            </a:r>
          </a:p>
        </p:txBody>
      </p:sp>
    </p:spTree>
    <p:extLst>
      <p:ext uri="{BB962C8B-B14F-4D97-AF65-F5344CB8AC3E}">
        <p14:creationId xmlns:p14="http://schemas.microsoft.com/office/powerpoint/2010/main" val="596004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6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ebas Neue" panose="020B0606020202050201" pitchFamily="34" charset="0"/>
                <a:ea typeface="+mj-ea"/>
                <a:cs typeface="+mj-cs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61777" y="3306264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457200" marR="0" lvl="0" indent="-45720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fr-FR" dirty="0">
                <a:solidFill>
                  <a:prstClr val="white"/>
                </a:solidFill>
                <a:latin typeface="Poppins" panose="00000500000000000000" pitchFamily="2" charset="0"/>
              </a:rPr>
              <a:t>netlinking</a:t>
            </a:r>
            <a:endParaRPr kumimoji="0" lang="fr-FR" sz="6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ppins" panose="00000500000000000000" pitchFamily="2" charset="0"/>
              <a:ea typeface="+mj-ea"/>
              <a:cs typeface="+mj-cs"/>
            </a:endParaRP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7EEB3360-C8BE-4C8A-9532-72FAF1024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5C50E92-4701-4803-BF4A-1BCEAA5421B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1923112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3789</TotalTime>
  <Words>575</Words>
  <Application>Microsoft Office PowerPoint</Application>
  <PresentationFormat>Grand écran</PresentationFormat>
  <Paragraphs>97</Paragraphs>
  <Slides>24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24</vt:i4>
      </vt:variant>
    </vt:vector>
  </HeadingPairs>
  <TitlesOfParts>
    <vt:vector size="31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²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Lading page</dc:title>
  <dc:creator>Fayçal Sellam</dc:creator>
  <cp:lastModifiedBy>AKOUCHE Adel</cp:lastModifiedBy>
  <cp:revision>27</cp:revision>
  <dcterms:created xsi:type="dcterms:W3CDTF">2021-11-16T19:28:52Z</dcterms:created>
  <dcterms:modified xsi:type="dcterms:W3CDTF">2023-05-02T08:14:05Z</dcterms:modified>
</cp:coreProperties>
</file>