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3" r:id="rId3"/>
    <p:sldId id="264" r:id="rId4"/>
    <p:sldId id="317" r:id="rId5"/>
    <p:sldId id="318" r:id="rId6"/>
    <p:sldId id="319" r:id="rId7"/>
    <p:sldId id="320" r:id="rId8"/>
    <p:sldId id="279" r:id="rId9"/>
    <p:sldId id="280" r:id="rId10"/>
    <p:sldId id="281" r:id="rId11"/>
    <p:sldId id="282" r:id="rId12"/>
    <p:sldId id="284" r:id="rId13"/>
    <p:sldId id="285" r:id="rId14"/>
    <p:sldId id="287" r:id="rId15"/>
    <p:sldId id="286" r:id="rId16"/>
    <p:sldId id="289" r:id="rId17"/>
    <p:sldId id="291" r:id="rId18"/>
    <p:sldId id="293" r:id="rId19"/>
    <p:sldId id="295" r:id="rId20"/>
    <p:sldId id="294" r:id="rId21"/>
    <p:sldId id="296" r:id="rId22"/>
    <p:sldId id="300" r:id="rId23"/>
    <p:sldId id="321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19E"/>
    <a:srgbClr val="1871A9"/>
    <a:srgbClr val="BEC2E8"/>
    <a:srgbClr val="B4C7E7"/>
    <a:srgbClr val="1F4E7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8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DBC1DB-F904-4ED4-91EC-ED869F3FE908}" type="datetimeFigureOut">
              <a:rPr lang="fr-FR" smtClean="0"/>
              <a:t>10/10/2024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77C7D-0C16-438B-AA37-6324CDB825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29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2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1499D-1446-4E04-AAE9-0F53FA0E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34F14D-AFF3-470D-9806-087CEC071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E0A6ED-3CC6-4D50-9CFE-05B3EBC50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5E6A-7D02-4E43-8ACA-C8662A82C9C4}" type="datetime1">
              <a:rPr lang="fr-FR" smtClean="0"/>
              <a:t>10/10/2024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890BC0-0958-4CAE-95AE-5D71BF12E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D66F5F-8328-4338-AC3F-32239B5C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198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B48302-A599-4833-AFC0-1323DBCA6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26B1E1-2F99-4DEF-9452-DD20A9E98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D01FB8-A82C-49BF-9B46-6E439F44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07CDB-0744-4C76-93AB-E8B7EE07BA7F}" type="datetime1">
              <a:rPr lang="fr-FR" smtClean="0"/>
              <a:t>10/10/2024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B381A4-F05D-4CF1-BBFA-7932ECE6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91D034-9C23-435C-991A-F06A3390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327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74BE04-6C9D-4EAD-BE8B-D9477278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5BF750-F6A3-4EE1-B9AA-1BAFCDAA2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EDE41D-71C0-45B1-8D96-ECBA40957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619CCB-53F4-46FD-9ED6-652BDF61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0AA8-DB14-44C6-956E-F6E0EEAD56F9}" type="datetime1">
              <a:rPr lang="fr-FR" smtClean="0"/>
              <a:t>10/10/2024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918141-0A9D-4E94-8BF9-58166F39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443D87-8997-4BC2-A259-8FD4500D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089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C3BF19-4476-4566-9CEC-3E2E626D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9F6A3E-7141-4F74-BDA1-96690C75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641606-4939-4363-A8A2-26AFCBDA3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676DEDB-0060-4A12-88A2-CFA6C3E00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DA22D7-639D-4375-948A-DD772BA06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FE85279-70F7-4898-BABF-33CAF59F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4878F-7FAE-40E5-87E0-15E2E5B585C8}" type="datetime1">
              <a:rPr lang="fr-FR" smtClean="0"/>
              <a:t>10/10/2024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ED99652-4A05-49D9-9BEC-E92BDF55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BAE0A0-FCC4-4F4C-8F90-12132C83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48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005936-6A3A-4300-ACFE-EEDFBC97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68909AB-093A-4BCB-9825-82200B0A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2122-D94C-419B-8AC0-48C98DAE3707}" type="datetime1">
              <a:rPr lang="fr-FR" smtClean="0"/>
              <a:t>10/10/2024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1D1FF6E-F117-4151-9947-B6E031BBD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FBC609-8C3A-4465-A7A9-2F6436572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11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AFA2BCE-5BE9-4F89-9981-DCBA0F85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DC048-C528-4723-899C-F8862751532C}" type="datetime1">
              <a:rPr lang="fr-FR" smtClean="0"/>
              <a:t>10/10/2024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398552-706C-48C2-9C3B-288B6BF4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C78B2F-BF9F-4817-A1EC-58AACDA0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826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CCA24E-0E39-467C-916D-53B9FDD4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0F977B-0F1A-481B-BD1B-6D44FDC99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AB8AC9-5CC7-4EFC-AC0B-049F6B531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61F640-386A-443B-9708-A314D79A4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B301-81F5-4238-9A43-07B17721BF85}" type="datetime1">
              <a:rPr lang="fr-FR" smtClean="0"/>
              <a:t>10/10/2024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003D8C-9F88-4936-9468-91149B24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623694-DF0C-435A-BB75-84F6A1AC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496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B3396-1F2B-45BB-9282-0B4FE836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2F398F-574C-4D62-8764-1B26989DC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561EB9-22A7-4F64-9F59-538414452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A1BBA3-F8C2-47EF-9602-1859C8BD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57BB0-3357-4204-92CF-43C04F4FFA1E}" type="datetime1">
              <a:rPr lang="fr-FR" smtClean="0"/>
              <a:t>10/10/2024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C8D5AD-91DD-4E1F-A09C-68524B545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8CCBFB-DDBE-4AC6-A4D7-8CCAC312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6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6DEBE9-5F4A-4E6C-82C1-1C8B596E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EA56B5-35C9-4DC0-8FA1-CA2D97A5E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B836D0-8478-4982-98F6-A6F7CE0F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FAB57-D298-4856-B02B-0F4A6F0F600A}" type="datetime1">
              <a:rPr lang="fr-FR" smtClean="0"/>
              <a:t>10/10/2024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0965E9-FCB0-4F5B-897D-EC9F06E9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546CC1-9BDA-4375-9ED5-7702CA10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7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DF4DBC5-0857-406F-9B0B-49EE0E31F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B849488-7657-4758-AB53-3F1256341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95FD13-E122-4E58-9D68-7E93E06B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1997B-FC33-4AAC-B47C-BAF6E4E8D9E7}" type="datetime1">
              <a:rPr lang="fr-FR" smtClean="0"/>
              <a:t>10/10/2024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A1DE80-EC4A-4FC8-B448-47407847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DACE03-8677-4602-9797-9DC1BC5A9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91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791F028-C547-4C15-94D4-F4111DCF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9FA9BE-FB49-4241-BAA1-3B6716B0B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A40CB4-D352-442A-9B62-8BF3647B8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7D251-361F-4C2E-81DA-2E7DDCD8F7D5}" type="datetime1">
              <a:rPr lang="fr-FR" smtClean="0"/>
              <a:t>10/10/2024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ADD21E-12B4-4E60-A942-4339717CB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BEF094-F7FD-48CB-8D1D-5C0AFA2C3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7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searchengineland.com/library/platforms/google/google-algorithm-updates#:~:text=Google's%20December%202022%20helpful%20content,days%20later%20on%20January%2012th." TargetMode="Externa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08128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53311" y="215703"/>
            <a:ext cx="5745470" cy="2387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dirty="0"/>
              <a:t>introduction au SEO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C6E2C8AC-AFB2-4A02-A569-68D2D194B9DD}"/>
              </a:ext>
            </a:extLst>
          </p:cNvPr>
          <p:cNvSpPr txBox="1">
            <a:spLocks/>
          </p:cNvSpPr>
          <p:nvPr/>
        </p:nvSpPr>
        <p:spPr>
          <a:xfrm>
            <a:off x="274502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FS Consulting 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8DA517E-F120-4AA3-8829-AE4F48BF9D63}"/>
              </a:ext>
            </a:extLst>
          </p:cNvPr>
          <p:cNvSpPr txBox="1">
            <a:spLocks/>
          </p:cNvSpPr>
          <p:nvPr/>
        </p:nvSpPr>
        <p:spPr>
          <a:xfrm>
            <a:off x="10374903" y="6356350"/>
            <a:ext cx="1817097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Rocket </a:t>
            </a:r>
            <a:r>
              <a:rPr lang="fr-FR" sz="1200" dirty="0" err="1">
                <a:latin typeface="Silka" panose="00000500000000000000" pitchFamily="50" charset="0"/>
              </a:rPr>
              <a:t>School</a:t>
            </a:r>
            <a:r>
              <a:rPr lang="fr-FR" sz="1200" dirty="0">
                <a:latin typeface="Silka" panose="00000500000000000000" pitchFamily="50" charset="0"/>
              </a:rPr>
              <a:t> Paris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144967" y="4391209"/>
            <a:ext cx="685125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Chapitre 3 : focus sur google </a:t>
            </a:r>
          </a:p>
        </p:txBody>
      </p:sp>
      <p:pic>
        <p:nvPicPr>
          <p:cNvPr id="12" name="Picture 2" descr="École de Marketing, Customer Success et Vente nouvelle génération | Rocket  School">
            <a:extLst>
              <a:ext uri="{FF2B5EF4-FFF2-40B4-BE49-F238E27FC236}">
                <a16:creationId xmlns:a16="http://schemas.microsoft.com/office/drawing/2014/main" id="{4FC9F2F4-AB66-4486-A0A4-4E524E89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458" y="554440"/>
            <a:ext cx="2804774" cy="98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060305A-CB28-4182-807A-8A1B30341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766" y="4586709"/>
            <a:ext cx="2456466" cy="153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0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omment faire une recherche sur le Google d'un autre pays - Numerama">
            <a:extLst>
              <a:ext uri="{FF2B5EF4-FFF2-40B4-BE49-F238E27FC236}">
                <a16:creationId xmlns:a16="http://schemas.microsoft.com/office/drawing/2014/main" id="{83AEBF0F-EF71-A2D2-6417-D30FE85C1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40308"/>
            <a:ext cx="12651475" cy="790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868B7A4C-1032-7BC7-299B-233522AB76A2}"/>
              </a:ext>
            </a:extLst>
          </p:cNvPr>
          <p:cNvSpPr txBox="1">
            <a:spLocks/>
          </p:cNvSpPr>
          <p:nvPr/>
        </p:nvSpPr>
        <p:spPr>
          <a:xfrm>
            <a:off x="545908" y="4878944"/>
            <a:ext cx="10385948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72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Ces 3 JOURS SERONT PRINCIPALEMENT FOCUS SUR le SEO de GOOGLE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031A51CF-A9F9-DC29-21D4-631B008823A5}"/>
              </a:ext>
            </a:extLst>
          </p:cNvPr>
          <p:cNvSpPr txBox="1">
            <a:spLocks/>
          </p:cNvSpPr>
          <p:nvPr/>
        </p:nvSpPr>
        <p:spPr>
          <a:xfrm>
            <a:off x="3916907" y="5977176"/>
            <a:ext cx="296156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MAIS ON PEUT DISCUTER </a:t>
            </a:r>
          </a:p>
        </p:txBody>
      </p:sp>
    </p:spTree>
    <p:extLst>
      <p:ext uri="{BB962C8B-B14F-4D97-AF65-F5344CB8AC3E}">
        <p14:creationId xmlns:p14="http://schemas.microsoft.com/office/powerpoint/2010/main" val="4005151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5283693" y="4379230"/>
            <a:ext cx="63515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Google utilise une variété d'algorithmes pour classer les pages dans les résultats de recherche, y compris le PageRank,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RankBrain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et BERT.</a:t>
            </a:r>
            <a:endParaRPr lang="fr-FR" sz="20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-1023584" y="2122096"/>
            <a:ext cx="10385948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sz="115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focus sur google 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62013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18821" y="361542"/>
            <a:ext cx="942026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pagerank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4" name="Picture 2" descr="PageRank algorithm: how it works - YouTube">
            <a:extLst>
              <a:ext uri="{FF2B5EF4-FFF2-40B4-BE49-F238E27FC236}">
                <a16:creationId xmlns:a16="http://schemas.microsoft.com/office/drawing/2014/main" id="{A58128DA-5A81-4793-F39A-82D2A8A17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749" y="1387874"/>
            <a:ext cx="7257336" cy="4082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02AF4CDC-47C3-9565-AC9C-DFA7B33A56BD}"/>
              </a:ext>
            </a:extLst>
          </p:cNvPr>
          <p:cNvSpPr txBox="1">
            <a:spLocks/>
          </p:cNvSpPr>
          <p:nvPr/>
        </p:nvSpPr>
        <p:spPr>
          <a:xfrm>
            <a:off x="1985673" y="5742565"/>
            <a:ext cx="8249487" cy="75389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ctr"/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sert à classer les liens en fonction de la qualité et de la quantité des liens pointant vers une page </a:t>
            </a:r>
          </a:p>
        </p:txBody>
      </p:sp>
    </p:spTree>
    <p:extLst>
      <p:ext uri="{BB962C8B-B14F-4D97-AF65-F5344CB8AC3E}">
        <p14:creationId xmlns:p14="http://schemas.microsoft.com/office/powerpoint/2010/main" val="576538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18821" y="361542"/>
            <a:ext cx="942026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BERT</a:t>
            </a:r>
          </a:p>
        </p:txBody>
      </p:sp>
      <p:pic>
        <p:nvPicPr>
          <p:cNvPr id="2050" name="Picture 2" descr="Manual for the First Time Users: Google BERT for Text Classification">
            <a:extLst>
              <a:ext uri="{FF2B5EF4-FFF2-40B4-BE49-F238E27FC236}">
                <a16:creationId xmlns:a16="http://schemas.microsoft.com/office/drawing/2014/main" id="{03CB1CE4-E883-17A7-394F-4F1F74DA8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5777" y="3008243"/>
            <a:ext cx="7356223" cy="3849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6A4D72FB-4783-1DAD-B620-104630DD4571}"/>
              </a:ext>
            </a:extLst>
          </p:cNvPr>
          <p:cNvSpPr txBox="1">
            <a:spLocks/>
          </p:cNvSpPr>
          <p:nvPr/>
        </p:nvSpPr>
        <p:spPr>
          <a:xfrm>
            <a:off x="318821" y="1776619"/>
            <a:ext cx="10627475" cy="1818861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un modèle de langage développé par Google en 2018 qui lui permet de :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Résoudre les ambiguïtés des expressions, en tenant compte du sens contextuel des mots 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Comprendre à quoi correspondent les pronoms, en particulier dans les longs paragraphes 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Lever les problèmes d’homonymie 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Donner des réponses directement dans les SERP (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Search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Engine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Result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Page)…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77653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18821" y="361542"/>
            <a:ext cx="942026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rankbrain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A4D72FB-4783-1DAD-B620-104630DD4571}"/>
              </a:ext>
            </a:extLst>
          </p:cNvPr>
          <p:cNvSpPr txBox="1">
            <a:spLocks/>
          </p:cNvSpPr>
          <p:nvPr/>
        </p:nvSpPr>
        <p:spPr>
          <a:xfrm>
            <a:off x="318821" y="1415685"/>
            <a:ext cx="10627475" cy="105728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permet à Google de mieux comprendre les requêtes de recherche ambigües et à longue traîne, qui peuvent être difficiles à interpréter pour les algorithmes de recherche traditionnels</a:t>
            </a:r>
            <a:endParaRPr lang="fr-FR" sz="20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CDDB9CB-1558-B1B3-E494-893235065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978" y="3856383"/>
            <a:ext cx="7504043" cy="300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18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454261" y="1149493"/>
            <a:ext cx="942026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rankbrain</a:t>
            </a:r>
            <a:endParaRPr lang="fr-FR" sz="8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  <a:p>
            <a:r>
              <a:rPr lang="fr-FR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BERT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D636EB6E-CB07-6067-3AE5-09F933393BEC}"/>
              </a:ext>
            </a:extLst>
          </p:cNvPr>
          <p:cNvSpPr txBox="1">
            <a:spLocks/>
          </p:cNvSpPr>
          <p:nvPr/>
        </p:nvSpPr>
        <p:spPr>
          <a:xfrm>
            <a:off x="454261" y="4822055"/>
            <a:ext cx="9420264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page </a:t>
            </a:r>
            <a:r>
              <a:rPr lang="fr-FR" sz="8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rank</a:t>
            </a:r>
            <a:endParaRPr lang="fr-FR" sz="8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391E6C6-345A-0797-FD72-395D04389E7B}"/>
              </a:ext>
            </a:extLst>
          </p:cNvPr>
          <p:cNvCxnSpPr>
            <a:cxnSpLocks/>
          </p:cNvCxnSpPr>
          <p:nvPr/>
        </p:nvCxnSpPr>
        <p:spPr>
          <a:xfrm>
            <a:off x="556591" y="3246783"/>
            <a:ext cx="836212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re 1">
            <a:extLst>
              <a:ext uri="{FF2B5EF4-FFF2-40B4-BE49-F238E27FC236}">
                <a16:creationId xmlns:a16="http://schemas.microsoft.com/office/drawing/2014/main" id="{47270CFB-444A-26E6-11D3-2B9634712F49}"/>
              </a:ext>
            </a:extLst>
          </p:cNvPr>
          <p:cNvSpPr txBox="1">
            <a:spLocks/>
          </p:cNvSpPr>
          <p:nvPr/>
        </p:nvSpPr>
        <p:spPr>
          <a:xfrm>
            <a:off x="6342324" y="1227143"/>
            <a:ext cx="539541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3000" indent="-1143000">
              <a:buFont typeface="Arial" panose="020B0604020202020204" pitchFamily="34" charset="0"/>
              <a:buChar char="•"/>
            </a:pPr>
            <a:r>
              <a:rPr lang="fr-FR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contenu</a:t>
            </a:r>
          </a:p>
          <a:p>
            <a:pPr marL="1143000" indent="-1143000">
              <a:buFont typeface="Arial" panose="020B0604020202020204" pitchFamily="34" charset="0"/>
              <a:buChar char="•"/>
            </a:pPr>
            <a:r>
              <a:rPr lang="fr-FR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contexte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47C83D69-5958-27E4-1B35-3F646F0E7063}"/>
              </a:ext>
            </a:extLst>
          </p:cNvPr>
          <p:cNvSpPr txBox="1">
            <a:spLocks/>
          </p:cNvSpPr>
          <p:nvPr/>
        </p:nvSpPr>
        <p:spPr>
          <a:xfrm>
            <a:off x="6342324" y="4899705"/>
            <a:ext cx="436468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3000" indent="-1143000">
              <a:buFont typeface="Arial" panose="020B0604020202020204" pitchFamily="34" charset="0"/>
              <a:buChar char="•"/>
            </a:pPr>
            <a:r>
              <a:rPr lang="fr-FR" sz="8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autorité</a:t>
            </a:r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B7374467-3A07-71D9-7AB3-AFC61747C511}"/>
              </a:ext>
            </a:extLst>
          </p:cNvPr>
          <p:cNvSpPr/>
          <p:nvPr/>
        </p:nvSpPr>
        <p:spPr>
          <a:xfrm>
            <a:off x="3034748" y="1635587"/>
            <a:ext cx="2814929" cy="615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99CB53B8-54BD-3033-8D9B-CE751D0B2A82}"/>
              </a:ext>
            </a:extLst>
          </p:cNvPr>
          <p:cNvSpPr/>
          <p:nvPr/>
        </p:nvSpPr>
        <p:spPr>
          <a:xfrm>
            <a:off x="4389141" y="5042274"/>
            <a:ext cx="1550504" cy="6158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505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EC2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choose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your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destiny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5122" name="Picture 2" descr="Types of SEO — White Hat, Black Hat, &amp; Gray Hat SEO | by apsguide | Medium">
            <a:extLst>
              <a:ext uri="{FF2B5EF4-FFF2-40B4-BE49-F238E27FC236}">
                <a16:creationId xmlns:a16="http://schemas.microsoft.com/office/drawing/2014/main" id="{1D35CEDF-A4DA-DE01-5C6D-2D42D78E8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6054" y="1727604"/>
            <a:ext cx="7889144" cy="4599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256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1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38813" y="798582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White </a:t>
            </a:r>
            <a:r>
              <a:rPr lang="fr-FR" sz="6000" dirty="0" err="1">
                <a:solidFill>
                  <a:schemeClr val="bg1"/>
                </a:solidFill>
                <a:latin typeface="Bebas Neue" panose="020B0606020202050201" pitchFamily="34" charset="0"/>
              </a:rPr>
              <a:t>hat</a:t>
            </a:r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 : </a:t>
            </a:r>
          </a:p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on reste clean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5308B2C-E24C-1EBE-E196-33D4F8069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565" y="1188882"/>
            <a:ext cx="5890435" cy="566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360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1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38813" y="798582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BLACK </a:t>
            </a:r>
            <a:r>
              <a:rPr lang="fr-FR" sz="6000" dirty="0" err="1">
                <a:solidFill>
                  <a:schemeClr val="bg1"/>
                </a:solidFill>
                <a:latin typeface="Bebas Neue" panose="020B0606020202050201" pitchFamily="34" charset="0"/>
              </a:rPr>
              <a:t>hat</a:t>
            </a:r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 : </a:t>
            </a:r>
          </a:p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hacker l’algorithme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65CF3FC-CA5A-A1A8-E16F-A60F2CFE6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065" y="1344337"/>
            <a:ext cx="5704936" cy="5513663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3465DA26-44BF-F2B9-9333-41E27C87D0B6}"/>
              </a:ext>
            </a:extLst>
          </p:cNvPr>
          <p:cNvSpPr txBox="1">
            <a:spLocks/>
          </p:cNvSpPr>
          <p:nvPr/>
        </p:nvSpPr>
        <p:spPr>
          <a:xfrm>
            <a:off x="-1832282" y="5969551"/>
            <a:ext cx="804245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1200" dirty="0">
                <a:solidFill>
                  <a:schemeClr val="bg1"/>
                </a:solidFill>
                <a:latin typeface="Poppins" panose="00000500000000000000" pitchFamily="2" charset="0"/>
              </a:rPr>
              <a:t>(Google sera toujours plus fort que toi)</a:t>
            </a:r>
            <a:endParaRPr lang="fr-F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42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1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42407" y="1294820"/>
            <a:ext cx="5553029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 err="1">
                <a:solidFill>
                  <a:schemeClr val="bg1"/>
                </a:solidFill>
                <a:latin typeface="Bebas Neue" panose="020B0606020202050201" pitchFamily="34" charset="0"/>
              </a:rPr>
              <a:t>grey</a:t>
            </a:r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 </a:t>
            </a:r>
            <a:r>
              <a:rPr lang="fr-FR" sz="6000" dirty="0" err="1">
                <a:solidFill>
                  <a:schemeClr val="bg1"/>
                </a:solidFill>
                <a:latin typeface="Bebas Neue" panose="020B0606020202050201" pitchFamily="34" charset="0"/>
              </a:rPr>
              <a:t>hat</a:t>
            </a:r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 : </a:t>
            </a:r>
          </a:p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C’est un peu border</a:t>
            </a:r>
          </a:p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mais ça reste ok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990BAA5-33FD-8DB1-F4E5-52F5D8F18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175" y="2063814"/>
            <a:ext cx="6600825" cy="47053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883E720-119E-7387-D332-030C7F86C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458" y="4875666"/>
            <a:ext cx="4718717" cy="189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91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>
            <a:normAutofit/>
          </a:bodyPr>
          <a:lstStyle/>
          <a:p>
            <a:endParaRPr lang="fr-FR" sz="5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449274" y="2899781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0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MISES à jour google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E6CE6F4-DCA4-9780-D73B-E7785E1D1F02}"/>
              </a:ext>
            </a:extLst>
          </p:cNvPr>
          <p:cNvSpPr txBox="1">
            <a:spLocks/>
          </p:cNvSpPr>
          <p:nvPr/>
        </p:nvSpPr>
        <p:spPr>
          <a:xfrm>
            <a:off x="3705226" y="5595539"/>
            <a:ext cx="804245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ces 15 dernières années, l’algorithme de Google a beaucoup évolué afin de s’adapter aux besoins des utilisateurs et aux comportements des éditeurs de sites internet.</a:t>
            </a:r>
            <a:endParaRPr lang="fr-FR" sz="18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442D73C5-4FCC-5884-2F4A-066253C46EA7}"/>
              </a:ext>
            </a:extLst>
          </p:cNvPr>
          <p:cNvSpPr txBox="1">
            <a:spLocks/>
          </p:cNvSpPr>
          <p:nvPr/>
        </p:nvSpPr>
        <p:spPr>
          <a:xfrm>
            <a:off x="6378043" y="6107720"/>
            <a:ext cx="5802835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800" dirty="0">
                <a:solidFill>
                  <a:srgbClr val="303030"/>
                </a:solidFill>
                <a:latin typeface="Poppins" panose="00000500000000000000" pitchFamily="2" charset="0"/>
              </a:rPr>
              <a:t>c’est très grand n’est-ce pas ? </a:t>
            </a:r>
            <a:endParaRPr lang="fr-FR" sz="1100" dirty="0"/>
          </a:p>
        </p:txBody>
      </p:sp>
    </p:spTree>
    <p:extLst>
      <p:ext uri="{BB962C8B-B14F-4D97-AF65-F5344CB8AC3E}">
        <p14:creationId xmlns:p14="http://schemas.microsoft.com/office/powerpoint/2010/main" val="263285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r>
              <a:rPr lang="fr-FR" dirty="0"/>
              <a:t>²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panda update - 2011</a:t>
            </a:r>
          </a:p>
        </p:txBody>
      </p:sp>
      <p:pic>
        <p:nvPicPr>
          <p:cNvPr id="7170" name="Picture 2" descr="Watch: Hilarious selfie with panda doesn't go as planned">
            <a:extLst>
              <a:ext uri="{FF2B5EF4-FFF2-40B4-BE49-F238E27FC236}">
                <a16:creationId xmlns:a16="http://schemas.microsoft.com/office/drawing/2014/main" id="{CD934073-4850-E7AF-BD26-4CE9BAC84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74" y="3830009"/>
            <a:ext cx="5381625" cy="302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404D11D-E5CF-A40C-DDE6-9C8A6280A0D7}"/>
              </a:ext>
            </a:extLst>
          </p:cNvPr>
          <p:cNvSpPr txBox="1">
            <a:spLocks/>
          </p:cNvSpPr>
          <p:nvPr/>
        </p:nvSpPr>
        <p:spPr>
          <a:xfrm>
            <a:off x="304307" y="1855433"/>
            <a:ext cx="1135429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réduire les classements des sites de faible qualité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pénaliser les sites qui copient le contenu (duplicate content) ou qui publie du contenu de faible qualité (</a:t>
            </a:r>
            <a:r>
              <a:rPr lang="fr-FR" sz="1800" dirty="0" err="1">
                <a:solidFill>
                  <a:srgbClr val="303030"/>
                </a:solidFill>
                <a:latin typeface="Poppins" panose="00000500000000000000" pitchFamily="2" charset="0"/>
              </a:rPr>
              <a:t>thin</a:t>
            </a: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 content)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récompenser les sites qui offrent de la valeur ajoutée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65913DA-20FA-DF27-A30F-B7FFE5FAEFD7}"/>
              </a:ext>
            </a:extLst>
          </p:cNvPr>
          <p:cNvSpPr txBox="1">
            <a:spLocks/>
          </p:cNvSpPr>
          <p:nvPr/>
        </p:nvSpPr>
        <p:spPr>
          <a:xfrm>
            <a:off x="304307" y="4765961"/>
            <a:ext cx="638571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pour résumer, cette mise à jour cible les sites qui ne sont pas utiles pour les utilisateurs.</a:t>
            </a:r>
          </a:p>
        </p:txBody>
      </p:sp>
    </p:spTree>
    <p:extLst>
      <p:ext uri="{BB962C8B-B14F-4D97-AF65-F5344CB8AC3E}">
        <p14:creationId xmlns:p14="http://schemas.microsoft.com/office/powerpoint/2010/main" val="1725146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PENGUIN update - 2012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04D11D-E5CF-A40C-DDE6-9C8A6280A0D7}"/>
              </a:ext>
            </a:extLst>
          </p:cNvPr>
          <p:cNvSpPr txBox="1">
            <a:spLocks/>
          </p:cNvSpPr>
          <p:nvPr/>
        </p:nvSpPr>
        <p:spPr>
          <a:xfrm>
            <a:off x="304307" y="2526803"/>
            <a:ext cx="1063991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pénaliser les sites qui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acquièrent des liens de manière non naturelle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achètent des </a:t>
            </a:r>
            <a:r>
              <a:rPr lang="fr-FR" sz="1800" dirty="0" err="1">
                <a:solidFill>
                  <a:srgbClr val="303030"/>
                </a:solidFill>
                <a:latin typeface="Poppins" panose="00000500000000000000" pitchFamily="2" charset="0"/>
              </a:rPr>
              <a:t>backlinks</a:t>
            </a:r>
            <a:endParaRPr lang="fr-FR" sz="18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achètent des domaines expirés pour les remodeler et y insérer des </a:t>
            </a:r>
            <a:r>
              <a:rPr lang="fr-FR" sz="1800" dirty="0" err="1">
                <a:solidFill>
                  <a:srgbClr val="303030"/>
                </a:solidFill>
                <a:latin typeface="Poppins" panose="00000500000000000000" pitchFamily="2" charset="0"/>
              </a:rPr>
              <a:t>backlinks</a:t>
            </a:r>
            <a:endParaRPr lang="fr-FR" sz="18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acquièrent des liens non pertinents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gagnent des </a:t>
            </a:r>
            <a:r>
              <a:rPr lang="fr-FR" sz="1800" dirty="0" err="1">
                <a:solidFill>
                  <a:srgbClr val="303030"/>
                </a:solidFill>
                <a:latin typeface="Poppins" panose="00000500000000000000" pitchFamily="2" charset="0"/>
              </a:rPr>
              <a:t>backlinks</a:t>
            </a: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 trop rapidement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ont recours au </a:t>
            </a: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Keyword </a:t>
            </a:r>
            <a:r>
              <a:rPr lang="fr-FR" sz="18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Stuffing</a:t>
            </a:r>
            <a:endParaRPr lang="fr-FR" sz="1800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65913DA-20FA-DF27-A30F-B7FFE5FAEFD7}"/>
              </a:ext>
            </a:extLst>
          </p:cNvPr>
          <p:cNvSpPr txBox="1">
            <a:spLocks/>
          </p:cNvSpPr>
          <p:nvPr/>
        </p:nvSpPr>
        <p:spPr>
          <a:xfrm>
            <a:off x="304307" y="4772025"/>
            <a:ext cx="731569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pour résumer, cette mise à jour cible les sites qui font du black </a:t>
            </a:r>
            <a:r>
              <a:rPr lang="fr-F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hat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SEO </a:t>
            </a:r>
          </a:p>
          <a:p>
            <a:endParaRPr lang="fr-FR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  <a:p>
            <a:r>
              <a:rPr lang="fr-F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(ou plutôt du </a:t>
            </a:r>
            <a:r>
              <a:rPr lang="fr-FR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grey</a:t>
            </a:r>
            <a:r>
              <a:rPr lang="fr-F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</a:t>
            </a:r>
            <a:r>
              <a:rPr lang="fr-FR" sz="2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hat</a:t>
            </a:r>
            <a:r>
              <a:rPr lang="fr-F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à cette époque). </a:t>
            </a:r>
          </a:p>
        </p:txBody>
      </p:sp>
      <p:pic>
        <p:nvPicPr>
          <p:cNvPr id="9218" name="Picture 2" descr="30 Absolutely Delightful Facts You Never Knew About Penguins">
            <a:extLst>
              <a:ext uri="{FF2B5EF4-FFF2-40B4-BE49-F238E27FC236}">
                <a16:creationId xmlns:a16="http://schemas.microsoft.com/office/drawing/2014/main" id="{4E908970-E384-8FB2-4EC5-BD66302C0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2686050"/>
            <a:ext cx="4171950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014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hummingbird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update - 2013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04D11D-E5CF-A40C-DDE6-9C8A6280A0D7}"/>
              </a:ext>
            </a:extLst>
          </p:cNvPr>
          <p:cNvSpPr txBox="1">
            <a:spLocks/>
          </p:cNvSpPr>
          <p:nvPr/>
        </p:nvSpPr>
        <p:spPr>
          <a:xfrm>
            <a:off x="304307" y="2678720"/>
            <a:ext cx="117427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a </a:t>
            </a:r>
            <a:r>
              <a:rPr lang="fr-FR" sz="1800" dirty="0" err="1">
                <a:solidFill>
                  <a:srgbClr val="303030"/>
                </a:solidFill>
                <a:latin typeface="Poppins" panose="00000500000000000000" pitchFamily="2" charset="0"/>
              </a:rPr>
              <a:t>permi</a:t>
            </a: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 a Google de comprendre le contexte qui entoure les mots-clés ainsi que les intentions de recherche des utilisateurs.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8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depuis la </a:t>
            </a:r>
            <a:r>
              <a:rPr lang="fr-FR" sz="18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hummingbird</a:t>
            </a: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 update, les sites doivent ajouter du contexte à leurs contenus en utilisant des mots connexes au mot-clé cible.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800" i="1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la pertinence d’une page n’est plus mesurée selon la densité de mots mais </a:t>
            </a:r>
            <a:r>
              <a:rPr lang="fr-FR" sz="18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pltuôt</a:t>
            </a: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 aux LSI (Latent </a:t>
            </a:r>
            <a:r>
              <a:rPr lang="fr-FR" sz="18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Semantic</a:t>
            </a: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  <a:r>
              <a:rPr lang="fr-FR" sz="18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Indexing</a:t>
            </a: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).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65913DA-20FA-DF27-A30F-B7FFE5FAEFD7}"/>
              </a:ext>
            </a:extLst>
          </p:cNvPr>
          <p:cNvSpPr txBox="1">
            <a:spLocks/>
          </p:cNvSpPr>
          <p:nvPr/>
        </p:nvSpPr>
        <p:spPr>
          <a:xfrm>
            <a:off x="304307" y="4792328"/>
            <a:ext cx="5991717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en plus de virer les sites qui font du keyword </a:t>
            </a:r>
            <a:r>
              <a:rPr lang="fr-F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stuffing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, cette mise à jour a rendu google plus </a:t>
            </a:r>
            <a:r>
              <a:rPr lang="fr-F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intelligenT</a:t>
            </a:r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.  </a:t>
            </a:r>
          </a:p>
        </p:txBody>
      </p:sp>
      <p:pic>
        <p:nvPicPr>
          <p:cNvPr id="9220" name="Picture 4" descr="Hummingbird Jokes – Be Your Own Birder">
            <a:extLst>
              <a:ext uri="{FF2B5EF4-FFF2-40B4-BE49-F238E27FC236}">
                <a16:creationId xmlns:a16="http://schemas.microsoft.com/office/drawing/2014/main" id="{AF57EB14-4E9E-7940-681B-D3967F449D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5" r="19478"/>
          <a:stretch/>
        </p:blipFill>
        <p:spPr bwMode="auto">
          <a:xfrm>
            <a:off x="6797040" y="3429000"/>
            <a:ext cx="539496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3710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un exemple </a:t>
            </a:r>
          </a:p>
        </p:txBody>
      </p:sp>
      <p:pic>
        <p:nvPicPr>
          <p:cNvPr id="12290" name="Picture 2" descr="What are LSI Keywords? And Do They Help With SEO?">
            <a:extLst>
              <a:ext uri="{FF2B5EF4-FFF2-40B4-BE49-F238E27FC236}">
                <a16:creationId xmlns:a16="http://schemas.microsoft.com/office/drawing/2014/main" id="{9A00ED2A-021D-FEA1-39BC-AD6DFAC86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862" y="1639477"/>
            <a:ext cx="7720275" cy="521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328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un exemple concret </a:t>
            </a:r>
          </a:p>
        </p:txBody>
      </p:sp>
      <p:pic>
        <p:nvPicPr>
          <p:cNvPr id="11266" name="Picture 2" descr="Définition mots-clés d'Indexation Sémantique Latente - Twaino">
            <a:extLst>
              <a:ext uri="{FF2B5EF4-FFF2-40B4-BE49-F238E27FC236}">
                <a16:creationId xmlns:a16="http://schemas.microsoft.com/office/drawing/2014/main" id="{829285EB-A701-757C-FEBD-938DF0464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394" y="1514273"/>
            <a:ext cx="8076085" cy="5343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273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951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MOBILEGEdDON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update - 2015</a:t>
            </a:r>
          </a:p>
        </p:txBody>
      </p:sp>
      <p:pic>
        <p:nvPicPr>
          <p:cNvPr id="13314" name="Picture 2" descr="Google Mobilegeddon: What's Happening Two Months Later">
            <a:extLst>
              <a:ext uri="{FF2B5EF4-FFF2-40B4-BE49-F238E27FC236}">
                <a16:creationId xmlns:a16="http://schemas.microsoft.com/office/drawing/2014/main" id="{6DD52AC7-BDA6-B9A3-A0B7-DAD9280A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775" y="1864421"/>
            <a:ext cx="9925050" cy="4993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404D11D-E5CF-A40C-DDE6-9C8A6280A0D7}"/>
              </a:ext>
            </a:extLst>
          </p:cNvPr>
          <p:cNvSpPr txBox="1">
            <a:spLocks/>
          </p:cNvSpPr>
          <p:nvPr/>
        </p:nvSpPr>
        <p:spPr>
          <a:xfrm>
            <a:off x="1431478" y="2387601"/>
            <a:ext cx="3235771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chemeClr val="bg1"/>
                </a:solidFill>
                <a:latin typeface="Poppins" panose="00000500000000000000" pitchFamily="2" charset="0"/>
              </a:rPr>
              <a:t>met en avant les sites qui sont responsive.</a:t>
            </a:r>
            <a:endParaRPr lang="fr-FR" sz="2400" i="1" dirty="0">
              <a:solidFill>
                <a:schemeClr val="bg1"/>
              </a:solidFill>
              <a:latin typeface="Poppins" panose="00000500000000000000" pitchFamily="2" charset="0"/>
            </a:endParaRP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A2972BE8-7941-9ACE-DAEF-3F82FF747D2A}"/>
              </a:ext>
            </a:extLst>
          </p:cNvPr>
          <p:cNvSpPr txBox="1">
            <a:spLocks/>
          </p:cNvSpPr>
          <p:nvPr/>
        </p:nvSpPr>
        <p:spPr>
          <a:xfrm>
            <a:off x="8386820" y="2387601"/>
            <a:ext cx="2911922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chemeClr val="bg1"/>
                </a:solidFill>
                <a:latin typeface="Poppins" panose="00000500000000000000" pitchFamily="2" charset="0"/>
              </a:rPr>
              <a:t>défavorise ceux qui ne le sont pas.</a:t>
            </a:r>
            <a:endParaRPr lang="fr-FR" sz="2400" i="1" dirty="0">
              <a:solidFill>
                <a:schemeClr val="bg1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694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pigeon update – 2014/2015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04D11D-E5CF-A40C-DDE6-9C8A6280A0D7}"/>
              </a:ext>
            </a:extLst>
          </p:cNvPr>
          <p:cNvSpPr txBox="1">
            <a:spLocks/>
          </p:cNvSpPr>
          <p:nvPr/>
        </p:nvSpPr>
        <p:spPr>
          <a:xfrm>
            <a:off x="304307" y="3167199"/>
            <a:ext cx="1148764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favorise les résultats de recherche locaux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régule la concurrence déloyale au bénéfice des petits commerces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introduit des résultats de recherche locaux avec Google </a:t>
            </a:r>
            <a:r>
              <a:rPr lang="fr-FR" sz="1800" dirty="0" err="1">
                <a:solidFill>
                  <a:srgbClr val="303030"/>
                </a:solidFill>
                <a:latin typeface="Poppins" panose="00000500000000000000" pitchFamily="2" charset="0"/>
              </a:rPr>
              <a:t>Maps</a:t>
            </a:r>
            <a:endParaRPr lang="fr-FR" sz="18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affiche des résultats de recherche selon la position de l’utilisateur</a:t>
            </a:r>
          </a:p>
          <a:p>
            <a:endParaRPr lang="fr-FR" sz="18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depuis la pigeon update, le SEO local a pris une place prépondérante dans les stratégies de référencement. </a:t>
            </a:r>
          </a:p>
          <a:p>
            <a:endParaRPr lang="fr-FR" sz="1800" i="1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1800" b="1" i="1" dirty="0">
                <a:solidFill>
                  <a:schemeClr val="accent2">
                    <a:lumMod val="75000"/>
                  </a:schemeClr>
                </a:solidFill>
                <a:latin typeface="Poppins" panose="00000500000000000000" pitchFamily="2" charset="0"/>
              </a:rPr>
              <a:t>NAP (Name, </a:t>
            </a:r>
            <a:r>
              <a:rPr lang="fr-FR" sz="1800" b="1" i="1" dirty="0" err="1">
                <a:solidFill>
                  <a:schemeClr val="accent2">
                    <a:lumMod val="75000"/>
                  </a:schemeClr>
                </a:solidFill>
                <a:latin typeface="Poppins" panose="00000500000000000000" pitchFamily="2" charset="0"/>
              </a:rPr>
              <a:t>Adress</a:t>
            </a:r>
            <a:r>
              <a:rPr lang="fr-FR" sz="1800" b="1" i="1" dirty="0">
                <a:solidFill>
                  <a:schemeClr val="accent2">
                    <a:lumMod val="75000"/>
                  </a:schemeClr>
                </a:solidFill>
                <a:latin typeface="Poppins" panose="00000500000000000000" pitchFamily="2" charset="0"/>
              </a:rPr>
              <a:t>, Phone), </a:t>
            </a: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annuaires locaux, Yelp, Apple </a:t>
            </a:r>
            <a:r>
              <a:rPr lang="fr-FR" sz="18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Maps</a:t>
            </a: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, </a:t>
            </a:r>
          </a:p>
          <a:p>
            <a:r>
              <a:rPr lang="fr-FR" sz="1800" b="1" i="1" dirty="0">
                <a:solidFill>
                  <a:schemeClr val="accent2">
                    <a:lumMod val="75000"/>
                  </a:schemeClr>
                </a:solidFill>
                <a:latin typeface="Poppins" panose="00000500000000000000" pitchFamily="2" charset="0"/>
              </a:rPr>
              <a:t>Google Business Profile </a:t>
            </a: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(fiche établissement), </a:t>
            </a:r>
            <a:r>
              <a:rPr lang="fr-FR" sz="1800" b="1" i="1" dirty="0">
                <a:solidFill>
                  <a:schemeClr val="accent2">
                    <a:lumMod val="75000"/>
                  </a:schemeClr>
                </a:solidFill>
                <a:latin typeface="Poppins" panose="00000500000000000000" pitchFamily="2" charset="0"/>
              </a:rPr>
              <a:t>les avis, </a:t>
            </a: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etc.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65913DA-20FA-DF27-A30F-B7FFE5FAEFD7}"/>
              </a:ext>
            </a:extLst>
          </p:cNvPr>
          <p:cNvSpPr txBox="1">
            <a:spLocks/>
          </p:cNvSpPr>
          <p:nvPr/>
        </p:nvSpPr>
        <p:spPr>
          <a:xfrm>
            <a:off x="304307" y="4859095"/>
            <a:ext cx="7687168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en résumé, google a ajouté la dimension locale aux résultats de recherche pour réguler la concurrence</a:t>
            </a:r>
          </a:p>
        </p:txBody>
      </p:sp>
      <p:pic>
        <p:nvPicPr>
          <p:cNvPr id="14338" name="Picture 2" descr="Angry Pigeon (@nochillpigeon) / Twitter">
            <a:extLst>
              <a:ext uri="{FF2B5EF4-FFF2-40B4-BE49-F238E27FC236}">
                <a16:creationId xmlns:a16="http://schemas.microsoft.com/office/drawing/2014/main" id="{A74CE386-903C-D36A-EBD6-970223173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30480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7057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RANK BRAIN update – 2015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65913DA-20FA-DF27-A30F-B7FFE5FAEFD7}"/>
              </a:ext>
            </a:extLst>
          </p:cNvPr>
          <p:cNvSpPr txBox="1">
            <a:spLocks/>
          </p:cNvSpPr>
          <p:nvPr/>
        </p:nvSpPr>
        <p:spPr>
          <a:xfrm>
            <a:off x="426655" y="5016007"/>
            <a:ext cx="518209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c’est à ce moment-là que google est devenu surpuissant.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04D11D-E5CF-A40C-DDE6-9C8A6280A0D7}"/>
              </a:ext>
            </a:extLst>
          </p:cNvPr>
          <p:cNvSpPr txBox="1">
            <a:spLocks/>
          </p:cNvSpPr>
          <p:nvPr/>
        </p:nvSpPr>
        <p:spPr>
          <a:xfrm>
            <a:off x="400050" y="1313349"/>
            <a:ext cx="1148764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Rank Brain est une intelligence artificielle qui comprend le sens de requêtes similaires mais formulées différemment 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0D49CDE9-B1BC-8444-81DA-4F3EE46B6D31}"/>
              </a:ext>
            </a:extLst>
          </p:cNvPr>
          <p:cNvSpPr txBox="1">
            <a:spLocks/>
          </p:cNvSpPr>
          <p:nvPr/>
        </p:nvSpPr>
        <p:spPr>
          <a:xfrm>
            <a:off x="400049" y="2090204"/>
            <a:ext cx="1148764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dans la prolongation de la </a:t>
            </a:r>
            <a:r>
              <a:rPr lang="fr-FR" sz="1800" dirty="0" err="1">
                <a:solidFill>
                  <a:srgbClr val="303030"/>
                </a:solidFill>
                <a:latin typeface="Poppins" panose="00000500000000000000" pitchFamily="2" charset="0"/>
              </a:rPr>
              <a:t>Humminbird</a:t>
            </a: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 update, Rank Brain a pour but d’interpréter et de comprendre les recherches les plus abstraites des utilisateurs</a:t>
            </a:r>
          </a:p>
        </p:txBody>
      </p:sp>
      <p:pic>
        <p:nvPicPr>
          <p:cNvPr id="14340" name="Picture 4" descr="Google RankBrain Algorithm: A Guide Part 1 | Toledo SEO for Growth">
            <a:extLst>
              <a:ext uri="{FF2B5EF4-FFF2-40B4-BE49-F238E27FC236}">
                <a16:creationId xmlns:a16="http://schemas.microsoft.com/office/drawing/2014/main" id="{D42A368D-5A6C-5DAD-E257-6975CE95FF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70" t="1" r="11369" b="7365"/>
          <a:stretch/>
        </p:blipFill>
        <p:spPr bwMode="auto">
          <a:xfrm>
            <a:off x="9054252" y="2749249"/>
            <a:ext cx="3123707" cy="407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Google RankBrain Algorithm: A Guide Part 1 | Toledo SEO for Growth">
            <a:extLst>
              <a:ext uri="{FF2B5EF4-FFF2-40B4-BE49-F238E27FC236}">
                <a16:creationId xmlns:a16="http://schemas.microsoft.com/office/drawing/2014/main" id="{9B076A50-7401-362D-DD96-024208846D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61" t="53016" r="51954" b="7365"/>
          <a:stretch/>
        </p:blipFill>
        <p:spPr bwMode="auto">
          <a:xfrm>
            <a:off x="5587212" y="4926717"/>
            <a:ext cx="3703626" cy="174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E3DAEE1F-21B8-2598-56BB-EF92EB82158B}"/>
              </a:ext>
            </a:extLst>
          </p:cNvPr>
          <p:cNvSpPr txBox="1">
            <a:spLocks/>
          </p:cNvSpPr>
          <p:nvPr/>
        </p:nvSpPr>
        <p:spPr>
          <a:xfrm>
            <a:off x="431848" y="3023055"/>
            <a:ext cx="1148764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Rank Brain faisait partie des 3 facteurs de référencement les plus importants </a:t>
            </a:r>
          </a:p>
          <a:p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avec la qualité du contenu et les </a:t>
            </a:r>
            <a:r>
              <a:rPr lang="fr-FR" sz="18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backlinks</a:t>
            </a:r>
            <a:endParaRPr lang="fr-FR" sz="1800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620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RANK BRAIN update – 2015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65913DA-20FA-DF27-A30F-B7FFE5FAEFD7}"/>
              </a:ext>
            </a:extLst>
          </p:cNvPr>
          <p:cNvSpPr txBox="1">
            <a:spLocks/>
          </p:cNvSpPr>
          <p:nvPr/>
        </p:nvSpPr>
        <p:spPr>
          <a:xfrm>
            <a:off x="426655" y="5016007"/>
            <a:ext cx="518209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c’est à ce moment-là que google est devenu surpuissant.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04D11D-E5CF-A40C-DDE6-9C8A6280A0D7}"/>
              </a:ext>
            </a:extLst>
          </p:cNvPr>
          <p:cNvSpPr txBox="1">
            <a:spLocks/>
          </p:cNvSpPr>
          <p:nvPr/>
        </p:nvSpPr>
        <p:spPr>
          <a:xfrm>
            <a:off x="304307" y="2891103"/>
            <a:ext cx="1148764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facteurs déterminants qui sont analysés par Rank Brain : 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l’utilisation des LSI (Latent </a:t>
            </a:r>
            <a:r>
              <a:rPr lang="fr-FR" sz="1800" dirty="0" err="1">
                <a:solidFill>
                  <a:srgbClr val="303030"/>
                </a:solidFill>
                <a:latin typeface="Poppins" panose="00000500000000000000" pitchFamily="2" charset="0"/>
              </a:rPr>
              <a:t>Semantic</a:t>
            </a: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  <a:r>
              <a:rPr lang="fr-FR" sz="1800" dirty="0" err="1">
                <a:solidFill>
                  <a:srgbClr val="303030"/>
                </a:solidFill>
                <a:latin typeface="Poppins" panose="00000500000000000000" pitchFamily="2" charset="0"/>
              </a:rPr>
              <a:t>Indexing</a:t>
            </a: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le taux de rebond : pourcentage de l'ensemble des sessions sur votre site au cours desquelles l’utilisateur n’a accédé qu'à une seule page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le </a:t>
            </a:r>
            <a:r>
              <a:rPr lang="fr-FR" sz="1800" dirty="0" err="1">
                <a:solidFill>
                  <a:srgbClr val="303030"/>
                </a:solidFill>
                <a:latin typeface="Poppins" panose="00000500000000000000" pitchFamily="2" charset="0"/>
              </a:rPr>
              <a:t>dwell</a:t>
            </a: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 time : le temps passé sur le site avant de retourner à la SERP)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l’engagement </a:t>
            </a:r>
          </a:p>
        </p:txBody>
      </p:sp>
      <p:pic>
        <p:nvPicPr>
          <p:cNvPr id="14340" name="Picture 4" descr="Google RankBrain Algorithm: A Guide Part 1 | Toledo SEO for Growth">
            <a:extLst>
              <a:ext uri="{FF2B5EF4-FFF2-40B4-BE49-F238E27FC236}">
                <a16:creationId xmlns:a16="http://schemas.microsoft.com/office/drawing/2014/main" id="{D42A368D-5A6C-5DAD-E257-6975CE95FF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70" t="1" r="11369" b="7365"/>
          <a:stretch/>
        </p:blipFill>
        <p:spPr bwMode="auto">
          <a:xfrm>
            <a:off x="9054252" y="2749249"/>
            <a:ext cx="3123707" cy="407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Google RankBrain Algorithm: A Guide Part 1 | Toledo SEO for Growth">
            <a:extLst>
              <a:ext uri="{FF2B5EF4-FFF2-40B4-BE49-F238E27FC236}">
                <a16:creationId xmlns:a16="http://schemas.microsoft.com/office/drawing/2014/main" id="{9B076A50-7401-362D-DD96-024208846D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61" t="53016" r="51954" b="7365"/>
          <a:stretch/>
        </p:blipFill>
        <p:spPr bwMode="auto">
          <a:xfrm>
            <a:off x="5587212" y="4926717"/>
            <a:ext cx="3703626" cy="174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469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144967" y="2033711"/>
            <a:ext cx="13637708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ET Aujourd'hui c’est comment ?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04D11D-E5CF-A40C-DDE6-9C8A6280A0D7}"/>
              </a:ext>
            </a:extLst>
          </p:cNvPr>
          <p:cNvSpPr txBox="1">
            <a:spLocks/>
          </p:cNvSpPr>
          <p:nvPr/>
        </p:nvSpPr>
        <p:spPr>
          <a:xfrm>
            <a:off x="304307" y="3167199"/>
            <a:ext cx="1148764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fr-FR" sz="1800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3811BFB6-0071-882C-34F7-C6DE50662871}"/>
              </a:ext>
            </a:extLst>
          </p:cNvPr>
          <p:cNvSpPr txBox="1">
            <a:spLocks/>
          </p:cNvSpPr>
          <p:nvPr/>
        </p:nvSpPr>
        <p:spPr>
          <a:xfrm>
            <a:off x="304307" y="5770680"/>
            <a:ext cx="844916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Google met à jour régulièrement les update précédemment évoquées. 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Selon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SearchEngineLand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, Google aurait fait </a:t>
            </a:r>
            <a:r>
              <a:rPr lang="fr-FR" sz="2000" b="1" dirty="0">
                <a:solidFill>
                  <a:srgbClr val="303030"/>
                </a:solidFill>
                <a:latin typeface="Poppins" panose="00000500000000000000" pitchFamily="2" charset="0"/>
              </a:rPr>
              <a:t>4500 mises à jour en 2020.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  <a:hlinkClick r:id="rId2"/>
              </a:rPr>
              <a:t>L’historique de toutes les mises à jour est ici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. Vous pouvez aussi chercher sur Google :   « G</a:t>
            </a:r>
            <a:r>
              <a:rPr lang="en-US" sz="1400" dirty="0" err="1">
                <a:solidFill>
                  <a:srgbClr val="303030"/>
                </a:solidFill>
                <a:latin typeface="Poppins" panose="00000500000000000000" pitchFamily="2" charset="0"/>
              </a:rPr>
              <a:t>oogle</a:t>
            </a:r>
            <a:r>
              <a:rPr lang="en-US" sz="1400" dirty="0">
                <a:solidFill>
                  <a:srgbClr val="303030"/>
                </a:solidFill>
                <a:latin typeface="Poppins" panose="00000500000000000000" pitchFamily="2" charset="0"/>
              </a:rPr>
              <a:t> last big update date </a:t>
            </a:r>
            <a:r>
              <a:rPr lang="fr-FR" sz="1400" dirty="0">
                <a:solidFill>
                  <a:srgbClr val="303030"/>
                </a:solidFill>
                <a:latin typeface="Poppins" panose="00000500000000000000" pitchFamily="2" charset="0"/>
              </a:rPr>
              <a:t>». C’est le premier lien.</a:t>
            </a:r>
            <a:endParaRPr lang="fr-FR" sz="1200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24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r>
              <a:rPr lang="fr-FR" dirty="0"/>
              <a:t>²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1528205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99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AI TIME</a:t>
            </a:r>
          </a:p>
        </p:txBody>
      </p:sp>
      <p:pic>
        <p:nvPicPr>
          <p:cNvPr id="3074" name="Picture 2" descr="ChatGPT — Wikipédia">
            <a:extLst>
              <a:ext uri="{FF2B5EF4-FFF2-40B4-BE49-F238E27FC236}">
                <a16:creationId xmlns:a16="http://schemas.microsoft.com/office/drawing/2014/main" id="{D559D979-F3AB-3352-511E-10448AF0A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534" y="2661313"/>
            <a:ext cx="3800901" cy="3800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89507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2979</TotalTime>
  <Words>811</Words>
  <Application>Microsoft Office PowerPoint</Application>
  <PresentationFormat>Grand écran</PresentationFormat>
  <Paragraphs>99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0" baseType="lpstr">
      <vt:lpstr>Arial</vt:lpstr>
      <vt:lpstr>Bebas Neue</vt:lpstr>
      <vt:lpstr>Calibri</vt:lpstr>
      <vt:lpstr>Calibri Light</vt:lpstr>
      <vt:lpstr>Poppins</vt:lpstr>
      <vt:lpstr>Silka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²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Lading page</dc:title>
  <dc:creator>Fayçal Sellam</dc:creator>
  <cp:lastModifiedBy>Adel Akouche</cp:lastModifiedBy>
  <cp:revision>30</cp:revision>
  <dcterms:created xsi:type="dcterms:W3CDTF">2021-11-16T19:28:52Z</dcterms:created>
  <dcterms:modified xsi:type="dcterms:W3CDTF">2024-10-10T09:32:43Z</dcterms:modified>
</cp:coreProperties>
</file>