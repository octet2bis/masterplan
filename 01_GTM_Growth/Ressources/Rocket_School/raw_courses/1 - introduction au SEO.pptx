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317" r:id="rId4"/>
    <p:sldId id="277" r:id="rId5"/>
    <p:sldId id="263" r:id="rId6"/>
    <p:sldId id="264" r:id="rId7"/>
    <p:sldId id="258" r:id="rId8"/>
    <p:sldId id="304" r:id="rId9"/>
    <p:sldId id="313" r:id="rId10"/>
    <p:sldId id="303" r:id="rId11"/>
    <p:sldId id="305" r:id="rId12"/>
    <p:sldId id="265" r:id="rId13"/>
    <p:sldId id="298" r:id="rId14"/>
    <p:sldId id="306" r:id="rId15"/>
    <p:sldId id="299" r:id="rId16"/>
    <p:sldId id="307" r:id="rId17"/>
    <p:sldId id="302" r:id="rId18"/>
    <p:sldId id="301" r:id="rId19"/>
    <p:sldId id="308" r:id="rId20"/>
    <p:sldId id="310" r:id="rId21"/>
    <p:sldId id="311" r:id="rId22"/>
    <p:sldId id="312" r:id="rId23"/>
    <p:sldId id="315" r:id="rId24"/>
    <p:sldId id="309" r:id="rId25"/>
    <p:sldId id="314" r:id="rId26"/>
    <p:sldId id="316" r:id="rId2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19E"/>
    <a:srgbClr val="1871A9"/>
    <a:srgbClr val="BEC2E8"/>
    <a:srgbClr val="B4C7E7"/>
    <a:srgbClr val="1F4E79"/>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485" autoAdjust="0"/>
    <p:restoredTop sz="94660"/>
  </p:normalViewPr>
  <p:slideViewPr>
    <p:cSldViewPr snapToGrid="0">
      <p:cViewPr varScale="1">
        <p:scale>
          <a:sx n="72" d="100"/>
          <a:sy n="72" d="100"/>
        </p:scale>
        <p:origin x="47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DBC1DB-F904-4ED4-91EC-ED869F3FE908}" type="datetimeFigureOut">
              <a:rPr lang="fr-FR" smtClean="0"/>
              <a:t>28/04/2023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D77C7D-0C16-438B-AA37-6324CDB8250F}" type="slidenum">
              <a:rPr lang="fr-FR" smtClean="0"/>
              <a:t>‹N°›</a:t>
            </a:fld>
            <a:endParaRPr lang="fr-FR"/>
          </a:p>
        </p:txBody>
      </p:sp>
    </p:spTree>
    <p:extLst>
      <p:ext uri="{BB962C8B-B14F-4D97-AF65-F5344CB8AC3E}">
        <p14:creationId xmlns:p14="http://schemas.microsoft.com/office/powerpoint/2010/main" val="967296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029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A1499D-1446-4E04-AAE9-0F53FA0E42F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5834F14D-AFF3-470D-9806-087CEC0715A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EE0A6ED-3CC6-4D50-9CFE-05B3EBC501A5}"/>
              </a:ext>
            </a:extLst>
          </p:cNvPr>
          <p:cNvSpPr>
            <a:spLocks noGrp="1"/>
          </p:cNvSpPr>
          <p:nvPr>
            <p:ph type="dt" sz="half" idx="10"/>
          </p:nvPr>
        </p:nvSpPr>
        <p:spPr/>
        <p:txBody>
          <a:bodyPr/>
          <a:lstStyle/>
          <a:p>
            <a:fld id="{17E85E6A-7D02-4E43-8ACA-C8662A82C9C4}" type="datetime1">
              <a:rPr lang="fr-FR" smtClean="0"/>
              <a:t>28/04/2023</a:t>
            </a:fld>
            <a:endParaRPr lang="fr-FR"/>
          </a:p>
        </p:txBody>
      </p:sp>
      <p:sp>
        <p:nvSpPr>
          <p:cNvPr id="5" name="Espace réservé du pied de page 4">
            <a:extLst>
              <a:ext uri="{FF2B5EF4-FFF2-40B4-BE49-F238E27FC236}">
                <a16:creationId xmlns:a16="http://schemas.microsoft.com/office/drawing/2014/main" id="{4F890BC0-0958-4CAE-95AE-5D71BF12E12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6D66F5F-8328-4338-AC3F-32239B5C7C3D}"/>
              </a:ext>
            </a:extLst>
          </p:cNvPr>
          <p:cNvSpPr>
            <a:spLocks noGrp="1"/>
          </p:cNvSpPr>
          <p:nvPr>
            <p:ph type="sldNum" sz="quarter" idx="12"/>
          </p:nvPr>
        </p:nvSpPr>
        <p:spPr/>
        <p:txBody>
          <a:bodyPr/>
          <a:lstStyle/>
          <a:p>
            <a:fld id="{B5C50E92-4701-4803-BF4A-1BCEAA5421B4}" type="slidenum">
              <a:rPr lang="fr-FR" smtClean="0"/>
              <a:t>‹N°›</a:t>
            </a:fld>
            <a:endParaRPr lang="fr-FR"/>
          </a:p>
        </p:txBody>
      </p:sp>
    </p:spTree>
    <p:extLst>
      <p:ext uri="{BB962C8B-B14F-4D97-AF65-F5344CB8AC3E}">
        <p14:creationId xmlns:p14="http://schemas.microsoft.com/office/powerpoint/2010/main" val="4156198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B48302-A599-4833-AFC0-1323DBCA671E}"/>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F26B1E1-2F99-4DEF-9452-DD20A9E987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3D01FB8-A82C-49BF-9B46-6E439F44A7D4}"/>
              </a:ext>
            </a:extLst>
          </p:cNvPr>
          <p:cNvSpPr>
            <a:spLocks noGrp="1"/>
          </p:cNvSpPr>
          <p:nvPr>
            <p:ph type="dt" sz="half" idx="10"/>
          </p:nvPr>
        </p:nvSpPr>
        <p:spPr/>
        <p:txBody>
          <a:bodyPr/>
          <a:lstStyle/>
          <a:p>
            <a:fld id="{38C07CDB-0744-4C76-93AB-E8B7EE07BA7F}" type="datetime1">
              <a:rPr lang="fr-FR" smtClean="0"/>
              <a:t>28/04/2023</a:t>
            </a:fld>
            <a:endParaRPr lang="fr-FR"/>
          </a:p>
        </p:txBody>
      </p:sp>
      <p:sp>
        <p:nvSpPr>
          <p:cNvPr id="5" name="Espace réservé du pied de page 4">
            <a:extLst>
              <a:ext uri="{FF2B5EF4-FFF2-40B4-BE49-F238E27FC236}">
                <a16:creationId xmlns:a16="http://schemas.microsoft.com/office/drawing/2014/main" id="{59B381A4-F05D-4CF1-BBFA-7932ECE6080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891D034-9C23-435C-991A-F06A33900533}"/>
              </a:ext>
            </a:extLst>
          </p:cNvPr>
          <p:cNvSpPr>
            <a:spLocks noGrp="1"/>
          </p:cNvSpPr>
          <p:nvPr>
            <p:ph type="sldNum" sz="quarter" idx="12"/>
          </p:nvPr>
        </p:nvSpPr>
        <p:spPr/>
        <p:txBody>
          <a:bodyPr/>
          <a:lstStyle/>
          <a:p>
            <a:fld id="{B5C50E92-4701-4803-BF4A-1BCEAA5421B4}" type="slidenum">
              <a:rPr lang="fr-FR" smtClean="0"/>
              <a:t>‹N°›</a:t>
            </a:fld>
            <a:endParaRPr lang="fr-FR"/>
          </a:p>
        </p:txBody>
      </p:sp>
    </p:spTree>
    <p:extLst>
      <p:ext uri="{BB962C8B-B14F-4D97-AF65-F5344CB8AC3E}">
        <p14:creationId xmlns:p14="http://schemas.microsoft.com/office/powerpoint/2010/main" val="3967327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74BE04-6C9D-4EAD-BE8B-D94772788A8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35BF750-F6A3-4EE1-B9AA-1BAFCDAA230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E1EDE41D-71C0-45B1-8D96-ECBA40957B4C}"/>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B619CCB-53F4-46FD-9ED6-652BDF61706A}"/>
              </a:ext>
            </a:extLst>
          </p:cNvPr>
          <p:cNvSpPr>
            <a:spLocks noGrp="1"/>
          </p:cNvSpPr>
          <p:nvPr>
            <p:ph type="dt" sz="half" idx="10"/>
          </p:nvPr>
        </p:nvSpPr>
        <p:spPr/>
        <p:txBody>
          <a:bodyPr/>
          <a:lstStyle/>
          <a:p>
            <a:fld id="{36F20AA8-DB14-44C6-956E-F6E0EEAD56F9}" type="datetime1">
              <a:rPr lang="fr-FR" smtClean="0"/>
              <a:t>28/04/2023</a:t>
            </a:fld>
            <a:endParaRPr lang="fr-FR"/>
          </a:p>
        </p:txBody>
      </p:sp>
      <p:sp>
        <p:nvSpPr>
          <p:cNvPr id="6" name="Espace réservé du pied de page 5">
            <a:extLst>
              <a:ext uri="{FF2B5EF4-FFF2-40B4-BE49-F238E27FC236}">
                <a16:creationId xmlns:a16="http://schemas.microsoft.com/office/drawing/2014/main" id="{8F918141-0A9D-4E94-8BF9-58166F39F99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5443D87-8997-4BC2-A259-8FD4500D3B83}"/>
              </a:ext>
            </a:extLst>
          </p:cNvPr>
          <p:cNvSpPr>
            <a:spLocks noGrp="1"/>
          </p:cNvSpPr>
          <p:nvPr>
            <p:ph type="sldNum" sz="quarter" idx="12"/>
          </p:nvPr>
        </p:nvSpPr>
        <p:spPr/>
        <p:txBody>
          <a:bodyPr/>
          <a:lstStyle/>
          <a:p>
            <a:fld id="{B5C50E92-4701-4803-BF4A-1BCEAA5421B4}" type="slidenum">
              <a:rPr lang="fr-FR" smtClean="0"/>
              <a:t>‹N°›</a:t>
            </a:fld>
            <a:endParaRPr lang="fr-FR"/>
          </a:p>
        </p:txBody>
      </p:sp>
    </p:spTree>
    <p:extLst>
      <p:ext uri="{BB962C8B-B14F-4D97-AF65-F5344CB8AC3E}">
        <p14:creationId xmlns:p14="http://schemas.microsoft.com/office/powerpoint/2010/main" val="3796089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C3BF19-4476-4566-9CEC-3E2E626D3FD8}"/>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869F6A3E-7141-4F74-BDA1-96690C7526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E641606-4939-4363-A8A2-26AFCBDA34C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C676DEDB-0060-4A12-88A2-CFA6C3E00F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9DA22D7-639D-4375-948A-DD772BA06A9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6FE85279-70F7-4898-BABF-33CAF59F2C88}"/>
              </a:ext>
            </a:extLst>
          </p:cNvPr>
          <p:cNvSpPr>
            <a:spLocks noGrp="1"/>
          </p:cNvSpPr>
          <p:nvPr>
            <p:ph type="dt" sz="half" idx="10"/>
          </p:nvPr>
        </p:nvSpPr>
        <p:spPr/>
        <p:txBody>
          <a:bodyPr/>
          <a:lstStyle/>
          <a:p>
            <a:fld id="{A084878F-7FAE-40E5-87E0-15E2E5B585C8}" type="datetime1">
              <a:rPr lang="fr-FR" smtClean="0"/>
              <a:t>28/04/2023</a:t>
            </a:fld>
            <a:endParaRPr lang="fr-FR"/>
          </a:p>
        </p:txBody>
      </p:sp>
      <p:sp>
        <p:nvSpPr>
          <p:cNvPr id="8" name="Espace réservé du pied de page 7">
            <a:extLst>
              <a:ext uri="{FF2B5EF4-FFF2-40B4-BE49-F238E27FC236}">
                <a16:creationId xmlns:a16="http://schemas.microsoft.com/office/drawing/2014/main" id="{3ED99652-4A05-49D9-9BEC-E92BDF55CF8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BCBAE0A0-FCC4-4F4C-8F90-12132C83F8E6}"/>
              </a:ext>
            </a:extLst>
          </p:cNvPr>
          <p:cNvSpPr>
            <a:spLocks noGrp="1"/>
          </p:cNvSpPr>
          <p:nvPr>
            <p:ph type="sldNum" sz="quarter" idx="12"/>
          </p:nvPr>
        </p:nvSpPr>
        <p:spPr/>
        <p:txBody>
          <a:bodyPr/>
          <a:lstStyle/>
          <a:p>
            <a:fld id="{B5C50E92-4701-4803-BF4A-1BCEAA5421B4}" type="slidenum">
              <a:rPr lang="fr-FR" smtClean="0"/>
              <a:t>‹N°›</a:t>
            </a:fld>
            <a:endParaRPr lang="fr-FR"/>
          </a:p>
        </p:txBody>
      </p:sp>
    </p:spTree>
    <p:extLst>
      <p:ext uri="{BB962C8B-B14F-4D97-AF65-F5344CB8AC3E}">
        <p14:creationId xmlns:p14="http://schemas.microsoft.com/office/powerpoint/2010/main" val="2253648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005936-6A3A-4300-ACFE-EEDFBC97087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868909AB-093A-4BCB-9825-82200B0AD5C6}"/>
              </a:ext>
            </a:extLst>
          </p:cNvPr>
          <p:cNvSpPr>
            <a:spLocks noGrp="1"/>
          </p:cNvSpPr>
          <p:nvPr>
            <p:ph type="dt" sz="half" idx="10"/>
          </p:nvPr>
        </p:nvSpPr>
        <p:spPr/>
        <p:txBody>
          <a:bodyPr/>
          <a:lstStyle/>
          <a:p>
            <a:fld id="{27AE2122-D94C-419B-8AC0-48C98DAE3707}" type="datetime1">
              <a:rPr lang="fr-FR" smtClean="0"/>
              <a:t>28/04/2023</a:t>
            </a:fld>
            <a:endParaRPr lang="fr-FR"/>
          </a:p>
        </p:txBody>
      </p:sp>
      <p:sp>
        <p:nvSpPr>
          <p:cNvPr id="4" name="Espace réservé du pied de page 3">
            <a:extLst>
              <a:ext uri="{FF2B5EF4-FFF2-40B4-BE49-F238E27FC236}">
                <a16:creationId xmlns:a16="http://schemas.microsoft.com/office/drawing/2014/main" id="{E1D1FF6E-F117-4151-9947-B6E031BBDA40}"/>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0EFBC609-8C3A-4465-A7A9-2F6436572849}"/>
              </a:ext>
            </a:extLst>
          </p:cNvPr>
          <p:cNvSpPr>
            <a:spLocks noGrp="1"/>
          </p:cNvSpPr>
          <p:nvPr>
            <p:ph type="sldNum" sz="quarter" idx="12"/>
          </p:nvPr>
        </p:nvSpPr>
        <p:spPr/>
        <p:txBody>
          <a:bodyPr/>
          <a:lstStyle/>
          <a:p>
            <a:fld id="{B5C50E92-4701-4803-BF4A-1BCEAA5421B4}" type="slidenum">
              <a:rPr lang="fr-FR" smtClean="0"/>
              <a:t>‹N°›</a:t>
            </a:fld>
            <a:endParaRPr lang="fr-FR"/>
          </a:p>
        </p:txBody>
      </p:sp>
    </p:spTree>
    <p:extLst>
      <p:ext uri="{BB962C8B-B14F-4D97-AF65-F5344CB8AC3E}">
        <p14:creationId xmlns:p14="http://schemas.microsoft.com/office/powerpoint/2010/main" val="2823115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AFA2BCE-5BE9-4F89-9981-DCBA0F851A59}"/>
              </a:ext>
            </a:extLst>
          </p:cNvPr>
          <p:cNvSpPr>
            <a:spLocks noGrp="1"/>
          </p:cNvSpPr>
          <p:nvPr>
            <p:ph type="dt" sz="half" idx="10"/>
          </p:nvPr>
        </p:nvSpPr>
        <p:spPr/>
        <p:txBody>
          <a:bodyPr/>
          <a:lstStyle/>
          <a:p>
            <a:fld id="{0FADC048-C528-4723-899C-F8862751532C}" type="datetime1">
              <a:rPr lang="fr-FR" smtClean="0"/>
              <a:t>28/04/2023</a:t>
            </a:fld>
            <a:endParaRPr lang="fr-FR"/>
          </a:p>
        </p:txBody>
      </p:sp>
      <p:sp>
        <p:nvSpPr>
          <p:cNvPr id="3" name="Espace réservé du pied de page 2">
            <a:extLst>
              <a:ext uri="{FF2B5EF4-FFF2-40B4-BE49-F238E27FC236}">
                <a16:creationId xmlns:a16="http://schemas.microsoft.com/office/drawing/2014/main" id="{F3398552-706C-48C2-9C3B-288B6BF46729}"/>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AC78B2F-BF9F-4817-A1EC-58AACDA03E76}"/>
              </a:ext>
            </a:extLst>
          </p:cNvPr>
          <p:cNvSpPr>
            <a:spLocks noGrp="1"/>
          </p:cNvSpPr>
          <p:nvPr>
            <p:ph type="sldNum" sz="quarter" idx="12"/>
          </p:nvPr>
        </p:nvSpPr>
        <p:spPr/>
        <p:txBody>
          <a:bodyPr/>
          <a:lstStyle/>
          <a:p>
            <a:fld id="{B5C50E92-4701-4803-BF4A-1BCEAA5421B4}" type="slidenum">
              <a:rPr lang="fr-FR" smtClean="0"/>
              <a:t>‹N°›</a:t>
            </a:fld>
            <a:endParaRPr lang="fr-FR"/>
          </a:p>
        </p:txBody>
      </p:sp>
    </p:spTree>
    <p:extLst>
      <p:ext uri="{BB962C8B-B14F-4D97-AF65-F5344CB8AC3E}">
        <p14:creationId xmlns:p14="http://schemas.microsoft.com/office/powerpoint/2010/main" val="2397826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CCA24E-0E39-467C-916D-53B9FDD46F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130F977B-0F1A-481B-BD1B-6D44FDC996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96AB8AC9-5CC7-4EFC-AC0B-049F6B5313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861F640-386A-443B-9708-A314D79A4A95}"/>
              </a:ext>
            </a:extLst>
          </p:cNvPr>
          <p:cNvSpPr>
            <a:spLocks noGrp="1"/>
          </p:cNvSpPr>
          <p:nvPr>
            <p:ph type="dt" sz="half" idx="10"/>
          </p:nvPr>
        </p:nvSpPr>
        <p:spPr/>
        <p:txBody>
          <a:bodyPr/>
          <a:lstStyle/>
          <a:p>
            <a:fld id="{7BFDB301-81F5-4238-9A43-07B17721BF85}" type="datetime1">
              <a:rPr lang="fr-FR" smtClean="0"/>
              <a:t>28/04/2023</a:t>
            </a:fld>
            <a:endParaRPr lang="fr-FR"/>
          </a:p>
        </p:txBody>
      </p:sp>
      <p:sp>
        <p:nvSpPr>
          <p:cNvPr id="6" name="Espace réservé du pied de page 5">
            <a:extLst>
              <a:ext uri="{FF2B5EF4-FFF2-40B4-BE49-F238E27FC236}">
                <a16:creationId xmlns:a16="http://schemas.microsoft.com/office/drawing/2014/main" id="{C5003D8C-9F88-4936-9468-91149B2495A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D623694-DF0C-435A-BB75-84F6A1AC4B19}"/>
              </a:ext>
            </a:extLst>
          </p:cNvPr>
          <p:cNvSpPr>
            <a:spLocks noGrp="1"/>
          </p:cNvSpPr>
          <p:nvPr>
            <p:ph type="sldNum" sz="quarter" idx="12"/>
          </p:nvPr>
        </p:nvSpPr>
        <p:spPr/>
        <p:txBody>
          <a:bodyPr/>
          <a:lstStyle/>
          <a:p>
            <a:fld id="{B5C50E92-4701-4803-BF4A-1BCEAA5421B4}" type="slidenum">
              <a:rPr lang="fr-FR" smtClean="0"/>
              <a:t>‹N°›</a:t>
            </a:fld>
            <a:endParaRPr lang="fr-FR"/>
          </a:p>
        </p:txBody>
      </p:sp>
    </p:spTree>
    <p:extLst>
      <p:ext uri="{BB962C8B-B14F-4D97-AF65-F5344CB8AC3E}">
        <p14:creationId xmlns:p14="http://schemas.microsoft.com/office/powerpoint/2010/main" val="2474967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2B3396-1F2B-45BB-9282-0B4FE836536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1B2F398F-574C-4D62-8764-1B26989DC0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CF561EB9-22A7-4F64-9F59-5384144525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4A1BBA3-F8C2-47EF-9602-1859C8BD43FB}"/>
              </a:ext>
            </a:extLst>
          </p:cNvPr>
          <p:cNvSpPr>
            <a:spLocks noGrp="1"/>
          </p:cNvSpPr>
          <p:nvPr>
            <p:ph type="dt" sz="half" idx="10"/>
          </p:nvPr>
        </p:nvSpPr>
        <p:spPr/>
        <p:txBody>
          <a:bodyPr/>
          <a:lstStyle/>
          <a:p>
            <a:fld id="{C7D57BB0-3357-4204-92CF-43C04F4FFA1E}" type="datetime1">
              <a:rPr lang="fr-FR" smtClean="0"/>
              <a:t>28/04/2023</a:t>
            </a:fld>
            <a:endParaRPr lang="fr-FR"/>
          </a:p>
        </p:txBody>
      </p:sp>
      <p:sp>
        <p:nvSpPr>
          <p:cNvPr id="6" name="Espace réservé du pied de page 5">
            <a:extLst>
              <a:ext uri="{FF2B5EF4-FFF2-40B4-BE49-F238E27FC236}">
                <a16:creationId xmlns:a16="http://schemas.microsoft.com/office/drawing/2014/main" id="{B7C8D5AD-91DD-4E1F-A09C-68524B54511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98CCBFB-DDBE-4AC6-A4D7-8CCAC312B95B}"/>
              </a:ext>
            </a:extLst>
          </p:cNvPr>
          <p:cNvSpPr>
            <a:spLocks noGrp="1"/>
          </p:cNvSpPr>
          <p:nvPr>
            <p:ph type="sldNum" sz="quarter" idx="12"/>
          </p:nvPr>
        </p:nvSpPr>
        <p:spPr/>
        <p:txBody>
          <a:bodyPr/>
          <a:lstStyle/>
          <a:p>
            <a:fld id="{B5C50E92-4701-4803-BF4A-1BCEAA5421B4}" type="slidenum">
              <a:rPr lang="fr-FR" smtClean="0"/>
              <a:t>‹N°›</a:t>
            </a:fld>
            <a:endParaRPr lang="fr-FR"/>
          </a:p>
        </p:txBody>
      </p:sp>
    </p:spTree>
    <p:extLst>
      <p:ext uri="{BB962C8B-B14F-4D97-AF65-F5344CB8AC3E}">
        <p14:creationId xmlns:p14="http://schemas.microsoft.com/office/powerpoint/2010/main" val="1936618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6DEBE9-5F4A-4E6C-82C1-1C8B596EBE6F}"/>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9EA56B5-35C9-4DC0-8FA1-CA2D97A5E0B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7B836D0-8478-4982-98F6-A6F7CE0FB980}"/>
              </a:ext>
            </a:extLst>
          </p:cNvPr>
          <p:cNvSpPr>
            <a:spLocks noGrp="1"/>
          </p:cNvSpPr>
          <p:nvPr>
            <p:ph type="dt" sz="half" idx="10"/>
          </p:nvPr>
        </p:nvSpPr>
        <p:spPr/>
        <p:txBody>
          <a:bodyPr/>
          <a:lstStyle/>
          <a:p>
            <a:fld id="{D50FAB57-D298-4856-B02B-0F4A6F0F600A}" type="datetime1">
              <a:rPr lang="fr-FR" smtClean="0"/>
              <a:t>28/04/2023</a:t>
            </a:fld>
            <a:endParaRPr lang="fr-FR"/>
          </a:p>
        </p:txBody>
      </p:sp>
      <p:sp>
        <p:nvSpPr>
          <p:cNvPr id="5" name="Espace réservé du pied de page 4">
            <a:extLst>
              <a:ext uri="{FF2B5EF4-FFF2-40B4-BE49-F238E27FC236}">
                <a16:creationId xmlns:a16="http://schemas.microsoft.com/office/drawing/2014/main" id="{970965E9-FCB0-4F5B-897D-EC9F06E9D6A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F546CC1-9BDA-4375-9ED5-7702CA10FB48}"/>
              </a:ext>
            </a:extLst>
          </p:cNvPr>
          <p:cNvSpPr>
            <a:spLocks noGrp="1"/>
          </p:cNvSpPr>
          <p:nvPr>
            <p:ph type="sldNum" sz="quarter" idx="12"/>
          </p:nvPr>
        </p:nvSpPr>
        <p:spPr/>
        <p:txBody>
          <a:bodyPr/>
          <a:lstStyle/>
          <a:p>
            <a:fld id="{B5C50E92-4701-4803-BF4A-1BCEAA5421B4}" type="slidenum">
              <a:rPr lang="fr-FR" smtClean="0"/>
              <a:t>‹N°›</a:t>
            </a:fld>
            <a:endParaRPr lang="fr-FR"/>
          </a:p>
        </p:txBody>
      </p:sp>
    </p:spTree>
    <p:extLst>
      <p:ext uri="{BB962C8B-B14F-4D97-AF65-F5344CB8AC3E}">
        <p14:creationId xmlns:p14="http://schemas.microsoft.com/office/powerpoint/2010/main" val="47877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DF4DBC5-0857-406F-9B0B-49EE0E31F682}"/>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EB849488-7657-4758-AB53-3F1256341D9E}"/>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595FD13-E122-4E58-9D68-7E93E06BC0AE}"/>
              </a:ext>
            </a:extLst>
          </p:cNvPr>
          <p:cNvSpPr>
            <a:spLocks noGrp="1"/>
          </p:cNvSpPr>
          <p:nvPr>
            <p:ph type="dt" sz="half" idx="10"/>
          </p:nvPr>
        </p:nvSpPr>
        <p:spPr/>
        <p:txBody>
          <a:bodyPr/>
          <a:lstStyle/>
          <a:p>
            <a:fld id="{F2C1997B-FC33-4AAC-B47C-BAF6E4E8D9E7}" type="datetime1">
              <a:rPr lang="fr-FR" smtClean="0"/>
              <a:t>28/04/2023</a:t>
            </a:fld>
            <a:endParaRPr lang="fr-FR"/>
          </a:p>
        </p:txBody>
      </p:sp>
      <p:sp>
        <p:nvSpPr>
          <p:cNvPr id="5" name="Espace réservé du pied de page 4">
            <a:extLst>
              <a:ext uri="{FF2B5EF4-FFF2-40B4-BE49-F238E27FC236}">
                <a16:creationId xmlns:a16="http://schemas.microsoft.com/office/drawing/2014/main" id="{17A1DE80-EC4A-4FC8-B448-4740784752D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ADACE03-8677-4602-9797-9DC1BC5A9D9C}"/>
              </a:ext>
            </a:extLst>
          </p:cNvPr>
          <p:cNvSpPr>
            <a:spLocks noGrp="1"/>
          </p:cNvSpPr>
          <p:nvPr>
            <p:ph type="sldNum" sz="quarter" idx="12"/>
          </p:nvPr>
        </p:nvSpPr>
        <p:spPr/>
        <p:txBody>
          <a:bodyPr/>
          <a:lstStyle/>
          <a:p>
            <a:fld id="{B5C50E92-4701-4803-BF4A-1BCEAA5421B4}" type="slidenum">
              <a:rPr lang="fr-FR" smtClean="0"/>
              <a:t>‹N°›</a:t>
            </a:fld>
            <a:endParaRPr lang="fr-FR"/>
          </a:p>
        </p:txBody>
      </p:sp>
    </p:spTree>
    <p:extLst>
      <p:ext uri="{BB962C8B-B14F-4D97-AF65-F5344CB8AC3E}">
        <p14:creationId xmlns:p14="http://schemas.microsoft.com/office/powerpoint/2010/main" val="1101919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791F028-C547-4C15-94D4-F4111DCFEC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69FA9BE-FB49-4241-BAA1-3B6716B0B7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CA40CB4-D352-442A-9B62-8BF3647B83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27D251-361F-4C2E-81DA-2E7DDCD8F7D5}" type="datetime1">
              <a:rPr lang="fr-FR" smtClean="0"/>
              <a:t>28/04/2023</a:t>
            </a:fld>
            <a:endParaRPr lang="fr-FR"/>
          </a:p>
        </p:txBody>
      </p:sp>
      <p:sp>
        <p:nvSpPr>
          <p:cNvPr id="5" name="Espace réservé du pied de page 4">
            <a:extLst>
              <a:ext uri="{FF2B5EF4-FFF2-40B4-BE49-F238E27FC236}">
                <a16:creationId xmlns:a16="http://schemas.microsoft.com/office/drawing/2014/main" id="{A6ADD21E-12B4-4E60-A942-4339717CBF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38BEF094-F7FD-48CB-8D1D-5C0AFA2C39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C50E92-4701-4803-BF4A-1BCEAA5421B4}" type="slidenum">
              <a:rPr lang="fr-FR" smtClean="0"/>
              <a:t>‹N°›</a:t>
            </a:fld>
            <a:endParaRPr lang="fr-FR"/>
          </a:p>
        </p:txBody>
      </p:sp>
    </p:spTree>
    <p:extLst>
      <p:ext uri="{BB962C8B-B14F-4D97-AF65-F5344CB8AC3E}">
        <p14:creationId xmlns:p14="http://schemas.microsoft.com/office/powerpoint/2010/main" val="188073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7081284"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Titre 1">
            <a:extLst>
              <a:ext uri="{FF2B5EF4-FFF2-40B4-BE49-F238E27FC236}">
                <a16:creationId xmlns:a16="http://schemas.microsoft.com/office/drawing/2014/main" id="{32D7DE57-EA08-41D9-972C-F0579F99CBA5}"/>
              </a:ext>
            </a:extLst>
          </p:cNvPr>
          <p:cNvSpPr txBox="1">
            <a:spLocks/>
          </p:cNvSpPr>
          <p:nvPr/>
        </p:nvSpPr>
        <p:spPr>
          <a:xfrm>
            <a:off x="453311" y="215703"/>
            <a:ext cx="5745470" cy="238760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dirty="0"/>
              <a:t>introduction au SEO</a:t>
            </a:r>
          </a:p>
        </p:txBody>
      </p:sp>
      <p:sp>
        <p:nvSpPr>
          <p:cNvPr id="9" name="Espace réservé de la date 3">
            <a:extLst>
              <a:ext uri="{FF2B5EF4-FFF2-40B4-BE49-F238E27FC236}">
                <a16:creationId xmlns:a16="http://schemas.microsoft.com/office/drawing/2014/main" id="{C6E2C8AC-AFB2-4A02-A569-68D2D194B9DD}"/>
              </a:ext>
            </a:extLst>
          </p:cNvPr>
          <p:cNvSpPr txBox="1">
            <a:spLocks/>
          </p:cNvSpPr>
          <p:nvPr/>
        </p:nvSpPr>
        <p:spPr>
          <a:xfrm>
            <a:off x="274502" y="6356350"/>
            <a:ext cx="2743200" cy="365125"/>
          </a:xfrm>
          <a:prstGeom prst="rect">
            <a:avLst/>
          </a:prstGeom>
        </p:spPr>
        <p:txBody>
          <a:bodyPr/>
          <a:lstStyle>
            <a:defPPr>
              <a:defRPr lang="fr-FR"/>
            </a:defPPr>
            <a:lvl1pPr marL="0" algn="l" defTabSz="914400" rtl="0" eaLnBrk="1" latinLnBrk="0" hangingPunct="1">
              <a:defRPr sz="1600" kern="1200">
                <a:solidFill>
                  <a:schemeClr val="tx2">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200" dirty="0">
                <a:latin typeface="Silka" panose="00000500000000000000" pitchFamily="50" charset="0"/>
              </a:rPr>
              <a:t>FS Consulting </a:t>
            </a:r>
          </a:p>
        </p:txBody>
      </p:sp>
      <p:sp>
        <p:nvSpPr>
          <p:cNvPr id="10" name="Espace réservé du numéro de diapositive 5">
            <a:extLst>
              <a:ext uri="{FF2B5EF4-FFF2-40B4-BE49-F238E27FC236}">
                <a16:creationId xmlns:a16="http://schemas.microsoft.com/office/drawing/2014/main" id="{C8DA517E-F120-4AA3-8829-AE4F48BF9D63}"/>
              </a:ext>
            </a:extLst>
          </p:cNvPr>
          <p:cNvSpPr txBox="1">
            <a:spLocks/>
          </p:cNvSpPr>
          <p:nvPr/>
        </p:nvSpPr>
        <p:spPr>
          <a:xfrm>
            <a:off x="10374903" y="6356350"/>
            <a:ext cx="1817097" cy="365125"/>
          </a:xfrm>
          <a:prstGeom prst="rect">
            <a:avLst/>
          </a:prstGeom>
        </p:spPr>
        <p:txBody>
          <a:bodyPr/>
          <a:lstStyle>
            <a:defPPr>
              <a:defRPr lang="fr-FR"/>
            </a:defPPr>
            <a:lvl1pPr marL="0" algn="l" defTabSz="914400" rtl="0" eaLnBrk="1" latinLnBrk="0" hangingPunct="1">
              <a:defRPr sz="18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200" dirty="0">
                <a:latin typeface="Silka" panose="00000500000000000000" pitchFamily="50" charset="0"/>
              </a:rPr>
              <a:t>Rocket </a:t>
            </a:r>
            <a:r>
              <a:rPr lang="fr-FR" sz="1200" dirty="0" err="1">
                <a:latin typeface="Silka" panose="00000500000000000000" pitchFamily="50" charset="0"/>
              </a:rPr>
              <a:t>School</a:t>
            </a:r>
            <a:r>
              <a:rPr lang="fr-FR" sz="1200" dirty="0">
                <a:latin typeface="Silka" panose="00000500000000000000" pitchFamily="50" charset="0"/>
              </a:rPr>
              <a:t> Paris</a:t>
            </a:r>
          </a:p>
        </p:txBody>
      </p:sp>
      <p:sp>
        <p:nvSpPr>
          <p:cNvPr id="11" name="Titre 1">
            <a:extLst>
              <a:ext uri="{FF2B5EF4-FFF2-40B4-BE49-F238E27FC236}">
                <a16:creationId xmlns:a16="http://schemas.microsoft.com/office/drawing/2014/main" id="{90A8216A-4EFD-4310-822D-2D52E24AE1B7}"/>
              </a:ext>
            </a:extLst>
          </p:cNvPr>
          <p:cNvSpPr txBox="1">
            <a:spLocks/>
          </p:cNvSpPr>
          <p:nvPr/>
        </p:nvSpPr>
        <p:spPr>
          <a:xfrm>
            <a:off x="144967" y="4391209"/>
            <a:ext cx="68512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Chapitre 1 : concepts clés</a:t>
            </a:r>
          </a:p>
        </p:txBody>
      </p:sp>
      <p:pic>
        <p:nvPicPr>
          <p:cNvPr id="12" name="Picture 2" descr="École de Marketing, Customer Success et Vente nouvelle génération | Rocket  School">
            <a:extLst>
              <a:ext uri="{FF2B5EF4-FFF2-40B4-BE49-F238E27FC236}">
                <a16:creationId xmlns:a16="http://schemas.microsoft.com/office/drawing/2014/main" id="{4FC9F2F4-AB66-4486-A0A4-4E524E89B4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91458" y="554440"/>
            <a:ext cx="2804774" cy="987280"/>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 12">
            <a:extLst>
              <a:ext uri="{FF2B5EF4-FFF2-40B4-BE49-F238E27FC236}">
                <a16:creationId xmlns:a16="http://schemas.microsoft.com/office/drawing/2014/main" id="{9060305A-CB28-4182-807A-8A1B30341D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39766" y="4586709"/>
            <a:ext cx="2456466" cy="1532190"/>
          </a:xfrm>
          <a:prstGeom prst="rect">
            <a:avLst/>
          </a:prstGeom>
        </p:spPr>
      </p:pic>
    </p:spTree>
    <p:extLst>
      <p:ext uri="{BB962C8B-B14F-4D97-AF65-F5344CB8AC3E}">
        <p14:creationId xmlns:p14="http://schemas.microsoft.com/office/powerpoint/2010/main" val="1186208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e 8">
            <a:extLst>
              <a:ext uri="{FF2B5EF4-FFF2-40B4-BE49-F238E27FC236}">
                <a16:creationId xmlns:a16="http://schemas.microsoft.com/office/drawing/2014/main" id="{FAD4A629-24B4-4FAE-8DCC-C22E2FA5A730}"/>
              </a:ext>
            </a:extLst>
          </p:cNvPr>
          <p:cNvGrpSpPr/>
          <p:nvPr/>
        </p:nvGrpSpPr>
        <p:grpSpPr>
          <a:xfrm>
            <a:off x="435936" y="-779130"/>
            <a:ext cx="6298362" cy="2571601"/>
            <a:chOff x="574159" y="-896088"/>
            <a:chExt cx="6298362" cy="2571601"/>
          </a:xfrm>
        </p:grpSpPr>
        <p:sp>
          <p:nvSpPr>
            <p:cNvPr id="8" name="Rectangle 7">
              <a:extLst>
                <a:ext uri="{FF2B5EF4-FFF2-40B4-BE49-F238E27FC236}">
                  <a16:creationId xmlns:a16="http://schemas.microsoft.com/office/drawing/2014/main" id="{F306CA3A-DB2C-4EDF-B180-243A6EE2F29E}"/>
                </a:ext>
              </a:extLst>
            </p:cNvPr>
            <p:cNvSpPr/>
            <p:nvPr/>
          </p:nvSpPr>
          <p:spPr>
            <a:xfrm>
              <a:off x="1265274" y="622890"/>
              <a:ext cx="1743738" cy="105262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B9E21E66-B7B9-43E6-940B-B05A5E1A18D2}"/>
                </a:ext>
              </a:extLst>
            </p:cNvPr>
            <p:cNvSpPr/>
            <p:nvPr/>
          </p:nvSpPr>
          <p:spPr>
            <a:xfrm>
              <a:off x="574159" y="297712"/>
              <a:ext cx="1743739" cy="97051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Titre 1">
              <a:extLst>
                <a:ext uri="{FF2B5EF4-FFF2-40B4-BE49-F238E27FC236}">
                  <a16:creationId xmlns:a16="http://schemas.microsoft.com/office/drawing/2014/main" id="{004A79D6-2688-4942-8432-E3877276557A}"/>
                </a:ext>
              </a:extLst>
            </p:cNvPr>
            <p:cNvSpPr txBox="1">
              <a:spLocks/>
            </p:cNvSpPr>
            <p:nvPr/>
          </p:nvSpPr>
          <p:spPr>
            <a:xfrm>
              <a:off x="1127051" y="-896088"/>
              <a:ext cx="5745470" cy="238760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dirty="0"/>
                <a:t>introduction</a:t>
              </a:r>
            </a:p>
          </p:txBody>
        </p:sp>
      </p:grpSp>
      <p:sp>
        <p:nvSpPr>
          <p:cNvPr id="10" name="Rectangle 9">
            <a:extLst>
              <a:ext uri="{FF2B5EF4-FFF2-40B4-BE49-F238E27FC236}">
                <a16:creationId xmlns:a16="http://schemas.microsoft.com/office/drawing/2014/main" id="{96D4A525-D06E-466C-A461-E6AD904F2888}"/>
              </a:ext>
            </a:extLst>
          </p:cNvPr>
          <p:cNvSpPr/>
          <p:nvPr/>
        </p:nvSpPr>
        <p:spPr>
          <a:xfrm>
            <a:off x="6096000" y="0"/>
            <a:ext cx="6096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1">
            <a:extLst>
              <a:ext uri="{FF2B5EF4-FFF2-40B4-BE49-F238E27FC236}">
                <a16:creationId xmlns:a16="http://schemas.microsoft.com/office/drawing/2014/main" id="{0350F4BF-EDE9-4DC7-8ADC-D6AB7BA341EC}"/>
              </a:ext>
            </a:extLst>
          </p:cNvPr>
          <p:cNvSpPr txBox="1">
            <a:spLocks/>
          </p:cNvSpPr>
          <p:nvPr/>
        </p:nvSpPr>
        <p:spPr>
          <a:xfrm>
            <a:off x="6492949" y="3705086"/>
            <a:ext cx="5699051"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857250" indent="-857250">
              <a:buFont typeface="Arial" panose="020B0604020202020204" pitchFamily="34" charset="0"/>
              <a:buChar char="•"/>
            </a:pPr>
            <a:r>
              <a:rPr lang="fr-FR" sz="4000" dirty="0">
                <a:solidFill>
                  <a:schemeClr val="tx1">
                    <a:lumMod val="85000"/>
                    <a:lumOff val="15000"/>
                  </a:schemeClr>
                </a:solidFill>
                <a:latin typeface="Bebas Neue" panose="020B0606020202050201" pitchFamily="34" charset="0"/>
              </a:rPr>
              <a:t>Qui suis-je ? </a:t>
            </a:r>
          </a:p>
          <a:p>
            <a:pPr marL="857250" indent="-857250">
              <a:buFont typeface="Arial" panose="020B0604020202020204" pitchFamily="34" charset="0"/>
              <a:buChar char="•"/>
            </a:pPr>
            <a:r>
              <a:rPr lang="fr-FR" sz="4000" dirty="0">
                <a:solidFill>
                  <a:schemeClr val="tx1">
                    <a:lumMod val="85000"/>
                    <a:lumOff val="15000"/>
                  </a:schemeClr>
                </a:solidFill>
                <a:latin typeface="Bebas Neue" panose="020B0606020202050201" pitchFamily="34" charset="0"/>
              </a:rPr>
              <a:t>Déroulement du workshop</a:t>
            </a:r>
          </a:p>
          <a:p>
            <a:pPr marL="857250" indent="-857250">
              <a:buFont typeface="Arial" panose="020B0604020202020204" pitchFamily="34" charset="0"/>
              <a:buChar char="•"/>
            </a:pPr>
            <a:r>
              <a:rPr lang="fr-FR" sz="4000" dirty="0">
                <a:solidFill>
                  <a:schemeClr val="tx1">
                    <a:lumMod val="85000"/>
                    <a:lumOff val="15000"/>
                  </a:schemeClr>
                </a:solidFill>
                <a:latin typeface="Bebas Neue" panose="020B0606020202050201" pitchFamily="34" charset="0"/>
              </a:rPr>
              <a:t>CONTEXTE du cours</a:t>
            </a:r>
          </a:p>
        </p:txBody>
      </p:sp>
      <p:pic>
        <p:nvPicPr>
          <p:cNvPr id="12" name="Image 11">
            <a:extLst>
              <a:ext uri="{FF2B5EF4-FFF2-40B4-BE49-F238E27FC236}">
                <a16:creationId xmlns:a16="http://schemas.microsoft.com/office/drawing/2014/main" id="{07D6A0A9-CCFC-4FDD-83F1-6600DA04DD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828" y="3129514"/>
            <a:ext cx="3540642" cy="2208431"/>
          </a:xfrm>
          <a:prstGeom prst="rect">
            <a:avLst/>
          </a:prstGeom>
        </p:spPr>
      </p:pic>
      <p:sp>
        <p:nvSpPr>
          <p:cNvPr id="15" name="Espace réservé du numéro de diapositive 14">
            <a:extLst>
              <a:ext uri="{FF2B5EF4-FFF2-40B4-BE49-F238E27FC236}">
                <a16:creationId xmlns:a16="http://schemas.microsoft.com/office/drawing/2014/main" id="{C00E0682-CBB5-42C2-9457-021A05C14F1F}"/>
              </a:ext>
            </a:extLst>
          </p:cNvPr>
          <p:cNvSpPr>
            <a:spLocks noGrp="1"/>
          </p:cNvSpPr>
          <p:nvPr>
            <p:ph type="sldNum" sz="quarter" idx="12"/>
          </p:nvPr>
        </p:nvSpPr>
        <p:spPr/>
        <p:txBody>
          <a:bodyPr/>
          <a:lstStyle/>
          <a:p>
            <a:fld id="{B5C50E92-4701-4803-BF4A-1BCEAA5421B4}" type="slidenum">
              <a:rPr lang="fr-FR" smtClean="0"/>
              <a:t>2</a:t>
            </a:fld>
            <a:endParaRPr lang="fr-FR"/>
          </a:p>
        </p:txBody>
      </p:sp>
    </p:spTree>
    <p:extLst>
      <p:ext uri="{BB962C8B-B14F-4D97-AF65-F5344CB8AC3E}">
        <p14:creationId xmlns:p14="http://schemas.microsoft.com/office/powerpoint/2010/main" val="3872150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e 8">
            <a:extLst>
              <a:ext uri="{FF2B5EF4-FFF2-40B4-BE49-F238E27FC236}">
                <a16:creationId xmlns:a16="http://schemas.microsoft.com/office/drawing/2014/main" id="{FAD4A629-24B4-4FAE-8DCC-C22E2FA5A730}"/>
              </a:ext>
            </a:extLst>
          </p:cNvPr>
          <p:cNvGrpSpPr/>
          <p:nvPr/>
        </p:nvGrpSpPr>
        <p:grpSpPr>
          <a:xfrm>
            <a:off x="435936" y="-779130"/>
            <a:ext cx="6298362" cy="2571601"/>
            <a:chOff x="574159" y="-896088"/>
            <a:chExt cx="6298362" cy="2571601"/>
          </a:xfrm>
        </p:grpSpPr>
        <p:sp>
          <p:nvSpPr>
            <p:cNvPr id="8" name="Rectangle 7">
              <a:extLst>
                <a:ext uri="{FF2B5EF4-FFF2-40B4-BE49-F238E27FC236}">
                  <a16:creationId xmlns:a16="http://schemas.microsoft.com/office/drawing/2014/main" id="{F306CA3A-DB2C-4EDF-B180-243A6EE2F29E}"/>
                </a:ext>
              </a:extLst>
            </p:cNvPr>
            <p:cNvSpPr/>
            <p:nvPr/>
          </p:nvSpPr>
          <p:spPr>
            <a:xfrm>
              <a:off x="1265274" y="622890"/>
              <a:ext cx="1743738" cy="105262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B9E21E66-B7B9-43E6-940B-B05A5E1A18D2}"/>
                </a:ext>
              </a:extLst>
            </p:cNvPr>
            <p:cNvSpPr/>
            <p:nvPr/>
          </p:nvSpPr>
          <p:spPr>
            <a:xfrm>
              <a:off x="574159" y="297712"/>
              <a:ext cx="1743739" cy="97051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Titre 1">
              <a:extLst>
                <a:ext uri="{FF2B5EF4-FFF2-40B4-BE49-F238E27FC236}">
                  <a16:creationId xmlns:a16="http://schemas.microsoft.com/office/drawing/2014/main" id="{004A79D6-2688-4942-8432-E3877276557A}"/>
                </a:ext>
              </a:extLst>
            </p:cNvPr>
            <p:cNvSpPr txBox="1">
              <a:spLocks/>
            </p:cNvSpPr>
            <p:nvPr/>
          </p:nvSpPr>
          <p:spPr>
            <a:xfrm>
              <a:off x="1127051" y="-896088"/>
              <a:ext cx="5745470" cy="238760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dirty="0"/>
                <a:t>programme</a:t>
              </a:r>
            </a:p>
          </p:txBody>
        </p:sp>
      </p:grpSp>
      <p:sp>
        <p:nvSpPr>
          <p:cNvPr id="10" name="Rectangle 9">
            <a:extLst>
              <a:ext uri="{FF2B5EF4-FFF2-40B4-BE49-F238E27FC236}">
                <a16:creationId xmlns:a16="http://schemas.microsoft.com/office/drawing/2014/main" id="{96D4A525-D06E-466C-A461-E6AD904F2888}"/>
              </a:ext>
            </a:extLst>
          </p:cNvPr>
          <p:cNvSpPr/>
          <p:nvPr/>
        </p:nvSpPr>
        <p:spPr>
          <a:xfrm>
            <a:off x="332882" y="1933648"/>
            <a:ext cx="10480892" cy="38365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1">
            <a:extLst>
              <a:ext uri="{FF2B5EF4-FFF2-40B4-BE49-F238E27FC236}">
                <a16:creationId xmlns:a16="http://schemas.microsoft.com/office/drawing/2014/main" id="{0350F4BF-EDE9-4DC7-8ADC-D6AB7BA341EC}"/>
              </a:ext>
            </a:extLst>
          </p:cNvPr>
          <p:cNvSpPr txBox="1">
            <a:spLocks/>
          </p:cNvSpPr>
          <p:nvPr/>
        </p:nvSpPr>
        <p:spPr>
          <a:xfrm>
            <a:off x="624121" y="3429000"/>
            <a:ext cx="9633061"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857250" indent="-857250">
              <a:buFont typeface="Arial" panose="020B0604020202020204" pitchFamily="34" charset="0"/>
              <a:buChar char="•"/>
            </a:pPr>
            <a:r>
              <a:rPr lang="fr-FR" sz="3600" dirty="0">
                <a:solidFill>
                  <a:schemeClr val="tx1">
                    <a:lumMod val="85000"/>
                    <a:lumOff val="15000"/>
                  </a:schemeClr>
                </a:solidFill>
                <a:latin typeface="Bebas Neue" panose="020B0606020202050201" pitchFamily="34" charset="0"/>
              </a:rPr>
              <a:t>JOUR 1 : HISTORIQUE, fonctionnement, SEO ON PAGE</a:t>
            </a:r>
          </a:p>
          <a:p>
            <a:pPr marL="857250" indent="-857250">
              <a:buFont typeface="Arial" panose="020B0604020202020204" pitchFamily="34" charset="0"/>
              <a:buChar char="•"/>
            </a:pPr>
            <a:endParaRPr lang="fr-FR" sz="3600" dirty="0">
              <a:solidFill>
                <a:schemeClr val="tx1">
                  <a:lumMod val="85000"/>
                  <a:lumOff val="15000"/>
                </a:schemeClr>
              </a:solidFill>
              <a:latin typeface="Bebas Neue" panose="020B0606020202050201" pitchFamily="34" charset="0"/>
            </a:endParaRPr>
          </a:p>
          <a:p>
            <a:pPr marL="857250" indent="-857250">
              <a:buFont typeface="Arial" panose="020B0604020202020204" pitchFamily="34" charset="0"/>
              <a:buChar char="•"/>
            </a:pPr>
            <a:r>
              <a:rPr lang="fr-FR" sz="3600" dirty="0">
                <a:solidFill>
                  <a:schemeClr val="tx1">
                    <a:lumMod val="85000"/>
                    <a:lumOff val="15000"/>
                  </a:schemeClr>
                </a:solidFill>
                <a:latin typeface="Bebas Neue" panose="020B0606020202050201" pitchFamily="34" charset="0"/>
              </a:rPr>
              <a:t>jour 2 : netlinking, analyse de la concurrence, outils</a:t>
            </a:r>
          </a:p>
          <a:p>
            <a:pPr marL="857250" indent="-857250">
              <a:buFont typeface="Arial" panose="020B0604020202020204" pitchFamily="34" charset="0"/>
              <a:buChar char="•"/>
            </a:pPr>
            <a:endParaRPr lang="fr-FR" sz="3600" dirty="0">
              <a:solidFill>
                <a:schemeClr val="tx1">
                  <a:lumMod val="85000"/>
                  <a:lumOff val="15000"/>
                </a:schemeClr>
              </a:solidFill>
              <a:latin typeface="Bebas Neue" panose="020B0606020202050201" pitchFamily="34" charset="0"/>
            </a:endParaRPr>
          </a:p>
          <a:p>
            <a:pPr marL="857250" indent="-857250">
              <a:buFont typeface="Arial" panose="020B0604020202020204" pitchFamily="34" charset="0"/>
              <a:buChar char="•"/>
            </a:pPr>
            <a:r>
              <a:rPr lang="fr-FR" sz="3600" dirty="0">
                <a:solidFill>
                  <a:schemeClr val="tx1">
                    <a:lumMod val="85000"/>
                    <a:lumOff val="15000"/>
                  </a:schemeClr>
                </a:solidFill>
                <a:latin typeface="Bebas Neue" panose="020B0606020202050201" pitchFamily="34" charset="0"/>
              </a:rPr>
              <a:t>JOUR 3 : TECHNICAL SEO,  données structurées, OUTILS D’analyse et de suivi </a:t>
            </a:r>
          </a:p>
        </p:txBody>
      </p:sp>
      <p:sp>
        <p:nvSpPr>
          <p:cNvPr id="15" name="Espace réservé du numéro de diapositive 14">
            <a:extLst>
              <a:ext uri="{FF2B5EF4-FFF2-40B4-BE49-F238E27FC236}">
                <a16:creationId xmlns:a16="http://schemas.microsoft.com/office/drawing/2014/main" id="{C00E0682-CBB5-42C2-9457-021A05C14F1F}"/>
              </a:ext>
            </a:extLst>
          </p:cNvPr>
          <p:cNvSpPr>
            <a:spLocks noGrp="1"/>
          </p:cNvSpPr>
          <p:nvPr>
            <p:ph type="sldNum" sz="quarter" idx="12"/>
          </p:nvPr>
        </p:nvSpPr>
        <p:spPr/>
        <p:txBody>
          <a:bodyPr/>
          <a:lstStyle/>
          <a:p>
            <a:fld id="{B5C50E92-4701-4803-BF4A-1BCEAA5421B4}" type="slidenum">
              <a:rPr lang="fr-FR" smtClean="0"/>
              <a:t>3</a:t>
            </a:fld>
            <a:endParaRPr lang="fr-FR"/>
          </a:p>
        </p:txBody>
      </p:sp>
    </p:spTree>
    <p:extLst>
      <p:ext uri="{BB962C8B-B14F-4D97-AF65-F5344CB8AC3E}">
        <p14:creationId xmlns:p14="http://schemas.microsoft.com/office/powerpoint/2010/main" val="4019106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4C7E7"/>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106B6CA-5254-89E0-B114-FA610238918F}"/>
              </a:ext>
            </a:extLst>
          </p:cNvPr>
          <p:cNvSpPr/>
          <p:nvPr/>
        </p:nvSpPr>
        <p:spPr>
          <a:xfrm rot="1570370">
            <a:off x="-1811919" y="3418621"/>
            <a:ext cx="14913690" cy="195349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 name="Rectangle 3">
            <a:extLst>
              <a:ext uri="{FF2B5EF4-FFF2-40B4-BE49-F238E27FC236}">
                <a16:creationId xmlns:a16="http://schemas.microsoft.com/office/drawing/2014/main" id="{0C623EDC-376C-53E4-EEE5-48343529C792}"/>
              </a:ext>
            </a:extLst>
          </p:cNvPr>
          <p:cNvSpPr/>
          <p:nvPr/>
        </p:nvSpPr>
        <p:spPr>
          <a:xfrm rot="5118027">
            <a:off x="-1536757" y="2374162"/>
            <a:ext cx="7394924" cy="195349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itre 1">
            <a:extLst>
              <a:ext uri="{FF2B5EF4-FFF2-40B4-BE49-F238E27FC236}">
                <a16:creationId xmlns:a16="http://schemas.microsoft.com/office/drawing/2014/main" id="{32D7DE57-EA08-41D9-972C-F0579F99CBA5}"/>
              </a:ext>
            </a:extLst>
          </p:cNvPr>
          <p:cNvSpPr txBox="1">
            <a:spLocks/>
          </p:cNvSpPr>
          <p:nvPr/>
        </p:nvSpPr>
        <p:spPr>
          <a:xfrm>
            <a:off x="884307" y="4500765"/>
            <a:ext cx="6351526" cy="1600753"/>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marR="0" lvl="0" indent="-342900" algn="l" defTabSz="914400" rtl="0" eaLnBrk="1" fontAlgn="auto" latinLnBrk="0" hangingPunct="1">
              <a:lnSpc>
                <a:spcPct val="90000"/>
              </a:lnSpc>
              <a:spcBef>
                <a:spcPct val="0"/>
              </a:spcBef>
              <a:spcAft>
                <a:spcPts val="0"/>
              </a:spcAft>
              <a:buClrTx/>
              <a:buSzTx/>
              <a:buFont typeface="Arial" panose="020B0604020202020204" pitchFamily="34" charset="0"/>
              <a:buChar char="•"/>
              <a:tabLst/>
              <a:defRPr/>
            </a:pPr>
            <a:endPar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endParaRPr>
          </a:p>
          <a:p>
            <a:pPr marL="342900" marR="0" lvl="0" indent="-342900" algn="l" defTabSz="914400" rtl="0" eaLnBrk="1" fontAlgn="auto" latinLnBrk="0" hangingPunct="1">
              <a:lnSpc>
                <a:spcPct val="150000"/>
              </a:lnSpc>
              <a:spcBef>
                <a:spcPct val="0"/>
              </a:spcBef>
              <a:spcAft>
                <a:spcPts val="0"/>
              </a:spcAft>
              <a:buClrTx/>
              <a:buSzTx/>
              <a:buFont typeface="Arial" panose="020B0604020202020204" pitchFamily="34" charset="0"/>
              <a:buChar char="•"/>
              <a:tabLst/>
              <a:defRPr/>
            </a:pPr>
            <a:endPar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endParaRPr>
          </a:p>
          <a:p>
            <a:pPr marL="342900" marR="0" lvl="0" indent="-342900" algn="l" defTabSz="914400" rtl="0" eaLnBrk="1" fontAlgn="auto" latinLnBrk="0" hangingPunct="1">
              <a:lnSpc>
                <a:spcPct val="150000"/>
              </a:lnSpc>
              <a:spcBef>
                <a:spcPct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chapitre 01</a:t>
            </a:r>
          </a:p>
          <a:p>
            <a:pPr marL="342900" marR="0" lvl="0" indent="-342900" algn="l" defTabSz="914400" rtl="0" eaLnBrk="1" fontAlgn="auto" latinLnBrk="0" hangingPunct="1">
              <a:lnSpc>
                <a:spcPct val="150000"/>
              </a:lnSpc>
              <a:spcBef>
                <a:spcPct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pause             </a:t>
            </a:r>
          </a:p>
          <a:p>
            <a:pPr marL="342900" marR="0" lvl="0" indent="-342900" algn="l" defTabSz="914400" rtl="0" eaLnBrk="1" fontAlgn="auto" latinLnBrk="0" hangingPunct="1">
              <a:lnSpc>
                <a:spcPct val="150000"/>
              </a:lnSpc>
              <a:spcBef>
                <a:spcPct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chapitre 02</a:t>
            </a:r>
          </a:p>
          <a:p>
            <a:pPr marL="342900" marR="0" lvl="0" indent="-342900" algn="l" defTabSz="914400" rtl="0" eaLnBrk="1" fontAlgn="auto" latinLnBrk="0" hangingPunct="1">
              <a:lnSpc>
                <a:spcPct val="150000"/>
              </a:lnSpc>
              <a:spcBef>
                <a:spcPct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pause</a:t>
            </a:r>
          </a:p>
          <a:p>
            <a:pPr marL="342900" marR="0" lvl="0" indent="-342900" algn="l" defTabSz="914400" rtl="0" eaLnBrk="1" fontAlgn="auto" latinLnBrk="0" hangingPunct="1">
              <a:lnSpc>
                <a:spcPct val="150000"/>
              </a:lnSpc>
              <a:spcBef>
                <a:spcPct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chapitre 03</a:t>
            </a:r>
          </a:p>
          <a:p>
            <a:pPr marL="342900" marR="0" lvl="0" indent="-342900" algn="l" defTabSz="914400" rtl="0" eaLnBrk="1" fontAlgn="auto" latinLnBrk="0" hangingPunct="1">
              <a:lnSpc>
                <a:spcPct val="150000"/>
              </a:lnSpc>
              <a:spcBef>
                <a:spcPct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pause</a:t>
            </a:r>
          </a:p>
          <a:p>
            <a:pPr marL="342900" marR="0" lvl="0" indent="-342900" algn="l" defTabSz="914400" rtl="0" eaLnBrk="1" fontAlgn="auto" latinLnBrk="0" hangingPunct="1">
              <a:lnSpc>
                <a:spcPct val="150000"/>
              </a:lnSpc>
              <a:spcBef>
                <a:spcPct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chapitre 04</a:t>
            </a:r>
          </a:p>
          <a:p>
            <a:pPr marL="342900" marR="0" lvl="0" indent="-342900" algn="l" defTabSz="914400" rtl="0" eaLnBrk="1" fontAlgn="auto" latinLnBrk="0" hangingPunct="1">
              <a:lnSpc>
                <a:spcPct val="150000"/>
              </a:lnSpc>
              <a:spcBef>
                <a:spcPct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pause</a:t>
            </a:r>
          </a:p>
          <a:p>
            <a:pPr marL="342900" marR="0" lvl="0" indent="-342900" algn="l" defTabSz="914400" rtl="0" eaLnBrk="1" fontAlgn="auto" latinLnBrk="0" hangingPunct="1">
              <a:lnSpc>
                <a:spcPct val="150000"/>
              </a:lnSpc>
              <a:spcBef>
                <a:spcPct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chapitre 05</a:t>
            </a:r>
          </a:p>
          <a:p>
            <a:pPr marL="342900" marR="0" lvl="0" indent="-342900" algn="l" defTabSz="914400" rtl="0" eaLnBrk="1" fontAlgn="auto" latinLnBrk="0" hangingPunct="1">
              <a:lnSpc>
                <a:spcPct val="150000"/>
              </a:lnSpc>
              <a:spcBef>
                <a:spcPct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pause</a:t>
            </a:r>
          </a:p>
          <a:p>
            <a:pPr marL="342900" marR="0" lvl="0" indent="-342900" algn="l" defTabSz="914400" rtl="0" eaLnBrk="1" fontAlgn="auto" latinLnBrk="0" hangingPunct="1">
              <a:lnSpc>
                <a:spcPct val="150000"/>
              </a:lnSpc>
              <a:spcBef>
                <a:spcPct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étude de cas </a:t>
            </a:r>
          </a:p>
        </p:txBody>
      </p:sp>
      <p:sp>
        <p:nvSpPr>
          <p:cNvPr id="2" name="Titre 1">
            <a:extLst>
              <a:ext uri="{FF2B5EF4-FFF2-40B4-BE49-F238E27FC236}">
                <a16:creationId xmlns:a16="http://schemas.microsoft.com/office/drawing/2014/main" id="{84F95FDB-D7D5-CAF8-ECF3-D465F3B4D934}"/>
              </a:ext>
            </a:extLst>
          </p:cNvPr>
          <p:cNvSpPr txBox="1">
            <a:spLocks/>
          </p:cNvSpPr>
          <p:nvPr/>
        </p:nvSpPr>
        <p:spPr>
          <a:xfrm>
            <a:off x="3418725" y="4500765"/>
            <a:ext cx="6351526" cy="1600753"/>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0" marR="0" lvl="0" indent="0" algn="l" defTabSz="914400" rtl="0" eaLnBrk="1" fontAlgn="auto" latinLnBrk="0" hangingPunct="1">
              <a:lnSpc>
                <a:spcPct val="150000"/>
              </a:lnSpc>
              <a:spcBef>
                <a:spcPct val="0"/>
              </a:spcBef>
              <a:spcAft>
                <a:spcPts val="0"/>
              </a:spcAft>
              <a:buClrTx/>
              <a:buSzTx/>
              <a:buFontTx/>
              <a:buNone/>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 introduction au SEO - 55mn</a:t>
            </a:r>
          </a:p>
          <a:p>
            <a:pPr marL="0" marR="0" lvl="0" indent="0" algn="l" defTabSz="914400" rtl="0" eaLnBrk="1" fontAlgn="auto" latinLnBrk="0" hangingPunct="1">
              <a:lnSpc>
                <a:spcPct val="150000"/>
              </a:lnSpc>
              <a:spcBef>
                <a:spcPct val="0"/>
              </a:spcBef>
              <a:spcAft>
                <a:spcPts val="0"/>
              </a:spcAft>
              <a:buClrTx/>
              <a:buSzTx/>
              <a:buFontTx/>
              <a:buNone/>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 5mn</a:t>
            </a:r>
          </a:p>
          <a:p>
            <a:pPr marL="0" marR="0" lvl="0" indent="0" algn="l" defTabSz="914400" rtl="0" eaLnBrk="1" fontAlgn="auto" latinLnBrk="0" hangingPunct="1">
              <a:lnSpc>
                <a:spcPct val="150000"/>
              </a:lnSpc>
              <a:spcBef>
                <a:spcPct val="0"/>
              </a:spcBef>
              <a:spcAft>
                <a:spcPts val="0"/>
              </a:spcAft>
              <a:buClrTx/>
              <a:buSzTx/>
              <a:buFontTx/>
              <a:buNone/>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 comprendre les moteurs de recherche – 55mn</a:t>
            </a:r>
          </a:p>
          <a:p>
            <a:pPr marL="0" marR="0" lvl="0" indent="0" algn="l" defTabSz="914400" rtl="0" eaLnBrk="1" fontAlgn="auto" latinLnBrk="0" hangingPunct="1">
              <a:lnSpc>
                <a:spcPct val="150000"/>
              </a:lnSpc>
              <a:spcBef>
                <a:spcPct val="0"/>
              </a:spcBef>
              <a:spcAft>
                <a:spcPts val="0"/>
              </a:spcAft>
              <a:buClrTx/>
              <a:buSzTx/>
              <a:buFontTx/>
              <a:buNone/>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 5mn</a:t>
            </a:r>
          </a:p>
          <a:p>
            <a:pPr marL="0" marR="0" lvl="0" indent="0" algn="l" defTabSz="914400" rtl="0" eaLnBrk="1" fontAlgn="auto" latinLnBrk="0" hangingPunct="1">
              <a:lnSpc>
                <a:spcPct val="150000"/>
              </a:lnSpc>
              <a:spcBef>
                <a:spcPct val="0"/>
              </a:spcBef>
              <a:spcAft>
                <a:spcPts val="0"/>
              </a:spcAft>
              <a:buClrTx/>
              <a:buSzTx/>
              <a:buFontTx/>
              <a:buNone/>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 focus sur Google – 55mn</a:t>
            </a:r>
          </a:p>
          <a:p>
            <a:pPr marL="0" marR="0" lvl="0" indent="0" algn="l" defTabSz="914400" rtl="0" eaLnBrk="1" fontAlgn="auto" latinLnBrk="0" hangingPunct="1">
              <a:lnSpc>
                <a:spcPct val="150000"/>
              </a:lnSpc>
              <a:spcBef>
                <a:spcPct val="0"/>
              </a:spcBef>
              <a:spcAft>
                <a:spcPts val="0"/>
              </a:spcAft>
              <a:buClrTx/>
              <a:buSzTx/>
              <a:buFontTx/>
              <a:buNone/>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 5mn</a:t>
            </a:r>
          </a:p>
          <a:p>
            <a:pPr marL="0" marR="0" lvl="0" indent="0" algn="l" defTabSz="914400" rtl="0" eaLnBrk="1" fontAlgn="auto" latinLnBrk="0" hangingPunct="1">
              <a:lnSpc>
                <a:spcPct val="150000"/>
              </a:lnSpc>
              <a:spcBef>
                <a:spcPct val="0"/>
              </a:spcBef>
              <a:spcAft>
                <a:spcPts val="0"/>
              </a:spcAft>
              <a:buClrTx/>
              <a:buSzTx/>
              <a:buFontTx/>
              <a:buNone/>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 SEO on page – 55mn</a:t>
            </a:r>
          </a:p>
          <a:p>
            <a:pPr marL="0" marR="0" lvl="0" indent="0" algn="l" defTabSz="914400" rtl="0" eaLnBrk="1" fontAlgn="auto" latinLnBrk="0" hangingPunct="1">
              <a:lnSpc>
                <a:spcPct val="150000"/>
              </a:lnSpc>
              <a:spcBef>
                <a:spcPct val="0"/>
              </a:spcBef>
              <a:spcAft>
                <a:spcPts val="0"/>
              </a:spcAft>
              <a:buClrTx/>
              <a:buSzTx/>
              <a:buFontTx/>
              <a:buNone/>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 5mn</a:t>
            </a:r>
          </a:p>
          <a:p>
            <a:pPr marL="0" marR="0" lvl="0" indent="0" algn="l" defTabSz="914400" rtl="0" eaLnBrk="1" fontAlgn="auto" latinLnBrk="0" hangingPunct="1">
              <a:lnSpc>
                <a:spcPct val="150000"/>
              </a:lnSpc>
              <a:spcBef>
                <a:spcPct val="0"/>
              </a:spcBef>
              <a:spcAft>
                <a:spcPts val="0"/>
              </a:spcAft>
              <a:buClrTx/>
              <a:buSzTx/>
              <a:buFontTx/>
              <a:buNone/>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 SEO on page – 55mn</a:t>
            </a:r>
          </a:p>
          <a:p>
            <a:pPr marL="0" marR="0" lvl="0" indent="0" algn="l" defTabSz="914400" rtl="0" eaLnBrk="1" fontAlgn="auto" latinLnBrk="0" hangingPunct="1">
              <a:lnSpc>
                <a:spcPct val="150000"/>
              </a:lnSpc>
              <a:spcBef>
                <a:spcPct val="0"/>
              </a:spcBef>
              <a:spcAft>
                <a:spcPts val="0"/>
              </a:spcAft>
              <a:buClrTx/>
              <a:buSzTx/>
              <a:buFontTx/>
              <a:buNone/>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 5mn</a:t>
            </a:r>
          </a:p>
          <a:p>
            <a:pPr marL="0" marR="0" lvl="0" indent="0" algn="l" defTabSz="914400" rtl="0" eaLnBrk="1" fontAlgn="auto" latinLnBrk="0" hangingPunct="1">
              <a:lnSpc>
                <a:spcPct val="150000"/>
              </a:lnSpc>
              <a:spcBef>
                <a:spcPct val="0"/>
              </a:spcBef>
              <a:spcAft>
                <a:spcPts val="0"/>
              </a:spcAft>
              <a:buClrTx/>
              <a:buSzTx/>
              <a:buFontTx/>
              <a:buNone/>
              <a:tabLst/>
              <a:defRPr/>
            </a:pP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 </a:t>
            </a:r>
            <a:r>
              <a:rPr kumimoji="0" lang="fr-FR" sz="2000" b="0" i="0" u="none" strike="noStrike" kern="1200" cap="none" spc="0" normalizeH="0" baseline="0" noProof="0" dirty="0" err="1">
                <a:ln>
                  <a:noFill/>
                </a:ln>
                <a:solidFill>
                  <a:srgbClr val="303030"/>
                </a:solidFill>
                <a:effectLst/>
                <a:uLnTx/>
                <a:uFillTx/>
                <a:latin typeface="Poppins" panose="00000500000000000000" pitchFamily="2" charset="0"/>
                <a:ea typeface="+mj-ea"/>
                <a:cs typeface="+mj-cs"/>
              </a:rPr>
              <a:t>better</a:t>
            </a:r>
            <a:r>
              <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rPr>
              <a:t> call </a:t>
            </a:r>
            <a:r>
              <a:rPr kumimoji="0" lang="fr-FR" sz="2000" b="0" i="0" u="none" strike="noStrike" kern="1200" cap="none" spc="0" normalizeH="0" baseline="0" noProof="0" dirty="0" err="1">
                <a:ln>
                  <a:noFill/>
                </a:ln>
                <a:solidFill>
                  <a:srgbClr val="303030"/>
                </a:solidFill>
                <a:effectLst/>
                <a:uLnTx/>
                <a:uFillTx/>
                <a:latin typeface="Poppins" panose="00000500000000000000" pitchFamily="2" charset="0"/>
                <a:ea typeface="+mj-ea"/>
                <a:cs typeface="+mj-cs"/>
              </a:rPr>
              <a:t>saul</a:t>
            </a:r>
            <a:endParaRPr kumimoji="0" lang="fr-FR" sz="2000" b="0" i="0" u="none" strike="noStrike" kern="1200" cap="none" spc="0" normalizeH="0" baseline="0" noProof="0" dirty="0">
              <a:ln>
                <a:noFill/>
              </a:ln>
              <a:solidFill>
                <a:srgbClr val="303030"/>
              </a:solidFill>
              <a:effectLst/>
              <a:uLnTx/>
              <a:uFillTx/>
              <a:latin typeface="Poppins" panose="00000500000000000000" pitchFamily="2" charset="0"/>
              <a:ea typeface="+mj-ea"/>
              <a:cs typeface="+mj-cs"/>
            </a:endParaRPr>
          </a:p>
        </p:txBody>
      </p:sp>
    </p:spTree>
    <p:extLst>
      <p:ext uri="{BB962C8B-B14F-4D97-AF65-F5344CB8AC3E}">
        <p14:creationId xmlns:p14="http://schemas.microsoft.com/office/powerpoint/2010/main" val="1190929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Titre 1">
            <a:extLst>
              <a:ext uri="{FF2B5EF4-FFF2-40B4-BE49-F238E27FC236}">
                <a16:creationId xmlns:a16="http://schemas.microsoft.com/office/drawing/2014/main" id="{32D7DE57-EA08-41D9-972C-F0579F99CBA5}"/>
              </a:ext>
            </a:extLst>
          </p:cNvPr>
          <p:cNvSpPr txBox="1">
            <a:spLocks/>
          </p:cNvSpPr>
          <p:nvPr/>
        </p:nvSpPr>
        <p:spPr>
          <a:xfrm>
            <a:off x="614605" y="4918827"/>
            <a:ext cx="6351526" cy="1600753"/>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2000" dirty="0">
                <a:solidFill>
                  <a:srgbClr val="303030"/>
                </a:solidFill>
                <a:latin typeface="Poppins" panose="00000500000000000000" pitchFamily="2" charset="0"/>
              </a:rPr>
              <a:t>le SEO (</a:t>
            </a:r>
            <a:r>
              <a:rPr lang="fr-FR" sz="2000" dirty="0" err="1">
                <a:solidFill>
                  <a:srgbClr val="303030"/>
                </a:solidFill>
                <a:latin typeface="Poppins" panose="00000500000000000000" pitchFamily="2" charset="0"/>
              </a:rPr>
              <a:t>Search</a:t>
            </a:r>
            <a:r>
              <a:rPr lang="fr-FR" sz="2000" dirty="0">
                <a:solidFill>
                  <a:srgbClr val="303030"/>
                </a:solidFill>
                <a:latin typeface="Poppins" panose="00000500000000000000" pitchFamily="2" charset="0"/>
              </a:rPr>
              <a:t> Engine </a:t>
            </a:r>
            <a:r>
              <a:rPr lang="fr-FR" sz="2000" dirty="0" err="1">
                <a:solidFill>
                  <a:srgbClr val="303030"/>
                </a:solidFill>
                <a:latin typeface="Poppins" panose="00000500000000000000" pitchFamily="2" charset="0"/>
              </a:rPr>
              <a:t>Optimization</a:t>
            </a:r>
            <a:r>
              <a:rPr lang="fr-FR" sz="2000" dirty="0">
                <a:solidFill>
                  <a:srgbClr val="303030"/>
                </a:solidFill>
                <a:latin typeface="Poppins" panose="00000500000000000000" pitchFamily="2" charset="0"/>
              </a:rPr>
              <a:t>) est l'ensemble des techniques et stratégies utilisées pour améliorer la visibilité et le classement d'un site internet sur les résultats de recherche des moteurs de recherche tels que Google, Bing, etc.</a:t>
            </a:r>
            <a:endParaRPr lang="fr-FR" sz="2000" dirty="0"/>
          </a:p>
        </p:txBody>
      </p:sp>
      <p:sp>
        <p:nvSpPr>
          <p:cNvPr id="11" name="Titre 1">
            <a:extLst>
              <a:ext uri="{FF2B5EF4-FFF2-40B4-BE49-F238E27FC236}">
                <a16:creationId xmlns:a16="http://schemas.microsoft.com/office/drawing/2014/main" id="{90A8216A-4EFD-4310-822D-2D52E24AE1B7}"/>
              </a:ext>
            </a:extLst>
          </p:cNvPr>
          <p:cNvSpPr txBox="1">
            <a:spLocks/>
          </p:cNvSpPr>
          <p:nvPr/>
        </p:nvSpPr>
        <p:spPr>
          <a:xfrm>
            <a:off x="1157838" y="4094156"/>
            <a:ext cx="7148968"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LE SEO: C’est quoi ?</a:t>
            </a:r>
          </a:p>
        </p:txBody>
      </p:sp>
      <p:pic>
        <p:nvPicPr>
          <p:cNvPr id="3" name="Image 2">
            <a:extLst>
              <a:ext uri="{FF2B5EF4-FFF2-40B4-BE49-F238E27FC236}">
                <a16:creationId xmlns:a16="http://schemas.microsoft.com/office/drawing/2014/main" id="{FA9FDA7B-DD5D-4959-B72B-8A2511CD60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3591" y="241349"/>
            <a:ext cx="6046492" cy="3401152"/>
          </a:xfrm>
          <a:prstGeom prst="rect">
            <a:avLst/>
          </a:prstGeom>
        </p:spPr>
      </p:pic>
      <p:pic>
        <p:nvPicPr>
          <p:cNvPr id="1026" name="Picture 2" descr="35 Best SEO Memes on the Internet (Hilarious)">
            <a:extLst>
              <a:ext uri="{FF2B5EF4-FFF2-40B4-BE49-F238E27FC236}">
                <a16:creationId xmlns:a16="http://schemas.microsoft.com/office/drawing/2014/main" id="{7E2DECC4-8E11-9390-AF4E-463BC79388E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306"/>
          <a:stretch/>
        </p:blipFill>
        <p:spPr bwMode="auto">
          <a:xfrm>
            <a:off x="7743392" y="2897772"/>
            <a:ext cx="3955299" cy="29250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5151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871E839-11A9-433B-A7F7-175176E79260}"/>
              </a:ext>
            </a:extLst>
          </p:cNvPr>
          <p:cNvSpPr/>
          <p:nvPr/>
        </p:nvSpPr>
        <p:spPr>
          <a:xfrm>
            <a:off x="4986670" y="0"/>
            <a:ext cx="720533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Titre 1">
            <a:extLst>
              <a:ext uri="{FF2B5EF4-FFF2-40B4-BE49-F238E27FC236}">
                <a16:creationId xmlns:a16="http://schemas.microsoft.com/office/drawing/2014/main" id="{32D7DE57-EA08-41D9-972C-F0579F99CBA5}"/>
              </a:ext>
            </a:extLst>
          </p:cNvPr>
          <p:cNvSpPr txBox="1">
            <a:spLocks/>
          </p:cNvSpPr>
          <p:nvPr/>
        </p:nvSpPr>
        <p:spPr>
          <a:xfrm>
            <a:off x="5537471" y="4502643"/>
            <a:ext cx="6351526" cy="75028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algn="r"/>
            <a:r>
              <a:rPr lang="fr-FR" sz="2000" dirty="0">
                <a:solidFill>
                  <a:srgbClr val="303030"/>
                </a:solidFill>
                <a:latin typeface="Poppins" panose="00000500000000000000" pitchFamily="2" charset="0"/>
              </a:rPr>
              <a:t>permet d’augmenter à la fois le nombre et la qualité des visiteurs d’une page	 </a:t>
            </a:r>
          </a:p>
          <a:p>
            <a:pPr algn="r"/>
            <a:endParaRPr lang="fr-FR" sz="2000" dirty="0">
              <a:solidFill>
                <a:srgbClr val="303030"/>
              </a:solidFill>
              <a:latin typeface="Poppins" panose="00000500000000000000" pitchFamily="2" charset="0"/>
            </a:endParaRPr>
          </a:p>
          <a:p>
            <a:pPr algn="r"/>
            <a:endParaRPr lang="fr-FR" sz="2000" dirty="0">
              <a:solidFill>
                <a:srgbClr val="303030"/>
              </a:solidFill>
              <a:latin typeface="Poppins" panose="00000500000000000000" pitchFamily="2" charset="0"/>
            </a:endParaRPr>
          </a:p>
          <a:p>
            <a:r>
              <a:rPr lang="fr-FR" sz="2000" b="1" dirty="0">
                <a:solidFill>
                  <a:srgbClr val="303030"/>
                </a:solidFill>
                <a:latin typeface="Poppins" panose="00000500000000000000" pitchFamily="2" charset="0"/>
              </a:rPr>
              <a:t>comment ?</a:t>
            </a:r>
          </a:p>
          <a:p>
            <a:pPr algn="r"/>
            <a:endParaRPr lang="fr-FR" sz="2000" dirty="0"/>
          </a:p>
          <a:p>
            <a:pPr algn="r"/>
            <a:endParaRPr lang="fr-FR" sz="2000" dirty="0"/>
          </a:p>
          <a:p>
            <a:pPr algn="r"/>
            <a:endParaRPr lang="fr-FR" sz="2000" dirty="0"/>
          </a:p>
          <a:p>
            <a:pPr algn="r"/>
            <a:r>
              <a:rPr lang="fr-FR" sz="2000" dirty="0">
                <a:solidFill>
                  <a:srgbClr val="303030"/>
                </a:solidFill>
                <a:latin typeface="Poppins" panose="00000500000000000000" pitchFamily="2" charset="0"/>
              </a:rPr>
              <a:t>en améliorant la visibilité et le classement d'un site web dans les résultats des moteurs de recherche</a:t>
            </a:r>
            <a:endParaRPr lang="fr-FR" sz="2000" dirty="0"/>
          </a:p>
        </p:txBody>
      </p:sp>
      <p:sp>
        <p:nvSpPr>
          <p:cNvPr id="11" name="Titre 1">
            <a:extLst>
              <a:ext uri="{FF2B5EF4-FFF2-40B4-BE49-F238E27FC236}">
                <a16:creationId xmlns:a16="http://schemas.microsoft.com/office/drawing/2014/main" id="{90A8216A-4EFD-4310-822D-2D52E24AE1B7}"/>
              </a:ext>
            </a:extLst>
          </p:cNvPr>
          <p:cNvSpPr txBox="1">
            <a:spLocks/>
          </p:cNvSpPr>
          <p:nvPr/>
        </p:nvSpPr>
        <p:spPr>
          <a:xfrm>
            <a:off x="7768511" y="290016"/>
            <a:ext cx="412048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6000" dirty="0">
                <a:solidFill>
                  <a:schemeClr val="tx1">
                    <a:lumMod val="85000"/>
                    <a:lumOff val="15000"/>
                  </a:schemeClr>
                </a:solidFill>
                <a:latin typeface="Bebas Neue" panose="020B0606020202050201" pitchFamily="34" charset="0"/>
              </a:rPr>
              <a:t>À quoi ça sert ?</a:t>
            </a:r>
          </a:p>
        </p:txBody>
      </p:sp>
      <p:sp>
        <p:nvSpPr>
          <p:cNvPr id="9" name="Titre 1">
            <a:extLst>
              <a:ext uri="{FF2B5EF4-FFF2-40B4-BE49-F238E27FC236}">
                <a16:creationId xmlns:a16="http://schemas.microsoft.com/office/drawing/2014/main" id="{92240DEC-66D2-4CB2-8B0B-C1410CAC3C5D}"/>
              </a:ext>
            </a:extLst>
          </p:cNvPr>
          <p:cNvSpPr txBox="1">
            <a:spLocks/>
          </p:cNvSpPr>
          <p:nvPr/>
        </p:nvSpPr>
        <p:spPr>
          <a:xfrm>
            <a:off x="602511" y="5205752"/>
            <a:ext cx="6351526" cy="565469"/>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endParaRPr lang="fr-FR" sz="2000" dirty="0"/>
          </a:p>
        </p:txBody>
      </p:sp>
      <p:pic>
        <p:nvPicPr>
          <p:cNvPr id="2050" name="Picture 2" descr="The Best SEO Memes for all occasions ^_*">
            <a:extLst>
              <a:ext uri="{FF2B5EF4-FFF2-40B4-BE49-F238E27FC236}">
                <a16:creationId xmlns:a16="http://schemas.microsoft.com/office/drawing/2014/main" id="{35C6D56A-8548-DDA9-2B79-B01AD5DEAB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511" y="1570878"/>
            <a:ext cx="3756404" cy="4200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0130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FAC8942-17A7-4DB3-95C5-4037A1437457}"/>
              </a:ext>
            </a:extLst>
          </p:cNvPr>
          <p:cNvSpPr/>
          <p:nvPr/>
        </p:nvSpPr>
        <p:spPr>
          <a:xfrm>
            <a:off x="805557" y="1131347"/>
            <a:ext cx="3180649" cy="155884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dirty="0"/>
          </a:p>
        </p:txBody>
      </p:sp>
      <p:sp>
        <p:nvSpPr>
          <p:cNvPr id="12" name="Rectangle 11">
            <a:extLst>
              <a:ext uri="{FF2B5EF4-FFF2-40B4-BE49-F238E27FC236}">
                <a16:creationId xmlns:a16="http://schemas.microsoft.com/office/drawing/2014/main" id="{7C3B8D2B-4865-40F2-B936-203BFD10ACFB}"/>
              </a:ext>
            </a:extLst>
          </p:cNvPr>
          <p:cNvSpPr/>
          <p:nvPr/>
        </p:nvSpPr>
        <p:spPr>
          <a:xfrm>
            <a:off x="579916" y="77089"/>
            <a:ext cx="6285356" cy="155884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dirty="0"/>
          </a:p>
        </p:txBody>
      </p:sp>
      <p:sp>
        <p:nvSpPr>
          <p:cNvPr id="7" name="Titre 1">
            <a:extLst>
              <a:ext uri="{FF2B5EF4-FFF2-40B4-BE49-F238E27FC236}">
                <a16:creationId xmlns:a16="http://schemas.microsoft.com/office/drawing/2014/main" id="{C9A82476-6D34-45CD-9678-EFB07FC16593}"/>
              </a:ext>
            </a:extLst>
          </p:cNvPr>
          <p:cNvSpPr txBox="1">
            <a:spLocks/>
          </p:cNvSpPr>
          <p:nvPr/>
        </p:nvSpPr>
        <p:spPr>
          <a:xfrm>
            <a:off x="468532" y="1847762"/>
            <a:ext cx="7050618"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8000" dirty="0">
                <a:solidFill>
                  <a:schemeClr val="tx1">
                    <a:lumMod val="85000"/>
                    <a:lumOff val="15000"/>
                  </a:schemeClr>
                </a:solidFill>
                <a:latin typeface="Bebas Neue" panose="020B0606020202050201" pitchFamily="34" charset="0"/>
              </a:rPr>
              <a:t>C’est </a:t>
            </a:r>
            <a:r>
              <a:rPr lang="fr-FR" sz="8000" dirty="0">
                <a:solidFill>
                  <a:schemeClr val="accent5">
                    <a:lumMod val="50000"/>
                  </a:schemeClr>
                </a:solidFill>
                <a:latin typeface="Bebas Neue" panose="020B0606020202050201" pitchFamily="34" charset="0"/>
              </a:rPr>
              <a:t>hyper</a:t>
            </a:r>
            <a:r>
              <a:rPr lang="fr-FR" sz="8000" dirty="0">
                <a:solidFill>
                  <a:schemeClr val="tx1">
                    <a:lumMod val="85000"/>
                    <a:lumOff val="15000"/>
                  </a:schemeClr>
                </a:solidFill>
                <a:latin typeface="Bebas Neue" panose="020B0606020202050201" pitchFamily="34" charset="0"/>
              </a:rPr>
              <a:t> important</a:t>
            </a:r>
          </a:p>
        </p:txBody>
      </p:sp>
      <p:sp>
        <p:nvSpPr>
          <p:cNvPr id="10" name="Titre 1">
            <a:extLst>
              <a:ext uri="{FF2B5EF4-FFF2-40B4-BE49-F238E27FC236}">
                <a16:creationId xmlns:a16="http://schemas.microsoft.com/office/drawing/2014/main" id="{8C64F8E2-4115-4396-BC34-51D64AD51E79}"/>
              </a:ext>
            </a:extLst>
          </p:cNvPr>
          <p:cNvSpPr txBox="1">
            <a:spLocks/>
          </p:cNvSpPr>
          <p:nvPr/>
        </p:nvSpPr>
        <p:spPr>
          <a:xfrm>
            <a:off x="468532" y="414158"/>
            <a:ext cx="7565090" cy="75028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b="1" dirty="0"/>
              <a:t>le SEO</a:t>
            </a:r>
          </a:p>
        </p:txBody>
      </p:sp>
      <p:sp>
        <p:nvSpPr>
          <p:cNvPr id="16" name="Rectangle 15">
            <a:extLst>
              <a:ext uri="{FF2B5EF4-FFF2-40B4-BE49-F238E27FC236}">
                <a16:creationId xmlns:a16="http://schemas.microsoft.com/office/drawing/2014/main" id="{A631C5EC-5354-4343-B6BF-90E3DEC19D1E}"/>
              </a:ext>
            </a:extLst>
          </p:cNvPr>
          <p:cNvSpPr/>
          <p:nvPr/>
        </p:nvSpPr>
        <p:spPr>
          <a:xfrm>
            <a:off x="579916" y="3458664"/>
            <a:ext cx="2840408" cy="142364"/>
          </a:xfrm>
          <a:prstGeom prst="rect">
            <a:avLst/>
          </a:prstGeom>
          <a:solidFill>
            <a:srgbClr val="1F4E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solidFill>
                <a:srgbClr val="1F4E79"/>
              </a:solidFill>
            </a:endParaRPr>
          </a:p>
        </p:txBody>
      </p:sp>
      <p:sp>
        <p:nvSpPr>
          <p:cNvPr id="17" name="Espace réservé du numéro de diapositive 16">
            <a:extLst>
              <a:ext uri="{FF2B5EF4-FFF2-40B4-BE49-F238E27FC236}">
                <a16:creationId xmlns:a16="http://schemas.microsoft.com/office/drawing/2014/main" id="{A4E87F3C-8639-482B-AE0B-671BC8EC753E}"/>
              </a:ext>
            </a:extLst>
          </p:cNvPr>
          <p:cNvSpPr>
            <a:spLocks noGrp="1"/>
          </p:cNvSpPr>
          <p:nvPr>
            <p:ph type="sldNum" sz="quarter" idx="12"/>
          </p:nvPr>
        </p:nvSpPr>
        <p:spPr/>
        <p:txBody>
          <a:bodyPr/>
          <a:lstStyle/>
          <a:p>
            <a:fld id="{B5C50E92-4701-4803-BF4A-1BCEAA5421B4}" type="slidenum">
              <a:rPr lang="fr-FR" sz="1000" smtClean="0"/>
              <a:t>7</a:t>
            </a:fld>
            <a:endParaRPr lang="fr-FR" sz="1000"/>
          </a:p>
        </p:txBody>
      </p:sp>
      <p:sp>
        <p:nvSpPr>
          <p:cNvPr id="3" name="ZoneTexte 2">
            <a:extLst>
              <a:ext uri="{FF2B5EF4-FFF2-40B4-BE49-F238E27FC236}">
                <a16:creationId xmlns:a16="http://schemas.microsoft.com/office/drawing/2014/main" id="{46338416-9747-11F7-B594-9BBF5F07AE1C}"/>
              </a:ext>
            </a:extLst>
          </p:cNvPr>
          <p:cNvSpPr txBox="1"/>
          <p:nvPr/>
        </p:nvSpPr>
        <p:spPr>
          <a:xfrm>
            <a:off x="6549827" y="414158"/>
            <a:ext cx="5471591" cy="4524315"/>
          </a:xfrm>
          <a:prstGeom prst="rect">
            <a:avLst/>
          </a:prstGeom>
          <a:noFill/>
        </p:spPr>
        <p:txBody>
          <a:bodyPr wrap="square">
            <a:spAutoFit/>
          </a:bodyPr>
          <a:lstStyle/>
          <a:p>
            <a:pPr marL="457200" indent="-457200" algn="l">
              <a:buFont typeface="Arial" panose="020B0604020202020204" pitchFamily="34" charset="0"/>
              <a:buChar char="•"/>
            </a:pPr>
            <a:r>
              <a:rPr lang="fr-FR" sz="2400" b="0" i="0" dirty="0">
                <a:effectLst/>
                <a:latin typeface="Silka" panose="00000500000000000000"/>
              </a:rPr>
              <a:t>Google enregistre </a:t>
            </a:r>
            <a:r>
              <a:rPr lang="fr-FR" sz="2400" b="1" i="0" dirty="0">
                <a:effectLst/>
                <a:latin typeface="Silka" panose="00000500000000000000"/>
              </a:rPr>
              <a:t>80 000 </a:t>
            </a:r>
            <a:r>
              <a:rPr lang="fr-FR" sz="2400" b="0" i="0" dirty="0">
                <a:effectLst/>
                <a:latin typeface="Silka" panose="00000500000000000000"/>
              </a:rPr>
              <a:t>requêtes par seconde, soit </a:t>
            </a:r>
            <a:r>
              <a:rPr lang="fr-FR" sz="2400" b="1" i="0" dirty="0">
                <a:effectLst/>
                <a:latin typeface="Silka" panose="00000500000000000000"/>
              </a:rPr>
              <a:t>6,9 milliards de requêtes </a:t>
            </a:r>
            <a:r>
              <a:rPr lang="fr-FR" sz="2400" b="0" i="0" dirty="0">
                <a:effectLst/>
                <a:latin typeface="Silka" panose="00000500000000000000"/>
              </a:rPr>
              <a:t>par jour</a:t>
            </a:r>
          </a:p>
          <a:p>
            <a:pPr marL="457200" indent="-457200" algn="l">
              <a:buFont typeface="Arial" panose="020B0604020202020204" pitchFamily="34" charset="0"/>
              <a:buChar char="•"/>
            </a:pPr>
            <a:endParaRPr lang="fr-FR" sz="2400" b="0" i="0" dirty="0">
              <a:effectLst/>
              <a:latin typeface="Silka" panose="00000500000000000000"/>
            </a:endParaRPr>
          </a:p>
          <a:p>
            <a:pPr marL="457200" indent="-457200" algn="l">
              <a:buFont typeface="Arial" panose="020B0604020202020204" pitchFamily="34" charset="0"/>
              <a:buChar char="•"/>
            </a:pPr>
            <a:r>
              <a:rPr lang="fr-FR" sz="2400" b="0" i="0" dirty="0">
                <a:effectLst/>
                <a:latin typeface="Silka" panose="00000500000000000000"/>
              </a:rPr>
              <a:t>​​Le résultat n°1 sur Google génère en moyenne près de </a:t>
            </a:r>
            <a:r>
              <a:rPr lang="fr-FR" sz="2400" b="1" i="0" dirty="0">
                <a:effectLst/>
                <a:latin typeface="Silka" panose="00000500000000000000"/>
              </a:rPr>
              <a:t>32 % de tous les clics</a:t>
            </a:r>
          </a:p>
          <a:p>
            <a:pPr marL="457200" indent="-457200" algn="l">
              <a:buFont typeface="Arial" panose="020B0604020202020204" pitchFamily="34" charset="0"/>
              <a:buChar char="•"/>
            </a:pPr>
            <a:endParaRPr lang="fr-FR" sz="2400" b="0" i="0" dirty="0">
              <a:effectLst/>
              <a:latin typeface="Silka" panose="00000500000000000000"/>
            </a:endParaRPr>
          </a:p>
          <a:p>
            <a:pPr marL="457200" indent="-457200" algn="l">
              <a:buFont typeface="Arial" panose="020B0604020202020204" pitchFamily="34" charset="0"/>
              <a:buChar char="•"/>
            </a:pPr>
            <a:r>
              <a:rPr lang="fr-FR" sz="2400" b="1" i="0" dirty="0">
                <a:effectLst/>
                <a:latin typeface="Silka" panose="00000500000000000000"/>
              </a:rPr>
              <a:t>49 % </a:t>
            </a:r>
            <a:r>
              <a:rPr lang="fr-FR" sz="2400" b="0" i="0" dirty="0">
                <a:effectLst/>
                <a:latin typeface="Silka" panose="00000500000000000000"/>
              </a:rPr>
              <a:t>des spécialistes du marketing affirment que la recherche organique a </a:t>
            </a:r>
            <a:r>
              <a:rPr lang="fr-FR" sz="2400" b="1" i="0" dirty="0">
                <a:effectLst/>
                <a:latin typeface="Silka" panose="00000500000000000000"/>
              </a:rPr>
              <a:t>le retour sur investissement le plus élevé </a:t>
            </a:r>
            <a:r>
              <a:rPr lang="fr-FR" sz="2400" b="0" i="0" dirty="0">
                <a:effectLst/>
                <a:latin typeface="Silka" panose="00000500000000000000"/>
              </a:rPr>
              <a:t>de tous les canaux de marketing.</a:t>
            </a:r>
          </a:p>
        </p:txBody>
      </p:sp>
      <p:sp>
        <p:nvSpPr>
          <p:cNvPr id="4" name="ZoneTexte 3">
            <a:extLst>
              <a:ext uri="{FF2B5EF4-FFF2-40B4-BE49-F238E27FC236}">
                <a16:creationId xmlns:a16="http://schemas.microsoft.com/office/drawing/2014/main" id="{703CCCE2-02CD-6D6F-39D2-10F1A6C77F1B}"/>
              </a:ext>
            </a:extLst>
          </p:cNvPr>
          <p:cNvSpPr txBox="1"/>
          <p:nvPr/>
        </p:nvSpPr>
        <p:spPr>
          <a:xfrm>
            <a:off x="349518" y="3952951"/>
            <a:ext cx="6141612" cy="2677656"/>
          </a:xfrm>
          <a:prstGeom prst="rect">
            <a:avLst/>
          </a:prstGeom>
          <a:noFill/>
        </p:spPr>
        <p:txBody>
          <a:bodyPr wrap="square">
            <a:spAutoFit/>
          </a:bodyPr>
          <a:lstStyle/>
          <a:p>
            <a:pPr marL="457200" indent="-457200" algn="l">
              <a:buFont typeface="Arial" panose="020B0604020202020204" pitchFamily="34" charset="0"/>
              <a:buChar char="•"/>
            </a:pPr>
            <a:r>
              <a:rPr lang="fr-FR" sz="2400" b="1" i="0" dirty="0">
                <a:effectLst/>
                <a:latin typeface="Silka" panose="00000500000000000000"/>
              </a:rPr>
              <a:t>68 % des expériences en ligne </a:t>
            </a:r>
            <a:r>
              <a:rPr lang="fr-FR" sz="2400" b="0" i="0" dirty="0">
                <a:effectLst/>
                <a:latin typeface="Silka" panose="00000500000000000000"/>
              </a:rPr>
              <a:t>commencent par les moteurs de recherche</a:t>
            </a:r>
          </a:p>
          <a:p>
            <a:pPr marL="457200" indent="-457200" algn="l">
              <a:buFont typeface="Arial" panose="020B0604020202020204" pitchFamily="34" charset="0"/>
              <a:buChar char="•"/>
            </a:pPr>
            <a:endParaRPr lang="fr-FR" sz="2400" b="0" i="0" dirty="0">
              <a:effectLst/>
              <a:latin typeface="Silka" panose="00000500000000000000"/>
            </a:endParaRPr>
          </a:p>
          <a:p>
            <a:pPr marL="457200" indent="-457200" algn="l">
              <a:buFont typeface="Arial" panose="020B0604020202020204" pitchFamily="34" charset="0"/>
              <a:buChar char="•"/>
            </a:pPr>
            <a:r>
              <a:rPr lang="fr-FR" sz="2400" b="1" i="0" u="sng" dirty="0">
                <a:effectLst/>
                <a:latin typeface="Silka" panose="00000500000000000000"/>
              </a:rPr>
              <a:t>92,96 % du trafic mondial </a:t>
            </a:r>
            <a:r>
              <a:rPr lang="fr-FR" sz="2400" b="0" i="0" dirty="0">
                <a:effectLst/>
                <a:latin typeface="Silka" panose="00000500000000000000"/>
              </a:rPr>
              <a:t>provient des recherches Google mais également de Google </a:t>
            </a:r>
            <a:r>
              <a:rPr lang="fr-FR" sz="2400" b="0" i="0" dirty="0" err="1">
                <a:effectLst/>
                <a:latin typeface="Silka" panose="00000500000000000000"/>
              </a:rPr>
              <a:t>Maps</a:t>
            </a:r>
            <a:r>
              <a:rPr lang="fr-FR" sz="2400" b="0" i="0" dirty="0">
                <a:effectLst/>
                <a:latin typeface="Silka" panose="00000500000000000000"/>
              </a:rPr>
              <a:t> et de Google Images</a:t>
            </a:r>
          </a:p>
          <a:p>
            <a:pPr marL="457200" indent="-457200" algn="l">
              <a:buFont typeface="Arial" panose="020B0604020202020204" pitchFamily="34" charset="0"/>
              <a:buChar char="•"/>
            </a:pPr>
            <a:endParaRPr lang="fr-FR" sz="2400" b="0" i="0" dirty="0">
              <a:effectLst/>
              <a:latin typeface="Silka" panose="00000500000000000000"/>
            </a:endParaRPr>
          </a:p>
        </p:txBody>
      </p:sp>
    </p:spTree>
    <p:extLst>
      <p:ext uri="{BB962C8B-B14F-4D97-AF65-F5344CB8AC3E}">
        <p14:creationId xmlns:p14="http://schemas.microsoft.com/office/powerpoint/2010/main" val="3356996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871E839-11A9-433B-A7F7-175176E79260}"/>
              </a:ext>
            </a:extLst>
          </p:cNvPr>
          <p:cNvSpPr/>
          <p:nvPr/>
        </p:nvSpPr>
        <p:spPr>
          <a:xfrm>
            <a:off x="-30152" y="-1926"/>
            <a:ext cx="8579066"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Titre 1">
            <a:extLst>
              <a:ext uri="{FF2B5EF4-FFF2-40B4-BE49-F238E27FC236}">
                <a16:creationId xmlns:a16="http://schemas.microsoft.com/office/drawing/2014/main" id="{32D7DE57-EA08-41D9-972C-F0579F99CBA5}"/>
              </a:ext>
            </a:extLst>
          </p:cNvPr>
          <p:cNvSpPr txBox="1">
            <a:spLocks/>
          </p:cNvSpPr>
          <p:nvPr/>
        </p:nvSpPr>
        <p:spPr>
          <a:xfrm>
            <a:off x="1730477" y="2939895"/>
            <a:ext cx="6653786" cy="75028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algn="r"/>
            <a:endParaRPr lang="fr-FR" sz="2400" b="1" i="1" dirty="0">
              <a:solidFill>
                <a:srgbClr val="303030"/>
              </a:solidFill>
              <a:latin typeface="Poppins" panose="00000500000000000000" pitchFamily="2" charset="0"/>
            </a:endParaRPr>
          </a:p>
          <a:p>
            <a:pPr algn="r"/>
            <a:r>
              <a:rPr lang="fr-FR" sz="2400" b="1" i="1" dirty="0">
                <a:solidFill>
                  <a:srgbClr val="303030"/>
                </a:solidFill>
                <a:latin typeface="Poppins" panose="00000500000000000000" pitchFamily="2" charset="0"/>
              </a:rPr>
              <a:t>la conversion ?</a:t>
            </a:r>
          </a:p>
          <a:p>
            <a:pPr algn="r"/>
            <a:r>
              <a:rPr lang="fr-FR" sz="2400" b="1" i="1" dirty="0">
                <a:solidFill>
                  <a:srgbClr val="303030"/>
                </a:solidFill>
                <a:latin typeface="Poppins" panose="00000500000000000000" pitchFamily="2" charset="0"/>
              </a:rPr>
              <a:t>la génération de leads ?</a:t>
            </a:r>
          </a:p>
        </p:txBody>
      </p:sp>
      <p:sp>
        <p:nvSpPr>
          <p:cNvPr id="11" name="Titre 1">
            <a:extLst>
              <a:ext uri="{FF2B5EF4-FFF2-40B4-BE49-F238E27FC236}">
                <a16:creationId xmlns:a16="http://schemas.microsoft.com/office/drawing/2014/main" id="{90A8216A-4EFD-4310-822D-2D52E24AE1B7}"/>
              </a:ext>
            </a:extLst>
          </p:cNvPr>
          <p:cNvSpPr txBox="1">
            <a:spLocks/>
          </p:cNvSpPr>
          <p:nvPr/>
        </p:nvSpPr>
        <p:spPr>
          <a:xfrm>
            <a:off x="1345562" y="1086779"/>
            <a:ext cx="7038701"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8800" dirty="0">
                <a:solidFill>
                  <a:schemeClr val="tx1">
                    <a:lumMod val="85000"/>
                    <a:lumOff val="15000"/>
                  </a:schemeClr>
                </a:solidFill>
                <a:latin typeface="Bebas Neue" panose="020B0606020202050201" pitchFamily="34" charset="0"/>
              </a:rPr>
              <a:t>c’est quoi SON BUT ULTIME ?</a:t>
            </a:r>
          </a:p>
        </p:txBody>
      </p:sp>
      <p:sp>
        <p:nvSpPr>
          <p:cNvPr id="9" name="Titre 1">
            <a:extLst>
              <a:ext uri="{FF2B5EF4-FFF2-40B4-BE49-F238E27FC236}">
                <a16:creationId xmlns:a16="http://schemas.microsoft.com/office/drawing/2014/main" id="{92240DEC-66D2-4CB2-8B0B-C1410CAC3C5D}"/>
              </a:ext>
            </a:extLst>
          </p:cNvPr>
          <p:cNvSpPr txBox="1">
            <a:spLocks/>
          </p:cNvSpPr>
          <p:nvPr/>
        </p:nvSpPr>
        <p:spPr>
          <a:xfrm>
            <a:off x="602511" y="5205752"/>
            <a:ext cx="6351526" cy="565469"/>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endParaRPr lang="fr-FR" sz="2000" dirty="0"/>
          </a:p>
        </p:txBody>
      </p:sp>
      <p:sp>
        <p:nvSpPr>
          <p:cNvPr id="2" name="Titre 1">
            <a:extLst>
              <a:ext uri="{FF2B5EF4-FFF2-40B4-BE49-F238E27FC236}">
                <a16:creationId xmlns:a16="http://schemas.microsoft.com/office/drawing/2014/main" id="{3078BDD5-FC65-CD60-59A5-778B0F20AF7C}"/>
              </a:ext>
            </a:extLst>
          </p:cNvPr>
          <p:cNvSpPr txBox="1">
            <a:spLocks/>
          </p:cNvSpPr>
          <p:nvPr/>
        </p:nvSpPr>
        <p:spPr>
          <a:xfrm>
            <a:off x="9051920" y="6157765"/>
            <a:ext cx="390258" cy="75028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algn="r"/>
            <a:r>
              <a:rPr lang="fr-FR" sz="41300" dirty="0">
                <a:solidFill>
                  <a:srgbClr val="303030"/>
                </a:solidFill>
                <a:latin typeface="Poppins" panose="00000500000000000000" pitchFamily="2" charset="0"/>
              </a:rPr>
              <a:t>?</a:t>
            </a:r>
            <a:endParaRPr lang="fr-FR" sz="41300" dirty="0"/>
          </a:p>
        </p:txBody>
      </p:sp>
      <p:sp>
        <p:nvSpPr>
          <p:cNvPr id="3" name="Titre 1">
            <a:extLst>
              <a:ext uri="{FF2B5EF4-FFF2-40B4-BE49-F238E27FC236}">
                <a16:creationId xmlns:a16="http://schemas.microsoft.com/office/drawing/2014/main" id="{F9930143-E24E-C224-0F79-BCA5FF75EA40}"/>
              </a:ext>
            </a:extLst>
          </p:cNvPr>
          <p:cNvSpPr txBox="1">
            <a:spLocks/>
          </p:cNvSpPr>
          <p:nvPr/>
        </p:nvSpPr>
        <p:spPr>
          <a:xfrm>
            <a:off x="111959" y="5188227"/>
            <a:ext cx="6653786" cy="75028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endParaRPr lang="fr-FR" sz="2800" b="1" i="1" dirty="0">
              <a:solidFill>
                <a:srgbClr val="303030"/>
              </a:solidFill>
              <a:latin typeface="Poppins" panose="00000500000000000000" pitchFamily="2" charset="0"/>
            </a:endParaRPr>
          </a:p>
        </p:txBody>
      </p:sp>
      <p:sp>
        <p:nvSpPr>
          <p:cNvPr id="5" name="Titre 1">
            <a:extLst>
              <a:ext uri="{FF2B5EF4-FFF2-40B4-BE49-F238E27FC236}">
                <a16:creationId xmlns:a16="http://schemas.microsoft.com/office/drawing/2014/main" id="{06BCEAA3-53B4-8D01-7C4F-FE2C500AFB7A}"/>
              </a:ext>
            </a:extLst>
          </p:cNvPr>
          <p:cNvSpPr txBox="1">
            <a:spLocks/>
          </p:cNvSpPr>
          <p:nvPr/>
        </p:nvSpPr>
        <p:spPr>
          <a:xfrm>
            <a:off x="179226" y="4204529"/>
            <a:ext cx="5747461"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8800" dirty="0">
                <a:solidFill>
                  <a:schemeClr val="tx1">
                    <a:lumMod val="85000"/>
                    <a:lumOff val="15000"/>
                  </a:schemeClr>
                </a:solidFill>
                <a:latin typeface="Bebas Neue" panose="020B0606020202050201" pitchFamily="34" charset="0"/>
              </a:rPr>
              <a:t>PAS Forcément</a:t>
            </a:r>
          </a:p>
        </p:txBody>
      </p:sp>
      <p:sp>
        <p:nvSpPr>
          <p:cNvPr id="6" name="Titre 1">
            <a:extLst>
              <a:ext uri="{FF2B5EF4-FFF2-40B4-BE49-F238E27FC236}">
                <a16:creationId xmlns:a16="http://schemas.microsoft.com/office/drawing/2014/main" id="{8EF27333-3FE4-BFC8-C245-24C6498E8750}"/>
              </a:ext>
            </a:extLst>
          </p:cNvPr>
          <p:cNvSpPr txBox="1">
            <a:spLocks/>
          </p:cNvSpPr>
          <p:nvPr/>
        </p:nvSpPr>
        <p:spPr>
          <a:xfrm>
            <a:off x="1083676" y="5149747"/>
            <a:ext cx="7038701" cy="75028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algn="r"/>
            <a:endParaRPr lang="fr-FR" sz="2400" b="1" i="1" dirty="0">
              <a:solidFill>
                <a:srgbClr val="303030"/>
              </a:solidFill>
              <a:latin typeface="Poppins" panose="00000500000000000000" pitchFamily="2" charset="0"/>
            </a:endParaRPr>
          </a:p>
          <a:p>
            <a:pPr algn="r"/>
            <a:r>
              <a:rPr lang="fr-FR" sz="2400" b="1" i="1" dirty="0">
                <a:solidFill>
                  <a:srgbClr val="303030"/>
                </a:solidFill>
                <a:latin typeface="Poppins" panose="00000500000000000000" pitchFamily="2" charset="0"/>
              </a:rPr>
              <a:t>certains sites vivent de leur visibilité</a:t>
            </a:r>
          </a:p>
        </p:txBody>
      </p:sp>
      <p:sp>
        <p:nvSpPr>
          <p:cNvPr id="10" name="Titre 1">
            <a:extLst>
              <a:ext uri="{FF2B5EF4-FFF2-40B4-BE49-F238E27FC236}">
                <a16:creationId xmlns:a16="http://schemas.microsoft.com/office/drawing/2014/main" id="{E7FE2550-2023-C667-2E2E-410E1808AEA8}"/>
              </a:ext>
            </a:extLst>
          </p:cNvPr>
          <p:cNvSpPr txBox="1">
            <a:spLocks/>
          </p:cNvSpPr>
          <p:nvPr/>
        </p:nvSpPr>
        <p:spPr>
          <a:xfrm>
            <a:off x="5520662" y="6250254"/>
            <a:ext cx="2866749" cy="404676"/>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algn="r"/>
            <a:r>
              <a:rPr lang="fr-FR" sz="1600" b="1" i="1" dirty="0">
                <a:solidFill>
                  <a:srgbClr val="303030"/>
                </a:solidFill>
                <a:latin typeface="Poppins" panose="00000500000000000000" pitchFamily="2" charset="0"/>
              </a:rPr>
              <a:t>genre les sites de news</a:t>
            </a:r>
          </a:p>
        </p:txBody>
      </p:sp>
    </p:spTree>
    <p:extLst>
      <p:ext uri="{BB962C8B-B14F-4D97-AF65-F5344CB8AC3E}">
        <p14:creationId xmlns:p14="http://schemas.microsoft.com/office/powerpoint/2010/main" val="59907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871E839-11A9-433B-A7F7-175176E79260}"/>
              </a:ext>
            </a:extLst>
          </p:cNvPr>
          <p:cNvSpPr/>
          <p:nvPr/>
        </p:nvSpPr>
        <p:spPr>
          <a:xfrm>
            <a:off x="0" y="0"/>
            <a:ext cx="1235734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1" name="Titre 1">
            <a:extLst>
              <a:ext uri="{FF2B5EF4-FFF2-40B4-BE49-F238E27FC236}">
                <a16:creationId xmlns:a16="http://schemas.microsoft.com/office/drawing/2014/main" id="{90A8216A-4EFD-4310-822D-2D52E24AE1B7}"/>
              </a:ext>
            </a:extLst>
          </p:cNvPr>
          <p:cNvSpPr txBox="1">
            <a:spLocks/>
          </p:cNvSpPr>
          <p:nvPr/>
        </p:nvSpPr>
        <p:spPr>
          <a:xfrm>
            <a:off x="-645886" y="3211446"/>
            <a:ext cx="13483772"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13800" dirty="0">
                <a:solidFill>
                  <a:schemeClr val="tx1">
                    <a:lumMod val="85000"/>
                    <a:lumOff val="15000"/>
                  </a:schemeClr>
                </a:solidFill>
                <a:latin typeface="Bebas Neue" panose="020B0606020202050201" pitchFamily="34" charset="0"/>
              </a:rPr>
              <a:t>LE BUT ULTIME DU SEO EST D’AUGMENTER LA </a:t>
            </a:r>
            <a:r>
              <a:rPr lang="fr-FR" sz="13800" dirty="0" err="1">
                <a:solidFill>
                  <a:schemeClr val="tx1">
                    <a:lumMod val="85000"/>
                    <a:lumOff val="15000"/>
                  </a:schemeClr>
                </a:solidFill>
                <a:latin typeface="Bebas Neue" panose="020B0606020202050201" pitchFamily="34" charset="0"/>
              </a:rPr>
              <a:t>VISIBILITé</a:t>
            </a:r>
            <a:endParaRPr lang="fr-FR" sz="13800" dirty="0">
              <a:solidFill>
                <a:schemeClr val="tx1">
                  <a:lumMod val="85000"/>
                  <a:lumOff val="15000"/>
                </a:schemeClr>
              </a:solidFill>
              <a:latin typeface="Bebas Neue" panose="020B0606020202050201" pitchFamily="34" charset="0"/>
            </a:endParaRPr>
          </a:p>
        </p:txBody>
      </p:sp>
      <p:sp>
        <p:nvSpPr>
          <p:cNvPr id="9" name="Titre 1">
            <a:extLst>
              <a:ext uri="{FF2B5EF4-FFF2-40B4-BE49-F238E27FC236}">
                <a16:creationId xmlns:a16="http://schemas.microsoft.com/office/drawing/2014/main" id="{92240DEC-66D2-4CB2-8B0B-C1410CAC3C5D}"/>
              </a:ext>
            </a:extLst>
          </p:cNvPr>
          <p:cNvSpPr txBox="1">
            <a:spLocks/>
          </p:cNvSpPr>
          <p:nvPr/>
        </p:nvSpPr>
        <p:spPr>
          <a:xfrm>
            <a:off x="602511" y="5205752"/>
            <a:ext cx="6351526" cy="565469"/>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endParaRPr lang="fr-FR" sz="2000" dirty="0"/>
          </a:p>
        </p:txBody>
      </p:sp>
      <p:sp>
        <p:nvSpPr>
          <p:cNvPr id="3" name="Titre 1">
            <a:extLst>
              <a:ext uri="{FF2B5EF4-FFF2-40B4-BE49-F238E27FC236}">
                <a16:creationId xmlns:a16="http://schemas.microsoft.com/office/drawing/2014/main" id="{F9930143-E24E-C224-0F79-BCA5FF75EA40}"/>
              </a:ext>
            </a:extLst>
          </p:cNvPr>
          <p:cNvSpPr txBox="1">
            <a:spLocks/>
          </p:cNvSpPr>
          <p:nvPr/>
        </p:nvSpPr>
        <p:spPr>
          <a:xfrm>
            <a:off x="111959" y="5188227"/>
            <a:ext cx="6653786" cy="75028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endParaRPr lang="fr-FR" sz="2800" b="1" i="1" dirty="0">
              <a:solidFill>
                <a:srgbClr val="303030"/>
              </a:solidFill>
              <a:latin typeface="Poppins" panose="00000500000000000000" pitchFamily="2" charset="0"/>
            </a:endParaRPr>
          </a:p>
        </p:txBody>
      </p:sp>
    </p:spTree>
    <p:extLst>
      <p:ext uri="{BB962C8B-B14F-4D97-AF65-F5344CB8AC3E}">
        <p14:creationId xmlns:p14="http://schemas.microsoft.com/office/powerpoint/2010/main" val="1236091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871E839-11A9-433B-A7F7-175176E79260}"/>
              </a:ext>
            </a:extLst>
          </p:cNvPr>
          <p:cNvSpPr/>
          <p:nvPr/>
        </p:nvSpPr>
        <p:spPr>
          <a:xfrm>
            <a:off x="0" y="0"/>
            <a:ext cx="720533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Titre 1">
            <a:extLst>
              <a:ext uri="{FF2B5EF4-FFF2-40B4-BE49-F238E27FC236}">
                <a16:creationId xmlns:a16="http://schemas.microsoft.com/office/drawing/2014/main" id="{32D7DE57-EA08-41D9-972C-F0579F99CBA5}"/>
              </a:ext>
            </a:extLst>
          </p:cNvPr>
          <p:cNvSpPr txBox="1">
            <a:spLocks/>
          </p:cNvSpPr>
          <p:nvPr/>
        </p:nvSpPr>
        <p:spPr>
          <a:xfrm>
            <a:off x="175015" y="2841716"/>
            <a:ext cx="6351526" cy="75028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400" dirty="0">
                <a:solidFill>
                  <a:srgbClr val="303030"/>
                </a:solidFill>
                <a:latin typeface="Poppins" panose="00000500000000000000" pitchFamily="2" charset="0"/>
              </a:rPr>
              <a:t>trafic </a:t>
            </a:r>
          </a:p>
          <a:p>
            <a:pPr marL="342900" indent="-342900">
              <a:buFont typeface="Arial" panose="020B0604020202020204" pitchFamily="34" charset="0"/>
              <a:buChar char="•"/>
            </a:pPr>
            <a:r>
              <a:rPr lang="fr-FR" sz="2400" dirty="0">
                <a:solidFill>
                  <a:srgbClr val="303030"/>
                </a:solidFill>
                <a:latin typeface="Poppins" panose="00000500000000000000" pitchFamily="2" charset="0"/>
              </a:rPr>
              <a:t>taux de conversion</a:t>
            </a:r>
          </a:p>
          <a:p>
            <a:pPr marL="342900" indent="-342900">
              <a:buFont typeface="Arial" panose="020B0604020202020204" pitchFamily="34" charset="0"/>
              <a:buChar char="•"/>
            </a:pPr>
            <a:r>
              <a:rPr lang="fr-FR" sz="2400" dirty="0">
                <a:solidFill>
                  <a:srgbClr val="303030"/>
                </a:solidFill>
                <a:latin typeface="Poppins" panose="00000500000000000000" pitchFamily="2" charset="0"/>
              </a:rPr>
              <a:t>avantage concurrentiel</a:t>
            </a:r>
          </a:p>
          <a:p>
            <a:pPr marL="342900" indent="-342900">
              <a:buFont typeface="Arial" panose="020B0604020202020204" pitchFamily="34" charset="0"/>
              <a:buChar char="•"/>
            </a:pPr>
            <a:r>
              <a:rPr lang="fr-FR" sz="2400" dirty="0">
                <a:solidFill>
                  <a:srgbClr val="303030"/>
                </a:solidFill>
                <a:latin typeface="Poppins" panose="00000500000000000000" pitchFamily="2" charset="0"/>
              </a:rPr>
              <a:t>rentabilité à long terme du SEO</a:t>
            </a:r>
            <a:endParaRPr lang="fr-FR" sz="2400" b="1" u="sng" dirty="0"/>
          </a:p>
        </p:txBody>
      </p:sp>
      <p:sp>
        <p:nvSpPr>
          <p:cNvPr id="11" name="Titre 1">
            <a:extLst>
              <a:ext uri="{FF2B5EF4-FFF2-40B4-BE49-F238E27FC236}">
                <a16:creationId xmlns:a16="http://schemas.microsoft.com/office/drawing/2014/main" id="{90A8216A-4EFD-4310-822D-2D52E24AE1B7}"/>
              </a:ext>
            </a:extLst>
          </p:cNvPr>
          <p:cNvSpPr txBox="1">
            <a:spLocks/>
          </p:cNvSpPr>
          <p:nvPr/>
        </p:nvSpPr>
        <p:spPr>
          <a:xfrm>
            <a:off x="175015" y="396033"/>
            <a:ext cx="6779022"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6000" dirty="0">
                <a:solidFill>
                  <a:schemeClr val="tx1">
                    <a:lumMod val="85000"/>
                    <a:lumOff val="15000"/>
                  </a:schemeClr>
                </a:solidFill>
                <a:latin typeface="Bebas Neue" panose="020B0606020202050201" pitchFamily="34" charset="0"/>
              </a:rPr>
              <a:t>QUELS IMPACTS  ?</a:t>
            </a:r>
          </a:p>
        </p:txBody>
      </p:sp>
      <p:sp>
        <p:nvSpPr>
          <p:cNvPr id="9" name="Titre 1">
            <a:extLst>
              <a:ext uri="{FF2B5EF4-FFF2-40B4-BE49-F238E27FC236}">
                <a16:creationId xmlns:a16="http://schemas.microsoft.com/office/drawing/2014/main" id="{92240DEC-66D2-4CB2-8B0B-C1410CAC3C5D}"/>
              </a:ext>
            </a:extLst>
          </p:cNvPr>
          <p:cNvSpPr txBox="1">
            <a:spLocks/>
          </p:cNvSpPr>
          <p:nvPr/>
        </p:nvSpPr>
        <p:spPr>
          <a:xfrm>
            <a:off x="602511" y="5205752"/>
            <a:ext cx="6351526" cy="565469"/>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endParaRPr lang="fr-FR" sz="2000" dirty="0"/>
          </a:p>
        </p:txBody>
      </p:sp>
      <p:pic>
        <p:nvPicPr>
          <p:cNvPr id="3" name="Picture 2" descr="The Best SEO memes of 2018 - Fifteen">
            <a:extLst>
              <a:ext uri="{FF2B5EF4-FFF2-40B4-BE49-F238E27FC236}">
                <a16:creationId xmlns:a16="http://schemas.microsoft.com/office/drawing/2014/main" id="{6E0F3CBA-01B5-6A55-A362-4FDD0A5BD6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1151" y="2424687"/>
            <a:ext cx="3647367" cy="2758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7689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4424247" y="434113"/>
            <a:ext cx="2932379"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6000" dirty="0">
                <a:solidFill>
                  <a:schemeClr val="tx1">
                    <a:lumMod val="85000"/>
                    <a:lumOff val="15000"/>
                  </a:schemeClr>
                </a:solidFill>
                <a:latin typeface="Bebas Neue" panose="020B0606020202050201" pitchFamily="34" charset="0"/>
              </a:rPr>
              <a:t>SEO VS SEA</a:t>
            </a:r>
          </a:p>
        </p:txBody>
      </p:sp>
      <p:pic>
        <p:nvPicPr>
          <p:cNvPr id="3074" name="Picture 2" descr="Guide Pratique : Comment définir son budget SEO ? - la revanche des sites">
            <a:extLst>
              <a:ext uri="{FF2B5EF4-FFF2-40B4-BE49-F238E27FC236}">
                <a16:creationId xmlns:a16="http://schemas.microsoft.com/office/drawing/2014/main" id="{FC5D8AFE-02B4-6928-6F35-2E0FADA28A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2358" y="1542201"/>
            <a:ext cx="6556158" cy="4942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5276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18821" y="361542"/>
            <a:ext cx="9420264"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err="1">
                <a:solidFill>
                  <a:schemeClr val="tx1">
                    <a:lumMod val="85000"/>
                    <a:lumOff val="15000"/>
                  </a:schemeClr>
                </a:solidFill>
                <a:latin typeface="Bebas Neue" panose="020B0606020202050201" pitchFamily="34" charset="0"/>
              </a:rPr>
              <a:t>seo</a:t>
            </a:r>
            <a:r>
              <a:rPr lang="fr-FR" sz="6000" dirty="0">
                <a:solidFill>
                  <a:schemeClr val="tx1">
                    <a:lumMod val="85000"/>
                    <a:lumOff val="15000"/>
                  </a:schemeClr>
                </a:solidFill>
                <a:latin typeface="Bebas Neue" panose="020B0606020202050201" pitchFamily="34" charset="0"/>
              </a:rPr>
              <a:t>,  </a:t>
            </a:r>
            <a:r>
              <a:rPr lang="fr-FR" sz="6000" dirty="0" err="1">
                <a:solidFill>
                  <a:schemeClr val="tx1">
                    <a:lumMod val="85000"/>
                    <a:lumOff val="15000"/>
                  </a:schemeClr>
                </a:solidFill>
                <a:latin typeface="Bebas Neue" panose="020B0606020202050201" pitchFamily="34" charset="0"/>
              </a:rPr>
              <a:t>sea</a:t>
            </a:r>
            <a:r>
              <a:rPr lang="fr-FR" sz="6000" dirty="0">
                <a:solidFill>
                  <a:schemeClr val="tx1">
                    <a:lumMod val="85000"/>
                    <a:lumOff val="15000"/>
                  </a:schemeClr>
                </a:solidFill>
                <a:latin typeface="Bebas Neue" panose="020B0606020202050201" pitchFamily="34" charset="0"/>
              </a:rPr>
              <a:t>, SMO, SMA, SXO, SEM, </a:t>
            </a:r>
            <a:r>
              <a:rPr lang="fr-FR" sz="6000" dirty="0" err="1">
                <a:solidFill>
                  <a:schemeClr val="tx1">
                    <a:lumMod val="85000"/>
                    <a:lumOff val="15000"/>
                  </a:schemeClr>
                </a:solidFill>
                <a:latin typeface="Bebas Neue" panose="020B0606020202050201" pitchFamily="34" charset="0"/>
              </a:rPr>
              <a:t>smm</a:t>
            </a:r>
            <a:r>
              <a:rPr lang="fr-FR" sz="6000" dirty="0">
                <a:solidFill>
                  <a:schemeClr val="tx1">
                    <a:lumMod val="85000"/>
                    <a:lumOff val="15000"/>
                  </a:schemeClr>
                </a:solidFill>
                <a:latin typeface="Bebas Neue" panose="020B0606020202050201" pitchFamily="34" charset="0"/>
              </a:rPr>
              <a:t> ?</a:t>
            </a:r>
          </a:p>
        </p:txBody>
      </p:sp>
      <p:sp>
        <p:nvSpPr>
          <p:cNvPr id="2" name="Rectangle 1">
            <a:extLst>
              <a:ext uri="{FF2B5EF4-FFF2-40B4-BE49-F238E27FC236}">
                <a16:creationId xmlns:a16="http://schemas.microsoft.com/office/drawing/2014/main" id="{E938373F-C8C3-E00E-F597-B030FB7936F5}"/>
              </a:ext>
            </a:extLst>
          </p:cNvPr>
          <p:cNvSpPr/>
          <p:nvPr/>
        </p:nvSpPr>
        <p:spPr>
          <a:xfrm>
            <a:off x="1654630" y="2957890"/>
            <a:ext cx="8519884" cy="239788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BBBCD627-6060-146B-22B8-7A599D39CF99}"/>
              </a:ext>
            </a:extLst>
          </p:cNvPr>
          <p:cNvSpPr/>
          <p:nvPr/>
        </p:nvSpPr>
        <p:spPr>
          <a:xfrm>
            <a:off x="4064000" y="2113614"/>
            <a:ext cx="4644571" cy="195731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26" name="Picture 2" descr="SEM, SEO, SEA, SMO, SMA : quelles différences ? - Lemon Interactive">
            <a:extLst>
              <a:ext uri="{FF2B5EF4-FFF2-40B4-BE49-F238E27FC236}">
                <a16:creationId xmlns:a16="http://schemas.microsoft.com/office/drawing/2014/main" id="{7C268D75-4DFE-31A5-8452-6DDFF262BE97}"/>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9883" y="1954620"/>
            <a:ext cx="9851042" cy="4059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188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7A778A8E-7B4D-4778-A283-631837C6B0AC}"/>
              </a:ext>
            </a:extLst>
          </p:cNvPr>
          <p:cNvSpPr txBox="1">
            <a:spLocks/>
          </p:cNvSpPr>
          <p:nvPr/>
        </p:nvSpPr>
        <p:spPr>
          <a:xfrm>
            <a:off x="261777" y="445275"/>
            <a:ext cx="1025367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Les piliers du </a:t>
            </a:r>
            <a:r>
              <a:rPr lang="fr-FR" sz="6000" dirty="0" err="1">
                <a:solidFill>
                  <a:schemeClr val="tx1">
                    <a:lumMod val="85000"/>
                    <a:lumOff val="15000"/>
                  </a:schemeClr>
                </a:solidFill>
                <a:latin typeface="Bebas Neue" panose="020B0606020202050201" pitchFamily="34" charset="0"/>
              </a:rPr>
              <a:t>seo</a:t>
            </a:r>
            <a:endParaRPr lang="fr-FR" sz="6000" dirty="0">
              <a:solidFill>
                <a:schemeClr val="tx1">
                  <a:lumMod val="85000"/>
                  <a:lumOff val="15000"/>
                </a:schemeClr>
              </a:solidFill>
              <a:latin typeface="Bebas Neue" panose="020B0606020202050201" pitchFamily="34" charset="0"/>
            </a:endParaRPr>
          </a:p>
        </p:txBody>
      </p:sp>
      <p:sp>
        <p:nvSpPr>
          <p:cNvPr id="6" name="Titre 1">
            <a:extLst>
              <a:ext uri="{FF2B5EF4-FFF2-40B4-BE49-F238E27FC236}">
                <a16:creationId xmlns:a16="http://schemas.microsoft.com/office/drawing/2014/main" id="{648064E8-0149-4E0C-918F-EA82F107BEC2}"/>
              </a:ext>
            </a:extLst>
          </p:cNvPr>
          <p:cNvSpPr txBox="1">
            <a:spLocks/>
          </p:cNvSpPr>
          <p:nvPr/>
        </p:nvSpPr>
        <p:spPr>
          <a:xfrm>
            <a:off x="261777" y="1952209"/>
            <a:ext cx="6851404" cy="75028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6600" b="0" i="0" dirty="0">
                <a:solidFill>
                  <a:srgbClr val="303030"/>
                </a:solidFill>
                <a:effectLst/>
                <a:latin typeface="Poppins" panose="00000500000000000000" pitchFamily="2" charset="0"/>
              </a:rPr>
              <a:t>1. on</a:t>
            </a:r>
            <a:r>
              <a:rPr lang="fr-FR" sz="6600" dirty="0">
                <a:solidFill>
                  <a:srgbClr val="303030"/>
                </a:solidFill>
                <a:latin typeface="Poppins" panose="00000500000000000000" pitchFamily="2" charset="0"/>
              </a:rPr>
              <a:t> page SEO</a:t>
            </a:r>
            <a:endParaRPr lang="fr-FR" sz="6600" dirty="0"/>
          </a:p>
        </p:txBody>
      </p:sp>
      <p:sp>
        <p:nvSpPr>
          <p:cNvPr id="12" name="Espace réservé du numéro de diapositive 11">
            <a:extLst>
              <a:ext uri="{FF2B5EF4-FFF2-40B4-BE49-F238E27FC236}">
                <a16:creationId xmlns:a16="http://schemas.microsoft.com/office/drawing/2014/main" id="{E15DC55F-ECFB-425B-A449-8AEC41865C1D}"/>
              </a:ext>
            </a:extLst>
          </p:cNvPr>
          <p:cNvSpPr>
            <a:spLocks noGrp="1"/>
          </p:cNvSpPr>
          <p:nvPr>
            <p:ph type="sldNum" sz="quarter" idx="12"/>
          </p:nvPr>
        </p:nvSpPr>
        <p:spPr/>
        <p:txBody>
          <a:bodyPr/>
          <a:lstStyle/>
          <a:p>
            <a:fld id="{B5C50E92-4701-4803-BF4A-1BCEAA5421B4}" type="slidenum">
              <a:rPr lang="fr-FR" smtClean="0"/>
              <a:t>13</a:t>
            </a:fld>
            <a:endParaRPr lang="fr-FR"/>
          </a:p>
        </p:txBody>
      </p:sp>
      <p:pic>
        <p:nvPicPr>
          <p:cNvPr id="4098" name="Picture 2" descr="SEO on-page: optimiser ses pages web pour une meilleure visibilité">
            <a:extLst>
              <a:ext uri="{FF2B5EF4-FFF2-40B4-BE49-F238E27FC236}">
                <a16:creationId xmlns:a16="http://schemas.microsoft.com/office/drawing/2014/main" id="{7087F2B5-E477-EE1D-1918-4353EDB631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429000"/>
            <a:ext cx="7772399" cy="3429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Your Guide to Optimize On-Page SEO">
            <a:extLst>
              <a:ext uri="{FF2B5EF4-FFF2-40B4-BE49-F238E27FC236}">
                <a16:creationId xmlns:a16="http://schemas.microsoft.com/office/drawing/2014/main" id="{0F28D51C-27B2-2146-20B7-8A5EFFB88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65369"/>
            <a:ext cx="5334000" cy="3000375"/>
          </a:xfrm>
          <a:prstGeom prst="rect">
            <a:avLst/>
          </a:prstGeom>
          <a:noFill/>
          <a:extLst>
            <a:ext uri="{909E8E84-426E-40DD-AFC4-6F175D3DCCD1}">
              <a14:hiddenFill xmlns:a14="http://schemas.microsoft.com/office/drawing/2010/main">
                <a:solidFill>
                  <a:srgbClr val="FFFFFF"/>
                </a:solidFill>
              </a14:hiddenFill>
            </a:ext>
          </a:extLst>
        </p:spPr>
      </p:pic>
      <p:sp>
        <p:nvSpPr>
          <p:cNvPr id="2" name="Titre 1">
            <a:extLst>
              <a:ext uri="{FF2B5EF4-FFF2-40B4-BE49-F238E27FC236}">
                <a16:creationId xmlns:a16="http://schemas.microsoft.com/office/drawing/2014/main" id="{1F62A5A7-16D4-55A8-364D-B64386B5F7CE}"/>
              </a:ext>
            </a:extLst>
          </p:cNvPr>
          <p:cNvSpPr txBox="1">
            <a:spLocks/>
          </p:cNvSpPr>
          <p:nvPr/>
        </p:nvSpPr>
        <p:spPr>
          <a:xfrm>
            <a:off x="8715375" y="5456254"/>
            <a:ext cx="3295502" cy="75028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algn="r"/>
            <a:r>
              <a:rPr lang="fr-FR" sz="2000" dirty="0">
                <a:solidFill>
                  <a:srgbClr val="303030"/>
                </a:solidFill>
                <a:latin typeface="Poppins" panose="00000500000000000000" pitchFamily="2" charset="0"/>
              </a:rPr>
              <a:t>les actions réalisées sur le site.</a:t>
            </a:r>
          </a:p>
          <a:p>
            <a:pPr algn="r"/>
            <a:endParaRPr lang="fr-FR" sz="2000" dirty="0">
              <a:solidFill>
                <a:srgbClr val="303030"/>
              </a:solidFill>
              <a:latin typeface="Poppins" panose="00000500000000000000" pitchFamily="2" charset="0"/>
            </a:endParaRPr>
          </a:p>
          <a:p>
            <a:pPr algn="r"/>
            <a:endParaRPr lang="fr-FR" sz="2000" dirty="0">
              <a:solidFill>
                <a:srgbClr val="303030"/>
              </a:solidFill>
              <a:latin typeface="Poppins" panose="00000500000000000000" pitchFamily="2" charset="0"/>
            </a:endParaRPr>
          </a:p>
          <a:p>
            <a:pPr algn="r"/>
            <a:endParaRPr lang="fr-FR" sz="2000" dirty="0">
              <a:solidFill>
                <a:srgbClr val="303030"/>
              </a:solidFill>
              <a:latin typeface="Poppins" panose="00000500000000000000" pitchFamily="2" charset="0"/>
            </a:endParaRPr>
          </a:p>
          <a:p>
            <a:pPr algn="r"/>
            <a:endParaRPr lang="fr-FR" sz="2000" dirty="0">
              <a:solidFill>
                <a:srgbClr val="303030"/>
              </a:solidFill>
              <a:latin typeface="Poppins" panose="00000500000000000000" pitchFamily="2" charset="0"/>
            </a:endParaRPr>
          </a:p>
          <a:p>
            <a:pPr algn="r"/>
            <a:r>
              <a:rPr lang="fr-FR" sz="1600" i="1" dirty="0">
                <a:solidFill>
                  <a:srgbClr val="303030"/>
                </a:solidFill>
                <a:latin typeface="Poppins" panose="00000500000000000000" pitchFamily="2" charset="0"/>
              </a:rPr>
              <a:t>maillage interne, optimisation, création de contenu,  balisage, etc.</a:t>
            </a:r>
            <a:endParaRPr lang="fr-FR" sz="1600" i="1" dirty="0"/>
          </a:p>
        </p:txBody>
      </p:sp>
    </p:spTree>
    <p:extLst>
      <p:ext uri="{BB962C8B-B14F-4D97-AF65-F5344CB8AC3E}">
        <p14:creationId xmlns:p14="http://schemas.microsoft.com/office/powerpoint/2010/main" val="867312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7A778A8E-7B4D-4778-A283-631837C6B0AC}"/>
              </a:ext>
            </a:extLst>
          </p:cNvPr>
          <p:cNvSpPr txBox="1">
            <a:spLocks/>
          </p:cNvSpPr>
          <p:nvPr/>
        </p:nvSpPr>
        <p:spPr>
          <a:xfrm>
            <a:off x="261777" y="445275"/>
            <a:ext cx="1025367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Les 3 piliers du </a:t>
            </a:r>
            <a:r>
              <a:rPr lang="fr-FR" sz="6000" dirty="0" err="1">
                <a:solidFill>
                  <a:schemeClr val="tx1">
                    <a:lumMod val="85000"/>
                    <a:lumOff val="15000"/>
                  </a:schemeClr>
                </a:solidFill>
                <a:latin typeface="Bebas Neue" panose="020B0606020202050201" pitchFamily="34" charset="0"/>
              </a:rPr>
              <a:t>seo</a:t>
            </a:r>
            <a:endParaRPr lang="fr-FR" sz="6000" dirty="0">
              <a:solidFill>
                <a:schemeClr val="tx1">
                  <a:lumMod val="85000"/>
                  <a:lumOff val="15000"/>
                </a:schemeClr>
              </a:solidFill>
              <a:latin typeface="Bebas Neue" panose="020B0606020202050201" pitchFamily="34" charset="0"/>
            </a:endParaRPr>
          </a:p>
        </p:txBody>
      </p:sp>
      <p:sp>
        <p:nvSpPr>
          <p:cNvPr id="6" name="Titre 1">
            <a:extLst>
              <a:ext uri="{FF2B5EF4-FFF2-40B4-BE49-F238E27FC236}">
                <a16:creationId xmlns:a16="http://schemas.microsoft.com/office/drawing/2014/main" id="{648064E8-0149-4E0C-918F-EA82F107BEC2}"/>
              </a:ext>
            </a:extLst>
          </p:cNvPr>
          <p:cNvSpPr txBox="1">
            <a:spLocks/>
          </p:cNvSpPr>
          <p:nvPr/>
        </p:nvSpPr>
        <p:spPr>
          <a:xfrm>
            <a:off x="261777" y="1952209"/>
            <a:ext cx="6851404" cy="75028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6600" b="0" i="0" dirty="0">
                <a:solidFill>
                  <a:srgbClr val="303030"/>
                </a:solidFill>
                <a:effectLst/>
                <a:latin typeface="Poppins" panose="00000500000000000000" pitchFamily="2" charset="0"/>
              </a:rPr>
              <a:t>1. on</a:t>
            </a:r>
            <a:r>
              <a:rPr lang="fr-FR" sz="6600" dirty="0">
                <a:solidFill>
                  <a:srgbClr val="303030"/>
                </a:solidFill>
                <a:latin typeface="Poppins" panose="00000500000000000000" pitchFamily="2" charset="0"/>
              </a:rPr>
              <a:t> page SEO</a:t>
            </a:r>
            <a:endParaRPr lang="fr-FR" sz="6600" dirty="0"/>
          </a:p>
        </p:txBody>
      </p:sp>
      <p:sp>
        <p:nvSpPr>
          <p:cNvPr id="12" name="Espace réservé du numéro de diapositive 11">
            <a:extLst>
              <a:ext uri="{FF2B5EF4-FFF2-40B4-BE49-F238E27FC236}">
                <a16:creationId xmlns:a16="http://schemas.microsoft.com/office/drawing/2014/main" id="{E15DC55F-ECFB-425B-A449-8AEC41865C1D}"/>
              </a:ext>
            </a:extLst>
          </p:cNvPr>
          <p:cNvSpPr>
            <a:spLocks noGrp="1"/>
          </p:cNvSpPr>
          <p:nvPr>
            <p:ph type="sldNum" sz="quarter" idx="12"/>
          </p:nvPr>
        </p:nvSpPr>
        <p:spPr/>
        <p:txBody>
          <a:bodyPr/>
          <a:lstStyle/>
          <a:p>
            <a:fld id="{B5C50E92-4701-4803-BF4A-1BCEAA5421B4}" type="slidenum">
              <a:rPr lang="fr-FR" smtClean="0"/>
              <a:t>14</a:t>
            </a:fld>
            <a:endParaRPr lang="fr-FR"/>
          </a:p>
        </p:txBody>
      </p:sp>
      <p:sp>
        <p:nvSpPr>
          <p:cNvPr id="3" name="Titre 1">
            <a:extLst>
              <a:ext uri="{FF2B5EF4-FFF2-40B4-BE49-F238E27FC236}">
                <a16:creationId xmlns:a16="http://schemas.microsoft.com/office/drawing/2014/main" id="{4696808D-1028-4FAB-FBEC-52AB4C15A404}"/>
              </a:ext>
            </a:extLst>
          </p:cNvPr>
          <p:cNvSpPr txBox="1">
            <a:spLocks/>
          </p:cNvSpPr>
          <p:nvPr/>
        </p:nvSpPr>
        <p:spPr>
          <a:xfrm>
            <a:off x="261776" y="4657758"/>
            <a:ext cx="8766109" cy="75028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La création et l'optimisation du contenu (mots-clés, balises de titre, méta descriptions, etc.)</a:t>
            </a:r>
          </a:p>
          <a:p>
            <a:pPr marL="342900" indent="-342900">
              <a:buFont typeface="Arial" panose="020B0604020202020204" pitchFamily="34" charset="0"/>
              <a:buChar char="•"/>
            </a:pPr>
            <a:r>
              <a:rPr lang="fr-FR" sz="2000" dirty="0">
                <a:solidFill>
                  <a:srgbClr val="303030"/>
                </a:solidFill>
                <a:latin typeface="Poppins" panose="00000500000000000000" pitchFamily="2" charset="0"/>
              </a:rPr>
              <a:t>L'importance de l'expérience utilisateur et de la navigation</a:t>
            </a:r>
          </a:p>
          <a:p>
            <a:pPr marL="342900" indent="-342900">
              <a:buFont typeface="Arial" panose="020B0604020202020204" pitchFamily="34" charset="0"/>
              <a:buChar char="•"/>
            </a:pPr>
            <a:r>
              <a:rPr lang="fr-FR" sz="2000" dirty="0">
                <a:solidFill>
                  <a:srgbClr val="303030"/>
                </a:solidFill>
                <a:latin typeface="Poppins" panose="00000500000000000000" pitchFamily="2" charset="0"/>
              </a:rPr>
              <a:t>L'utilisation de balises HTML, de données structurées et d'autres éléments de codage pour aider les moteurs de recherche à comprendre le contenu</a:t>
            </a:r>
            <a:endParaRPr lang="fr-FR" sz="1600" i="1" dirty="0"/>
          </a:p>
        </p:txBody>
      </p:sp>
    </p:spTree>
    <p:extLst>
      <p:ext uri="{BB962C8B-B14F-4D97-AF65-F5344CB8AC3E}">
        <p14:creationId xmlns:p14="http://schemas.microsoft.com/office/powerpoint/2010/main" val="4287683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7A778A8E-7B4D-4778-A283-631837C6B0AC}"/>
              </a:ext>
            </a:extLst>
          </p:cNvPr>
          <p:cNvSpPr txBox="1">
            <a:spLocks/>
          </p:cNvSpPr>
          <p:nvPr/>
        </p:nvSpPr>
        <p:spPr>
          <a:xfrm>
            <a:off x="261777" y="445275"/>
            <a:ext cx="1025367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Les piliers du </a:t>
            </a:r>
            <a:r>
              <a:rPr lang="fr-FR" sz="6000" dirty="0" err="1">
                <a:solidFill>
                  <a:schemeClr val="tx1">
                    <a:lumMod val="85000"/>
                    <a:lumOff val="15000"/>
                  </a:schemeClr>
                </a:solidFill>
                <a:latin typeface="Bebas Neue" panose="020B0606020202050201" pitchFamily="34" charset="0"/>
              </a:rPr>
              <a:t>seo</a:t>
            </a:r>
            <a:endParaRPr lang="fr-FR" sz="6000" dirty="0">
              <a:solidFill>
                <a:schemeClr val="tx1">
                  <a:lumMod val="85000"/>
                  <a:lumOff val="15000"/>
                </a:schemeClr>
              </a:solidFill>
              <a:latin typeface="Bebas Neue" panose="020B0606020202050201" pitchFamily="34" charset="0"/>
            </a:endParaRPr>
          </a:p>
        </p:txBody>
      </p:sp>
      <p:sp>
        <p:nvSpPr>
          <p:cNvPr id="6" name="Titre 1">
            <a:extLst>
              <a:ext uri="{FF2B5EF4-FFF2-40B4-BE49-F238E27FC236}">
                <a16:creationId xmlns:a16="http://schemas.microsoft.com/office/drawing/2014/main" id="{648064E8-0149-4E0C-918F-EA82F107BEC2}"/>
              </a:ext>
            </a:extLst>
          </p:cNvPr>
          <p:cNvSpPr txBox="1">
            <a:spLocks/>
          </p:cNvSpPr>
          <p:nvPr/>
        </p:nvSpPr>
        <p:spPr>
          <a:xfrm>
            <a:off x="261777" y="1952209"/>
            <a:ext cx="6851404" cy="75028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6600" dirty="0">
                <a:solidFill>
                  <a:srgbClr val="303030"/>
                </a:solidFill>
                <a:latin typeface="Poppins" panose="00000500000000000000" pitchFamily="2" charset="0"/>
              </a:rPr>
              <a:t>2</a:t>
            </a:r>
            <a:r>
              <a:rPr lang="fr-FR" sz="6600" b="0" i="0" dirty="0">
                <a:solidFill>
                  <a:srgbClr val="303030"/>
                </a:solidFill>
                <a:effectLst/>
                <a:latin typeface="Poppins" panose="00000500000000000000" pitchFamily="2" charset="0"/>
              </a:rPr>
              <a:t>. off</a:t>
            </a:r>
            <a:r>
              <a:rPr lang="fr-FR" sz="6600" dirty="0">
                <a:solidFill>
                  <a:srgbClr val="303030"/>
                </a:solidFill>
                <a:latin typeface="Poppins" panose="00000500000000000000" pitchFamily="2" charset="0"/>
              </a:rPr>
              <a:t> page SEO</a:t>
            </a:r>
            <a:endParaRPr lang="fr-FR" sz="6600" dirty="0"/>
          </a:p>
        </p:txBody>
      </p:sp>
      <p:sp>
        <p:nvSpPr>
          <p:cNvPr id="12" name="Espace réservé du numéro de diapositive 11">
            <a:extLst>
              <a:ext uri="{FF2B5EF4-FFF2-40B4-BE49-F238E27FC236}">
                <a16:creationId xmlns:a16="http://schemas.microsoft.com/office/drawing/2014/main" id="{E15DC55F-ECFB-425B-A449-8AEC41865C1D}"/>
              </a:ext>
            </a:extLst>
          </p:cNvPr>
          <p:cNvSpPr>
            <a:spLocks noGrp="1"/>
          </p:cNvSpPr>
          <p:nvPr>
            <p:ph type="sldNum" sz="quarter" idx="12"/>
          </p:nvPr>
        </p:nvSpPr>
        <p:spPr/>
        <p:txBody>
          <a:bodyPr/>
          <a:lstStyle/>
          <a:p>
            <a:fld id="{B5C50E92-4701-4803-BF4A-1BCEAA5421B4}" type="slidenum">
              <a:rPr lang="fr-FR" smtClean="0"/>
              <a:t>15</a:t>
            </a:fld>
            <a:endParaRPr lang="fr-FR"/>
          </a:p>
        </p:txBody>
      </p:sp>
      <p:sp>
        <p:nvSpPr>
          <p:cNvPr id="2" name="Titre 1">
            <a:extLst>
              <a:ext uri="{FF2B5EF4-FFF2-40B4-BE49-F238E27FC236}">
                <a16:creationId xmlns:a16="http://schemas.microsoft.com/office/drawing/2014/main" id="{1F62A5A7-16D4-55A8-364D-B64386B5F7CE}"/>
              </a:ext>
            </a:extLst>
          </p:cNvPr>
          <p:cNvSpPr txBox="1">
            <a:spLocks/>
          </p:cNvSpPr>
          <p:nvPr/>
        </p:nvSpPr>
        <p:spPr>
          <a:xfrm>
            <a:off x="8496300" y="5662445"/>
            <a:ext cx="3295502" cy="75028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algn="r"/>
            <a:r>
              <a:rPr lang="fr-FR" sz="2000" dirty="0">
                <a:solidFill>
                  <a:srgbClr val="303030"/>
                </a:solidFill>
                <a:latin typeface="Poppins" panose="00000500000000000000" pitchFamily="2" charset="0"/>
              </a:rPr>
              <a:t>les actions réalisées en dehors du site.</a:t>
            </a:r>
          </a:p>
          <a:p>
            <a:pPr algn="r"/>
            <a:endParaRPr lang="fr-FR" sz="2000" i="1" dirty="0">
              <a:solidFill>
                <a:srgbClr val="303030"/>
              </a:solidFill>
              <a:latin typeface="Poppins" panose="00000500000000000000" pitchFamily="2" charset="0"/>
            </a:endParaRPr>
          </a:p>
          <a:p>
            <a:pPr algn="r"/>
            <a:endParaRPr lang="fr-FR" sz="2000" i="1" dirty="0">
              <a:solidFill>
                <a:srgbClr val="303030"/>
              </a:solidFill>
              <a:latin typeface="Poppins" panose="00000500000000000000" pitchFamily="2" charset="0"/>
            </a:endParaRPr>
          </a:p>
          <a:p>
            <a:pPr algn="r"/>
            <a:r>
              <a:rPr lang="fr-FR" sz="1600" i="1" dirty="0" err="1">
                <a:solidFill>
                  <a:srgbClr val="303030"/>
                </a:solidFill>
                <a:latin typeface="Poppins" panose="00000500000000000000" pitchFamily="2" charset="0"/>
              </a:rPr>
              <a:t>backlinks</a:t>
            </a:r>
            <a:r>
              <a:rPr lang="fr-FR" sz="1600" i="1" dirty="0">
                <a:solidFill>
                  <a:srgbClr val="303030"/>
                </a:solidFill>
                <a:latin typeface="Poppins" panose="00000500000000000000" pitchFamily="2" charset="0"/>
              </a:rPr>
              <a:t> de qualité, partage sur les réseaux sociaux, création d’un blog, etc</a:t>
            </a:r>
            <a:r>
              <a:rPr lang="fr-FR" sz="2000" i="1" dirty="0">
                <a:solidFill>
                  <a:srgbClr val="303030"/>
                </a:solidFill>
                <a:latin typeface="Poppins" panose="00000500000000000000" pitchFamily="2" charset="0"/>
              </a:rPr>
              <a:t>.</a:t>
            </a:r>
            <a:endParaRPr lang="fr-FR" sz="1600" i="1" dirty="0"/>
          </a:p>
        </p:txBody>
      </p:sp>
      <p:pic>
        <p:nvPicPr>
          <p:cNvPr id="15362" name="Picture 2" descr="SEO Off Page : Qu'est-ce que c'est ? Comment l'utiliser ? - METADOSI">
            <a:extLst>
              <a:ext uri="{FF2B5EF4-FFF2-40B4-BE49-F238E27FC236}">
                <a16:creationId xmlns:a16="http://schemas.microsoft.com/office/drawing/2014/main" id="{935CA062-2660-83A2-BA86-379DB79E70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9627" y="3152135"/>
            <a:ext cx="4148987" cy="3084748"/>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Off-Page SEO Benefits?. Off-Page SEO is an abbreviation for… | by  Visualwebz | Seattle SEO | Medium">
            <a:extLst>
              <a:ext uri="{FF2B5EF4-FFF2-40B4-BE49-F238E27FC236}">
                <a16:creationId xmlns:a16="http://schemas.microsoft.com/office/drawing/2014/main" id="{02D00F98-1F82-1A8B-46BD-185DC1E8C3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2277" y="239226"/>
            <a:ext cx="3819525" cy="41762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0395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7A778A8E-7B4D-4778-A283-631837C6B0AC}"/>
              </a:ext>
            </a:extLst>
          </p:cNvPr>
          <p:cNvSpPr txBox="1">
            <a:spLocks/>
          </p:cNvSpPr>
          <p:nvPr/>
        </p:nvSpPr>
        <p:spPr>
          <a:xfrm>
            <a:off x="261777" y="445275"/>
            <a:ext cx="1025367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Les piliers du </a:t>
            </a:r>
            <a:r>
              <a:rPr lang="fr-FR" sz="6000" dirty="0" err="1">
                <a:solidFill>
                  <a:schemeClr val="tx1">
                    <a:lumMod val="85000"/>
                    <a:lumOff val="15000"/>
                  </a:schemeClr>
                </a:solidFill>
                <a:latin typeface="Bebas Neue" panose="020B0606020202050201" pitchFamily="34" charset="0"/>
              </a:rPr>
              <a:t>seo</a:t>
            </a:r>
            <a:endParaRPr lang="fr-FR" sz="6000" dirty="0">
              <a:solidFill>
                <a:schemeClr val="tx1">
                  <a:lumMod val="85000"/>
                  <a:lumOff val="15000"/>
                </a:schemeClr>
              </a:solidFill>
              <a:latin typeface="Bebas Neue" panose="020B0606020202050201" pitchFamily="34" charset="0"/>
            </a:endParaRPr>
          </a:p>
        </p:txBody>
      </p:sp>
      <p:sp>
        <p:nvSpPr>
          <p:cNvPr id="6" name="Titre 1">
            <a:extLst>
              <a:ext uri="{FF2B5EF4-FFF2-40B4-BE49-F238E27FC236}">
                <a16:creationId xmlns:a16="http://schemas.microsoft.com/office/drawing/2014/main" id="{648064E8-0149-4E0C-918F-EA82F107BEC2}"/>
              </a:ext>
            </a:extLst>
          </p:cNvPr>
          <p:cNvSpPr txBox="1">
            <a:spLocks/>
          </p:cNvSpPr>
          <p:nvPr/>
        </p:nvSpPr>
        <p:spPr>
          <a:xfrm>
            <a:off x="261777" y="1952209"/>
            <a:ext cx="6851404" cy="75028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6600" dirty="0">
                <a:solidFill>
                  <a:srgbClr val="303030"/>
                </a:solidFill>
                <a:latin typeface="Poppins" panose="00000500000000000000" pitchFamily="2" charset="0"/>
              </a:rPr>
              <a:t>2</a:t>
            </a:r>
            <a:r>
              <a:rPr lang="fr-FR" sz="6600" b="0" i="0" dirty="0">
                <a:solidFill>
                  <a:srgbClr val="303030"/>
                </a:solidFill>
                <a:effectLst/>
                <a:latin typeface="Poppins" panose="00000500000000000000" pitchFamily="2" charset="0"/>
              </a:rPr>
              <a:t>. off</a:t>
            </a:r>
            <a:r>
              <a:rPr lang="fr-FR" sz="6600" dirty="0">
                <a:solidFill>
                  <a:srgbClr val="303030"/>
                </a:solidFill>
                <a:latin typeface="Poppins" panose="00000500000000000000" pitchFamily="2" charset="0"/>
              </a:rPr>
              <a:t> page SEO</a:t>
            </a:r>
            <a:endParaRPr lang="fr-FR" sz="6600" dirty="0"/>
          </a:p>
        </p:txBody>
      </p:sp>
      <p:sp>
        <p:nvSpPr>
          <p:cNvPr id="12" name="Espace réservé du numéro de diapositive 11">
            <a:extLst>
              <a:ext uri="{FF2B5EF4-FFF2-40B4-BE49-F238E27FC236}">
                <a16:creationId xmlns:a16="http://schemas.microsoft.com/office/drawing/2014/main" id="{E15DC55F-ECFB-425B-A449-8AEC41865C1D}"/>
              </a:ext>
            </a:extLst>
          </p:cNvPr>
          <p:cNvSpPr>
            <a:spLocks noGrp="1"/>
          </p:cNvSpPr>
          <p:nvPr>
            <p:ph type="sldNum" sz="quarter" idx="12"/>
          </p:nvPr>
        </p:nvSpPr>
        <p:spPr/>
        <p:txBody>
          <a:bodyPr/>
          <a:lstStyle/>
          <a:p>
            <a:fld id="{B5C50E92-4701-4803-BF4A-1BCEAA5421B4}" type="slidenum">
              <a:rPr lang="fr-FR" smtClean="0"/>
              <a:t>16</a:t>
            </a:fld>
            <a:endParaRPr lang="fr-FR"/>
          </a:p>
        </p:txBody>
      </p:sp>
      <p:sp>
        <p:nvSpPr>
          <p:cNvPr id="3" name="Titre 1">
            <a:extLst>
              <a:ext uri="{FF2B5EF4-FFF2-40B4-BE49-F238E27FC236}">
                <a16:creationId xmlns:a16="http://schemas.microsoft.com/office/drawing/2014/main" id="{E137F22E-63EC-3E35-59E4-7E763CBB261D}"/>
              </a:ext>
            </a:extLst>
          </p:cNvPr>
          <p:cNvSpPr txBox="1">
            <a:spLocks/>
          </p:cNvSpPr>
          <p:nvPr/>
        </p:nvSpPr>
        <p:spPr>
          <a:xfrm>
            <a:off x="261777" y="4155512"/>
            <a:ext cx="8766109" cy="75028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Les techniques pour obtenir des </a:t>
            </a:r>
            <a:r>
              <a:rPr lang="fr-FR" sz="2000" dirty="0" err="1">
                <a:solidFill>
                  <a:srgbClr val="303030"/>
                </a:solidFill>
                <a:latin typeface="Poppins" panose="00000500000000000000" pitchFamily="2" charset="0"/>
              </a:rPr>
              <a:t>backlinks</a:t>
            </a:r>
            <a:r>
              <a:rPr lang="fr-FR" sz="2000" dirty="0">
                <a:solidFill>
                  <a:srgbClr val="303030"/>
                </a:solidFill>
                <a:latin typeface="Poppins" panose="00000500000000000000" pitchFamily="2" charset="0"/>
              </a:rPr>
              <a:t> (liens entrants) de qualité et améliorer l'autorité d'un site web</a:t>
            </a:r>
          </a:p>
          <a:p>
            <a:pPr marL="342900" indent="-342900">
              <a:buFont typeface="Arial" panose="020B0604020202020204" pitchFamily="34" charset="0"/>
              <a:buChar char="•"/>
            </a:pPr>
            <a:r>
              <a:rPr lang="fr-FR" sz="2000" dirty="0">
                <a:solidFill>
                  <a:srgbClr val="303030"/>
                </a:solidFill>
                <a:latin typeface="Poppins" panose="00000500000000000000" pitchFamily="2" charset="0"/>
              </a:rPr>
              <a:t>L'importance des signaux sociaux et de la réputation en ligne</a:t>
            </a:r>
          </a:p>
          <a:p>
            <a:pPr marL="342900" indent="-342900">
              <a:buFont typeface="Arial" panose="020B0604020202020204" pitchFamily="34" charset="0"/>
              <a:buChar char="•"/>
            </a:pPr>
            <a:r>
              <a:rPr lang="fr-FR" sz="2000" dirty="0">
                <a:solidFill>
                  <a:srgbClr val="303030"/>
                </a:solidFill>
                <a:latin typeface="Poppins" panose="00000500000000000000" pitchFamily="2" charset="0"/>
              </a:rPr>
              <a:t>Les stratégies pour développer la notoriété et la crédibilité d'un site web</a:t>
            </a:r>
            <a:endParaRPr lang="fr-FR" sz="1600" i="1" dirty="0"/>
          </a:p>
        </p:txBody>
      </p:sp>
    </p:spTree>
    <p:extLst>
      <p:ext uri="{BB962C8B-B14F-4D97-AF65-F5344CB8AC3E}">
        <p14:creationId xmlns:p14="http://schemas.microsoft.com/office/powerpoint/2010/main" val="1443238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7A778A8E-7B4D-4778-A283-631837C6B0AC}"/>
              </a:ext>
            </a:extLst>
          </p:cNvPr>
          <p:cNvSpPr txBox="1">
            <a:spLocks/>
          </p:cNvSpPr>
          <p:nvPr/>
        </p:nvSpPr>
        <p:spPr>
          <a:xfrm>
            <a:off x="697205" y="319088"/>
            <a:ext cx="1025367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6000" dirty="0">
                <a:solidFill>
                  <a:schemeClr val="tx1">
                    <a:lumMod val="85000"/>
                    <a:lumOff val="15000"/>
                  </a:schemeClr>
                </a:solidFill>
                <a:latin typeface="Bebas Neue" panose="020B0606020202050201" pitchFamily="34" charset="0"/>
              </a:rPr>
              <a:t>on page vs off page concrètement</a:t>
            </a:r>
          </a:p>
        </p:txBody>
      </p:sp>
      <p:sp>
        <p:nvSpPr>
          <p:cNvPr id="12" name="Espace réservé du numéro de diapositive 11">
            <a:extLst>
              <a:ext uri="{FF2B5EF4-FFF2-40B4-BE49-F238E27FC236}">
                <a16:creationId xmlns:a16="http://schemas.microsoft.com/office/drawing/2014/main" id="{E15DC55F-ECFB-425B-A449-8AEC41865C1D}"/>
              </a:ext>
            </a:extLst>
          </p:cNvPr>
          <p:cNvSpPr>
            <a:spLocks noGrp="1"/>
          </p:cNvSpPr>
          <p:nvPr>
            <p:ph type="sldNum" sz="quarter" idx="12"/>
          </p:nvPr>
        </p:nvSpPr>
        <p:spPr/>
        <p:txBody>
          <a:bodyPr/>
          <a:lstStyle/>
          <a:p>
            <a:fld id="{B5C50E92-4701-4803-BF4A-1BCEAA5421B4}" type="slidenum">
              <a:rPr lang="fr-FR" smtClean="0"/>
              <a:t>17</a:t>
            </a:fld>
            <a:endParaRPr lang="fr-FR"/>
          </a:p>
        </p:txBody>
      </p:sp>
      <p:pic>
        <p:nvPicPr>
          <p:cNvPr id="16388" name="Picture 4" descr="Off-Page SEO: What It Is &amp; Why You Need It [+a Helpful Checklist]">
            <a:extLst>
              <a:ext uri="{FF2B5EF4-FFF2-40B4-BE49-F238E27FC236}">
                <a16:creationId xmlns:a16="http://schemas.microsoft.com/office/drawing/2014/main" id="{8C0A6E53-5D54-6DCE-A88E-7D5F5EC25B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6975" y="1705050"/>
            <a:ext cx="7258050" cy="4833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57796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7A778A8E-7B4D-4778-A283-631837C6B0AC}"/>
              </a:ext>
            </a:extLst>
          </p:cNvPr>
          <p:cNvSpPr txBox="1">
            <a:spLocks/>
          </p:cNvSpPr>
          <p:nvPr/>
        </p:nvSpPr>
        <p:spPr>
          <a:xfrm>
            <a:off x="261777" y="445275"/>
            <a:ext cx="1025367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Les piliers du </a:t>
            </a:r>
            <a:r>
              <a:rPr lang="fr-FR" sz="6000" dirty="0" err="1">
                <a:solidFill>
                  <a:schemeClr val="tx1">
                    <a:lumMod val="85000"/>
                    <a:lumOff val="15000"/>
                  </a:schemeClr>
                </a:solidFill>
                <a:latin typeface="Bebas Neue" panose="020B0606020202050201" pitchFamily="34" charset="0"/>
              </a:rPr>
              <a:t>seo</a:t>
            </a:r>
            <a:endParaRPr lang="fr-FR" sz="6000" dirty="0">
              <a:solidFill>
                <a:schemeClr val="tx1">
                  <a:lumMod val="85000"/>
                  <a:lumOff val="15000"/>
                </a:schemeClr>
              </a:solidFill>
              <a:latin typeface="Bebas Neue" panose="020B0606020202050201" pitchFamily="34" charset="0"/>
            </a:endParaRPr>
          </a:p>
        </p:txBody>
      </p:sp>
      <p:sp>
        <p:nvSpPr>
          <p:cNvPr id="6" name="Titre 1">
            <a:extLst>
              <a:ext uri="{FF2B5EF4-FFF2-40B4-BE49-F238E27FC236}">
                <a16:creationId xmlns:a16="http://schemas.microsoft.com/office/drawing/2014/main" id="{648064E8-0149-4E0C-918F-EA82F107BEC2}"/>
              </a:ext>
            </a:extLst>
          </p:cNvPr>
          <p:cNvSpPr txBox="1">
            <a:spLocks/>
          </p:cNvSpPr>
          <p:nvPr/>
        </p:nvSpPr>
        <p:spPr>
          <a:xfrm>
            <a:off x="261777" y="1952209"/>
            <a:ext cx="6851404" cy="75028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6600" dirty="0">
                <a:solidFill>
                  <a:srgbClr val="303030"/>
                </a:solidFill>
                <a:latin typeface="Poppins" panose="00000500000000000000" pitchFamily="2" charset="0"/>
              </a:rPr>
              <a:t>3</a:t>
            </a:r>
            <a:r>
              <a:rPr lang="fr-FR" sz="6600" b="0" i="0" dirty="0">
                <a:solidFill>
                  <a:srgbClr val="303030"/>
                </a:solidFill>
                <a:effectLst/>
                <a:latin typeface="Poppins" panose="00000500000000000000" pitchFamily="2" charset="0"/>
              </a:rPr>
              <a:t>. </a:t>
            </a:r>
            <a:r>
              <a:rPr lang="fr-FR" sz="6600" b="0" i="0" dirty="0" err="1">
                <a:solidFill>
                  <a:srgbClr val="303030"/>
                </a:solidFill>
                <a:effectLst/>
                <a:latin typeface="Poppins" panose="00000500000000000000" pitchFamily="2" charset="0"/>
              </a:rPr>
              <a:t>technical</a:t>
            </a:r>
            <a:r>
              <a:rPr lang="fr-FR" sz="6600" b="0" i="0" dirty="0">
                <a:solidFill>
                  <a:srgbClr val="303030"/>
                </a:solidFill>
                <a:effectLst/>
                <a:latin typeface="Poppins" panose="00000500000000000000" pitchFamily="2" charset="0"/>
              </a:rPr>
              <a:t> </a:t>
            </a:r>
            <a:r>
              <a:rPr lang="fr-FR" sz="6600" dirty="0">
                <a:solidFill>
                  <a:srgbClr val="303030"/>
                </a:solidFill>
                <a:latin typeface="Poppins" panose="00000500000000000000" pitchFamily="2" charset="0"/>
              </a:rPr>
              <a:t>SEO</a:t>
            </a:r>
            <a:endParaRPr lang="fr-FR" sz="6600" dirty="0"/>
          </a:p>
        </p:txBody>
      </p:sp>
      <p:sp>
        <p:nvSpPr>
          <p:cNvPr id="12" name="Espace réservé du numéro de diapositive 11">
            <a:extLst>
              <a:ext uri="{FF2B5EF4-FFF2-40B4-BE49-F238E27FC236}">
                <a16:creationId xmlns:a16="http://schemas.microsoft.com/office/drawing/2014/main" id="{E15DC55F-ECFB-425B-A449-8AEC41865C1D}"/>
              </a:ext>
            </a:extLst>
          </p:cNvPr>
          <p:cNvSpPr>
            <a:spLocks noGrp="1"/>
          </p:cNvSpPr>
          <p:nvPr>
            <p:ph type="sldNum" sz="quarter" idx="12"/>
          </p:nvPr>
        </p:nvSpPr>
        <p:spPr/>
        <p:txBody>
          <a:bodyPr/>
          <a:lstStyle/>
          <a:p>
            <a:fld id="{B5C50E92-4701-4803-BF4A-1BCEAA5421B4}" type="slidenum">
              <a:rPr lang="fr-FR" smtClean="0"/>
              <a:t>18</a:t>
            </a:fld>
            <a:endParaRPr lang="fr-FR"/>
          </a:p>
        </p:txBody>
      </p:sp>
      <p:sp>
        <p:nvSpPr>
          <p:cNvPr id="2" name="Titre 1">
            <a:extLst>
              <a:ext uri="{FF2B5EF4-FFF2-40B4-BE49-F238E27FC236}">
                <a16:creationId xmlns:a16="http://schemas.microsoft.com/office/drawing/2014/main" id="{1F62A5A7-16D4-55A8-364D-B64386B5F7CE}"/>
              </a:ext>
            </a:extLst>
          </p:cNvPr>
          <p:cNvSpPr txBox="1">
            <a:spLocks/>
          </p:cNvSpPr>
          <p:nvPr/>
        </p:nvSpPr>
        <p:spPr>
          <a:xfrm>
            <a:off x="1071636" y="6090894"/>
            <a:ext cx="3857477" cy="448018"/>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algn="r"/>
            <a:r>
              <a:rPr lang="fr-FR" sz="2000" dirty="0">
                <a:solidFill>
                  <a:srgbClr val="303030"/>
                </a:solidFill>
                <a:latin typeface="Poppins" panose="00000500000000000000" pitchFamily="2" charset="0"/>
              </a:rPr>
              <a:t>les actions réalisées dans le but de permettre à Google de mieux crawler (analyser) le site.</a:t>
            </a:r>
          </a:p>
          <a:p>
            <a:pPr algn="r"/>
            <a:endParaRPr lang="fr-FR" sz="2000" i="1" dirty="0">
              <a:solidFill>
                <a:srgbClr val="303030"/>
              </a:solidFill>
              <a:latin typeface="Poppins" panose="00000500000000000000" pitchFamily="2" charset="0"/>
            </a:endParaRPr>
          </a:p>
          <a:p>
            <a:pPr algn="r"/>
            <a:r>
              <a:rPr lang="fr-FR" sz="2000" i="1" dirty="0">
                <a:solidFill>
                  <a:srgbClr val="303030"/>
                </a:solidFill>
                <a:latin typeface="Poppins" panose="00000500000000000000" pitchFamily="2" charset="0"/>
              </a:rPr>
              <a:t>optimisation du code, sécurisation du site, réduction de la vitesse de chargement, etc.</a:t>
            </a:r>
            <a:endParaRPr lang="fr-FR" sz="1600" i="1" dirty="0"/>
          </a:p>
        </p:txBody>
      </p:sp>
      <p:pic>
        <p:nvPicPr>
          <p:cNvPr id="17410" name="Picture 2" descr="Technical SEO Guides and Strategies - ContentKing Academy">
            <a:extLst>
              <a:ext uri="{FF2B5EF4-FFF2-40B4-BE49-F238E27FC236}">
                <a16:creationId xmlns:a16="http://schemas.microsoft.com/office/drawing/2014/main" id="{61D3CD8C-3E8C-71DD-D346-050786A3C1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8750" y="3219132"/>
            <a:ext cx="6953250" cy="3638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0597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7A778A8E-7B4D-4778-A283-631837C6B0AC}"/>
              </a:ext>
            </a:extLst>
          </p:cNvPr>
          <p:cNvSpPr txBox="1">
            <a:spLocks/>
          </p:cNvSpPr>
          <p:nvPr/>
        </p:nvSpPr>
        <p:spPr>
          <a:xfrm>
            <a:off x="261777" y="445275"/>
            <a:ext cx="1025367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Les piliers du </a:t>
            </a:r>
            <a:r>
              <a:rPr lang="fr-FR" sz="6000" dirty="0" err="1">
                <a:solidFill>
                  <a:schemeClr val="tx1">
                    <a:lumMod val="85000"/>
                    <a:lumOff val="15000"/>
                  </a:schemeClr>
                </a:solidFill>
                <a:latin typeface="Bebas Neue" panose="020B0606020202050201" pitchFamily="34" charset="0"/>
              </a:rPr>
              <a:t>seo</a:t>
            </a:r>
            <a:endParaRPr lang="fr-FR" sz="6000" dirty="0">
              <a:solidFill>
                <a:schemeClr val="tx1">
                  <a:lumMod val="85000"/>
                  <a:lumOff val="15000"/>
                </a:schemeClr>
              </a:solidFill>
              <a:latin typeface="Bebas Neue" panose="020B0606020202050201" pitchFamily="34" charset="0"/>
            </a:endParaRPr>
          </a:p>
        </p:txBody>
      </p:sp>
      <p:sp>
        <p:nvSpPr>
          <p:cNvPr id="6" name="Titre 1">
            <a:extLst>
              <a:ext uri="{FF2B5EF4-FFF2-40B4-BE49-F238E27FC236}">
                <a16:creationId xmlns:a16="http://schemas.microsoft.com/office/drawing/2014/main" id="{648064E8-0149-4E0C-918F-EA82F107BEC2}"/>
              </a:ext>
            </a:extLst>
          </p:cNvPr>
          <p:cNvSpPr txBox="1">
            <a:spLocks/>
          </p:cNvSpPr>
          <p:nvPr/>
        </p:nvSpPr>
        <p:spPr>
          <a:xfrm>
            <a:off x="261777" y="1952209"/>
            <a:ext cx="6851404" cy="75028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6600" dirty="0">
                <a:solidFill>
                  <a:srgbClr val="303030"/>
                </a:solidFill>
                <a:latin typeface="Poppins" panose="00000500000000000000" pitchFamily="2" charset="0"/>
              </a:rPr>
              <a:t>3</a:t>
            </a:r>
            <a:r>
              <a:rPr lang="fr-FR" sz="6600" b="0" i="0" dirty="0">
                <a:solidFill>
                  <a:srgbClr val="303030"/>
                </a:solidFill>
                <a:effectLst/>
                <a:latin typeface="Poppins" panose="00000500000000000000" pitchFamily="2" charset="0"/>
              </a:rPr>
              <a:t>. </a:t>
            </a:r>
            <a:r>
              <a:rPr lang="fr-FR" sz="6600" b="0" i="0" dirty="0" err="1">
                <a:solidFill>
                  <a:srgbClr val="303030"/>
                </a:solidFill>
                <a:effectLst/>
                <a:latin typeface="Poppins" panose="00000500000000000000" pitchFamily="2" charset="0"/>
              </a:rPr>
              <a:t>technical</a:t>
            </a:r>
            <a:r>
              <a:rPr lang="fr-FR" sz="6600" b="0" i="0" dirty="0">
                <a:solidFill>
                  <a:srgbClr val="303030"/>
                </a:solidFill>
                <a:effectLst/>
                <a:latin typeface="Poppins" panose="00000500000000000000" pitchFamily="2" charset="0"/>
              </a:rPr>
              <a:t> </a:t>
            </a:r>
            <a:r>
              <a:rPr lang="fr-FR" sz="6600" dirty="0">
                <a:solidFill>
                  <a:srgbClr val="303030"/>
                </a:solidFill>
                <a:latin typeface="Poppins" panose="00000500000000000000" pitchFamily="2" charset="0"/>
              </a:rPr>
              <a:t>SEO</a:t>
            </a:r>
            <a:endParaRPr lang="fr-FR" sz="6600" dirty="0"/>
          </a:p>
        </p:txBody>
      </p:sp>
      <p:sp>
        <p:nvSpPr>
          <p:cNvPr id="12" name="Espace réservé du numéro de diapositive 11">
            <a:extLst>
              <a:ext uri="{FF2B5EF4-FFF2-40B4-BE49-F238E27FC236}">
                <a16:creationId xmlns:a16="http://schemas.microsoft.com/office/drawing/2014/main" id="{E15DC55F-ECFB-425B-A449-8AEC41865C1D}"/>
              </a:ext>
            </a:extLst>
          </p:cNvPr>
          <p:cNvSpPr>
            <a:spLocks noGrp="1"/>
          </p:cNvSpPr>
          <p:nvPr>
            <p:ph type="sldNum" sz="quarter" idx="12"/>
          </p:nvPr>
        </p:nvSpPr>
        <p:spPr/>
        <p:txBody>
          <a:bodyPr/>
          <a:lstStyle/>
          <a:p>
            <a:fld id="{B5C50E92-4701-4803-BF4A-1BCEAA5421B4}" type="slidenum">
              <a:rPr lang="fr-FR" smtClean="0"/>
              <a:t>19</a:t>
            </a:fld>
            <a:endParaRPr lang="fr-FR"/>
          </a:p>
        </p:txBody>
      </p:sp>
      <p:sp>
        <p:nvSpPr>
          <p:cNvPr id="2" name="Titre 1">
            <a:extLst>
              <a:ext uri="{FF2B5EF4-FFF2-40B4-BE49-F238E27FC236}">
                <a16:creationId xmlns:a16="http://schemas.microsoft.com/office/drawing/2014/main" id="{1F62A5A7-16D4-55A8-364D-B64386B5F7CE}"/>
              </a:ext>
            </a:extLst>
          </p:cNvPr>
          <p:cNvSpPr txBox="1">
            <a:spLocks/>
          </p:cNvSpPr>
          <p:nvPr/>
        </p:nvSpPr>
        <p:spPr>
          <a:xfrm>
            <a:off x="456840" y="5074894"/>
            <a:ext cx="6461278" cy="448018"/>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L'optimisation de la vitesse de chargement des pages et de la compatibilité mobile</a:t>
            </a:r>
          </a:p>
          <a:p>
            <a:pPr marL="342900" indent="-342900">
              <a:buFont typeface="Arial" panose="020B0604020202020204" pitchFamily="34" charset="0"/>
              <a:buChar char="•"/>
            </a:pPr>
            <a:r>
              <a:rPr lang="fr-FR" sz="2000" dirty="0">
                <a:solidFill>
                  <a:srgbClr val="303030"/>
                </a:solidFill>
                <a:latin typeface="Poppins" panose="00000500000000000000" pitchFamily="2" charset="0"/>
              </a:rPr>
              <a:t>La gestion des erreurs, des redirections et de la structure des URL</a:t>
            </a:r>
          </a:p>
          <a:p>
            <a:pPr marL="342900" indent="-342900">
              <a:buFont typeface="Arial" panose="020B0604020202020204" pitchFamily="34" charset="0"/>
              <a:buChar char="•"/>
            </a:pPr>
            <a:r>
              <a:rPr lang="fr-FR" sz="2000" dirty="0">
                <a:solidFill>
                  <a:srgbClr val="303030"/>
                </a:solidFill>
                <a:latin typeface="Poppins" panose="00000500000000000000" pitchFamily="2" charset="0"/>
              </a:rPr>
              <a:t>L'importance de l'indexation, du </a:t>
            </a:r>
            <a:r>
              <a:rPr lang="fr-FR" sz="2000" dirty="0" err="1">
                <a:solidFill>
                  <a:srgbClr val="303030"/>
                </a:solidFill>
                <a:latin typeface="Poppins" panose="00000500000000000000" pitchFamily="2" charset="0"/>
              </a:rPr>
              <a:t>crawling</a:t>
            </a:r>
            <a:r>
              <a:rPr lang="fr-FR" sz="2000" dirty="0">
                <a:solidFill>
                  <a:srgbClr val="303030"/>
                </a:solidFill>
                <a:latin typeface="Poppins" panose="00000500000000000000" pitchFamily="2" charset="0"/>
              </a:rPr>
              <a:t> et de la sécurité du site web</a:t>
            </a:r>
            <a:endParaRPr lang="fr-FR" sz="1600" i="1" dirty="0"/>
          </a:p>
        </p:txBody>
      </p:sp>
    </p:spTree>
    <p:extLst>
      <p:ext uri="{BB962C8B-B14F-4D97-AF65-F5344CB8AC3E}">
        <p14:creationId xmlns:p14="http://schemas.microsoft.com/office/powerpoint/2010/main" val="1071063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7A778A8E-7B4D-4778-A283-631837C6B0AC}"/>
              </a:ext>
            </a:extLst>
          </p:cNvPr>
          <p:cNvSpPr txBox="1">
            <a:spLocks/>
          </p:cNvSpPr>
          <p:nvPr/>
        </p:nvSpPr>
        <p:spPr>
          <a:xfrm>
            <a:off x="589478" y="3293978"/>
            <a:ext cx="10432472"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3900" dirty="0">
                <a:solidFill>
                  <a:schemeClr val="bg1"/>
                </a:solidFill>
                <a:latin typeface="Bebas Neue" panose="020B0606020202050201" pitchFamily="34" charset="0"/>
              </a:rPr>
              <a:t>quizz </a:t>
            </a:r>
          </a:p>
          <a:p>
            <a:r>
              <a:rPr lang="fr-FR" sz="23900" dirty="0">
                <a:solidFill>
                  <a:schemeClr val="bg1"/>
                </a:solidFill>
                <a:latin typeface="Bebas Neue" panose="020B0606020202050201" pitchFamily="34" charset="0"/>
              </a:rPr>
              <a:t>		time</a:t>
            </a:r>
          </a:p>
        </p:txBody>
      </p:sp>
      <p:sp>
        <p:nvSpPr>
          <p:cNvPr id="12" name="Espace réservé du numéro de diapositive 11">
            <a:extLst>
              <a:ext uri="{FF2B5EF4-FFF2-40B4-BE49-F238E27FC236}">
                <a16:creationId xmlns:a16="http://schemas.microsoft.com/office/drawing/2014/main" id="{E15DC55F-ECFB-425B-A449-8AEC41865C1D}"/>
              </a:ext>
            </a:extLst>
          </p:cNvPr>
          <p:cNvSpPr>
            <a:spLocks noGrp="1"/>
          </p:cNvSpPr>
          <p:nvPr>
            <p:ph type="sldNum" sz="quarter" idx="12"/>
          </p:nvPr>
        </p:nvSpPr>
        <p:spPr/>
        <p:txBody>
          <a:bodyPr/>
          <a:lstStyle/>
          <a:p>
            <a:fld id="{B5C50E92-4701-4803-BF4A-1BCEAA5421B4}" type="slidenum">
              <a:rPr lang="fr-FR" smtClean="0">
                <a:solidFill>
                  <a:schemeClr val="bg1"/>
                </a:solidFill>
              </a:rPr>
              <a:t>20</a:t>
            </a:fld>
            <a:endParaRPr lang="fr-FR">
              <a:solidFill>
                <a:schemeClr val="bg1"/>
              </a:solidFill>
            </a:endParaRPr>
          </a:p>
        </p:txBody>
      </p:sp>
      <p:cxnSp>
        <p:nvCxnSpPr>
          <p:cNvPr id="7" name="Connecteur droit 6">
            <a:extLst>
              <a:ext uri="{FF2B5EF4-FFF2-40B4-BE49-F238E27FC236}">
                <a16:creationId xmlns:a16="http://schemas.microsoft.com/office/drawing/2014/main" id="{22308384-CE62-22BB-6307-D5A390F09F2B}"/>
              </a:ext>
            </a:extLst>
          </p:cNvPr>
          <p:cNvCxnSpPr>
            <a:cxnSpLocks/>
          </p:cNvCxnSpPr>
          <p:nvPr/>
        </p:nvCxnSpPr>
        <p:spPr>
          <a:xfrm flipH="1">
            <a:off x="7323941" y="3437994"/>
            <a:ext cx="3920837"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419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7A778A8E-7B4D-4778-A283-631837C6B0AC}"/>
              </a:ext>
            </a:extLst>
          </p:cNvPr>
          <p:cNvSpPr txBox="1">
            <a:spLocks/>
          </p:cNvSpPr>
          <p:nvPr/>
        </p:nvSpPr>
        <p:spPr>
          <a:xfrm>
            <a:off x="1005279" y="1409778"/>
            <a:ext cx="10432472"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8800" dirty="0">
                <a:solidFill>
                  <a:schemeClr val="bg1"/>
                </a:solidFill>
                <a:latin typeface="Bebas Neue" panose="020B0606020202050201" pitchFamily="34" charset="0"/>
              </a:rPr>
              <a:t>Qu'est-ce qu'un </a:t>
            </a:r>
            <a:r>
              <a:rPr lang="fr-FR" sz="8800" dirty="0" err="1">
                <a:solidFill>
                  <a:schemeClr val="bg1"/>
                </a:solidFill>
                <a:latin typeface="Bebas Neue" panose="020B0606020202050201" pitchFamily="34" charset="0"/>
              </a:rPr>
              <a:t>backlink</a:t>
            </a:r>
            <a:r>
              <a:rPr lang="fr-FR" sz="8800" dirty="0">
                <a:solidFill>
                  <a:schemeClr val="bg1"/>
                </a:solidFill>
                <a:latin typeface="Bebas Neue" panose="020B0606020202050201" pitchFamily="34" charset="0"/>
              </a:rPr>
              <a:t> ?</a:t>
            </a:r>
          </a:p>
        </p:txBody>
      </p:sp>
      <p:sp>
        <p:nvSpPr>
          <p:cNvPr id="12" name="Espace réservé du numéro de diapositive 11">
            <a:extLst>
              <a:ext uri="{FF2B5EF4-FFF2-40B4-BE49-F238E27FC236}">
                <a16:creationId xmlns:a16="http://schemas.microsoft.com/office/drawing/2014/main" id="{E15DC55F-ECFB-425B-A449-8AEC41865C1D}"/>
              </a:ext>
            </a:extLst>
          </p:cNvPr>
          <p:cNvSpPr>
            <a:spLocks noGrp="1"/>
          </p:cNvSpPr>
          <p:nvPr>
            <p:ph type="sldNum" sz="quarter" idx="12"/>
          </p:nvPr>
        </p:nvSpPr>
        <p:spPr/>
        <p:txBody>
          <a:bodyPr/>
          <a:lstStyle/>
          <a:p>
            <a:fld id="{B5C50E92-4701-4803-BF4A-1BCEAA5421B4}" type="slidenum">
              <a:rPr lang="fr-FR" smtClean="0">
                <a:solidFill>
                  <a:schemeClr val="bg1"/>
                </a:solidFill>
              </a:rPr>
              <a:t>21</a:t>
            </a:fld>
            <a:endParaRPr lang="fr-FR">
              <a:solidFill>
                <a:schemeClr val="bg1"/>
              </a:solidFill>
            </a:endParaRPr>
          </a:p>
        </p:txBody>
      </p:sp>
      <p:sp>
        <p:nvSpPr>
          <p:cNvPr id="2" name="Titre 1">
            <a:extLst>
              <a:ext uri="{FF2B5EF4-FFF2-40B4-BE49-F238E27FC236}">
                <a16:creationId xmlns:a16="http://schemas.microsoft.com/office/drawing/2014/main" id="{BE2C97CA-31FF-8D84-2250-5F2C917F640A}"/>
              </a:ext>
            </a:extLst>
          </p:cNvPr>
          <p:cNvSpPr txBox="1">
            <a:spLocks/>
          </p:cNvSpPr>
          <p:nvPr/>
        </p:nvSpPr>
        <p:spPr>
          <a:xfrm>
            <a:off x="779320" y="4176667"/>
            <a:ext cx="4481944"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dirty="0">
                <a:solidFill>
                  <a:schemeClr val="bg1"/>
                </a:solidFill>
                <a:latin typeface="Bebas Neue" panose="020B0606020202050201" pitchFamily="34" charset="0"/>
              </a:rPr>
              <a:t>Un lien vers votre site Web provenant d'un autre site Web</a:t>
            </a:r>
          </a:p>
        </p:txBody>
      </p:sp>
      <p:sp>
        <p:nvSpPr>
          <p:cNvPr id="3" name="Titre 1">
            <a:extLst>
              <a:ext uri="{FF2B5EF4-FFF2-40B4-BE49-F238E27FC236}">
                <a16:creationId xmlns:a16="http://schemas.microsoft.com/office/drawing/2014/main" id="{246C7761-3D52-4F03-8B2D-BBD2488D90BD}"/>
              </a:ext>
            </a:extLst>
          </p:cNvPr>
          <p:cNvSpPr txBox="1">
            <a:spLocks/>
          </p:cNvSpPr>
          <p:nvPr/>
        </p:nvSpPr>
        <p:spPr>
          <a:xfrm>
            <a:off x="6958445" y="4176667"/>
            <a:ext cx="5257800"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dirty="0">
                <a:solidFill>
                  <a:schemeClr val="bg1"/>
                </a:solidFill>
                <a:latin typeface="Bebas Neue" panose="020B0606020202050201" pitchFamily="34" charset="0"/>
              </a:rPr>
              <a:t>Un lien vers un autre site Web à partir de votre site Web</a:t>
            </a:r>
          </a:p>
        </p:txBody>
      </p:sp>
      <p:sp>
        <p:nvSpPr>
          <p:cNvPr id="4" name="Titre 1">
            <a:extLst>
              <a:ext uri="{FF2B5EF4-FFF2-40B4-BE49-F238E27FC236}">
                <a16:creationId xmlns:a16="http://schemas.microsoft.com/office/drawing/2014/main" id="{7A6E8C97-B113-11FE-0B5A-0096C84AB05E}"/>
              </a:ext>
            </a:extLst>
          </p:cNvPr>
          <p:cNvSpPr txBox="1">
            <a:spLocks/>
          </p:cNvSpPr>
          <p:nvPr/>
        </p:nvSpPr>
        <p:spPr>
          <a:xfrm>
            <a:off x="5261264" y="4390934"/>
            <a:ext cx="1281544"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7200" dirty="0">
                <a:solidFill>
                  <a:schemeClr val="bg1"/>
                </a:solidFill>
                <a:latin typeface="Bebas Neue" panose="020B0606020202050201" pitchFamily="34" charset="0"/>
              </a:rPr>
              <a:t>ou</a:t>
            </a:r>
          </a:p>
        </p:txBody>
      </p:sp>
      <p:cxnSp>
        <p:nvCxnSpPr>
          <p:cNvPr id="7" name="Connecteur droit 6">
            <a:extLst>
              <a:ext uri="{FF2B5EF4-FFF2-40B4-BE49-F238E27FC236}">
                <a16:creationId xmlns:a16="http://schemas.microsoft.com/office/drawing/2014/main" id="{22308384-CE62-22BB-6307-D5A390F09F2B}"/>
              </a:ext>
            </a:extLst>
          </p:cNvPr>
          <p:cNvCxnSpPr>
            <a:cxnSpLocks/>
          </p:cNvCxnSpPr>
          <p:nvPr/>
        </p:nvCxnSpPr>
        <p:spPr>
          <a:xfrm flipH="1">
            <a:off x="551543" y="5805377"/>
            <a:ext cx="3920837"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9743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7A778A8E-7B4D-4778-A283-631837C6B0AC}"/>
              </a:ext>
            </a:extLst>
          </p:cNvPr>
          <p:cNvSpPr txBox="1">
            <a:spLocks/>
          </p:cNvSpPr>
          <p:nvPr/>
        </p:nvSpPr>
        <p:spPr>
          <a:xfrm>
            <a:off x="879764" y="1409778"/>
            <a:ext cx="10432472"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8800" dirty="0">
                <a:solidFill>
                  <a:schemeClr val="bg1"/>
                </a:solidFill>
                <a:latin typeface="Bebas Neue" panose="020B0606020202050201" pitchFamily="34" charset="0"/>
              </a:rPr>
              <a:t>Quels sont les deux types de SEO ?</a:t>
            </a:r>
          </a:p>
        </p:txBody>
      </p:sp>
      <p:sp>
        <p:nvSpPr>
          <p:cNvPr id="12" name="Espace réservé du numéro de diapositive 11">
            <a:extLst>
              <a:ext uri="{FF2B5EF4-FFF2-40B4-BE49-F238E27FC236}">
                <a16:creationId xmlns:a16="http://schemas.microsoft.com/office/drawing/2014/main" id="{E15DC55F-ECFB-425B-A449-8AEC41865C1D}"/>
              </a:ext>
            </a:extLst>
          </p:cNvPr>
          <p:cNvSpPr>
            <a:spLocks noGrp="1"/>
          </p:cNvSpPr>
          <p:nvPr>
            <p:ph type="sldNum" sz="quarter" idx="12"/>
          </p:nvPr>
        </p:nvSpPr>
        <p:spPr/>
        <p:txBody>
          <a:bodyPr/>
          <a:lstStyle/>
          <a:p>
            <a:fld id="{B5C50E92-4701-4803-BF4A-1BCEAA5421B4}" type="slidenum">
              <a:rPr lang="fr-FR" smtClean="0">
                <a:solidFill>
                  <a:schemeClr val="bg1"/>
                </a:solidFill>
              </a:rPr>
              <a:t>22</a:t>
            </a:fld>
            <a:endParaRPr lang="fr-FR">
              <a:solidFill>
                <a:schemeClr val="bg1"/>
              </a:solidFill>
            </a:endParaRPr>
          </a:p>
        </p:txBody>
      </p:sp>
      <p:sp>
        <p:nvSpPr>
          <p:cNvPr id="2" name="Titre 1">
            <a:extLst>
              <a:ext uri="{FF2B5EF4-FFF2-40B4-BE49-F238E27FC236}">
                <a16:creationId xmlns:a16="http://schemas.microsoft.com/office/drawing/2014/main" id="{BE2C97CA-31FF-8D84-2250-5F2C917F640A}"/>
              </a:ext>
            </a:extLst>
          </p:cNvPr>
          <p:cNvSpPr txBox="1">
            <a:spLocks/>
          </p:cNvSpPr>
          <p:nvPr/>
        </p:nvSpPr>
        <p:spPr>
          <a:xfrm>
            <a:off x="363683" y="4176667"/>
            <a:ext cx="4481944"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600" dirty="0" err="1">
                <a:solidFill>
                  <a:schemeClr val="bg1"/>
                </a:solidFill>
                <a:latin typeface="Bebas Neue" panose="020B0606020202050201" pitchFamily="34" charset="0"/>
              </a:rPr>
              <a:t>sEO</a:t>
            </a:r>
            <a:r>
              <a:rPr lang="fr-FR" sz="6600" dirty="0">
                <a:solidFill>
                  <a:schemeClr val="bg1"/>
                </a:solidFill>
                <a:latin typeface="Bebas Neue" panose="020B0606020202050201" pitchFamily="34" charset="0"/>
              </a:rPr>
              <a:t> on-page</a:t>
            </a:r>
          </a:p>
          <a:p>
            <a:r>
              <a:rPr lang="fr-FR" sz="6600" dirty="0">
                <a:solidFill>
                  <a:schemeClr val="bg1"/>
                </a:solidFill>
                <a:latin typeface="Bebas Neue" panose="020B0606020202050201" pitchFamily="34" charset="0"/>
              </a:rPr>
              <a:t>et SEO off-page</a:t>
            </a:r>
          </a:p>
        </p:txBody>
      </p:sp>
      <p:sp>
        <p:nvSpPr>
          <p:cNvPr id="3" name="Titre 1">
            <a:extLst>
              <a:ext uri="{FF2B5EF4-FFF2-40B4-BE49-F238E27FC236}">
                <a16:creationId xmlns:a16="http://schemas.microsoft.com/office/drawing/2014/main" id="{246C7761-3D52-4F03-8B2D-BBD2488D90BD}"/>
              </a:ext>
            </a:extLst>
          </p:cNvPr>
          <p:cNvSpPr txBox="1">
            <a:spLocks/>
          </p:cNvSpPr>
          <p:nvPr/>
        </p:nvSpPr>
        <p:spPr>
          <a:xfrm>
            <a:off x="6958445" y="4176667"/>
            <a:ext cx="5257800"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11500" dirty="0">
                <a:solidFill>
                  <a:schemeClr val="bg1"/>
                </a:solidFill>
                <a:latin typeface="Bebas Neue" panose="020B0606020202050201" pitchFamily="34" charset="0"/>
              </a:rPr>
              <a:t>SEO et SEA</a:t>
            </a:r>
          </a:p>
        </p:txBody>
      </p:sp>
      <p:sp>
        <p:nvSpPr>
          <p:cNvPr id="4" name="Titre 1">
            <a:extLst>
              <a:ext uri="{FF2B5EF4-FFF2-40B4-BE49-F238E27FC236}">
                <a16:creationId xmlns:a16="http://schemas.microsoft.com/office/drawing/2014/main" id="{7A6E8C97-B113-11FE-0B5A-0096C84AB05E}"/>
              </a:ext>
            </a:extLst>
          </p:cNvPr>
          <p:cNvSpPr txBox="1">
            <a:spLocks/>
          </p:cNvSpPr>
          <p:nvPr/>
        </p:nvSpPr>
        <p:spPr>
          <a:xfrm>
            <a:off x="5261264" y="4390934"/>
            <a:ext cx="1281544"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7200" dirty="0">
                <a:solidFill>
                  <a:schemeClr val="bg1"/>
                </a:solidFill>
                <a:latin typeface="Bebas Neue" panose="020B0606020202050201" pitchFamily="34" charset="0"/>
              </a:rPr>
              <a:t>ou</a:t>
            </a:r>
          </a:p>
        </p:txBody>
      </p:sp>
      <p:cxnSp>
        <p:nvCxnSpPr>
          <p:cNvPr id="7" name="Connecteur droit 6">
            <a:extLst>
              <a:ext uri="{FF2B5EF4-FFF2-40B4-BE49-F238E27FC236}">
                <a16:creationId xmlns:a16="http://schemas.microsoft.com/office/drawing/2014/main" id="{22308384-CE62-22BB-6307-D5A390F09F2B}"/>
              </a:ext>
            </a:extLst>
          </p:cNvPr>
          <p:cNvCxnSpPr>
            <a:cxnSpLocks/>
          </p:cNvCxnSpPr>
          <p:nvPr/>
        </p:nvCxnSpPr>
        <p:spPr>
          <a:xfrm flipH="1">
            <a:off x="467756" y="5636907"/>
            <a:ext cx="3920837"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9685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7A778A8E-7B4D-4778-A283-631837C6B0AC}"/>
              </a:ext>
            </a:extLst>
          </p:cNvPr>
          <p:cNvSpPr txBox="1">
            <a:spLocks/>
          </p:cNvSpPr>
          <p:nvPr/>
        </p:nvSpPr>
        <p:spPr>
          <a:xfrm>
            <a:off x="879764" y="1409778"/>
            <a:ext cx="10432472"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8800" dirty="0">
                <a:solidFill>
                  <a:schemeClr val="bg1"/>
                </a:solidFill>
                <a:latin typeface="Bebas Neue" panose="020B0606020202050201" pitchFamily="34" charset="0"/>
              </a:rPr>
              <a:t>le backlinking c’est du :</a:t>
            </a:r>
          </a:p>
        </p:txBody>
      </p:sp>
      <p:sp>
        <p:nvSpPr>
          <p:cNvPr id="12" name="Espace réservé du numéro de diapositive 11">
            <a:extLst>
              <a:ext uri="{FF2B5EF4-FFF2-40B4-BE49-F238E27FC236}">
                <a16:creationId xmlns:a16="http://schemas.microsoft.com/office/drawing/2014/main" id="{E15DC55F-ECFB-425B-A449-8AEC41865C1D}"/>
              </a:ext>
            </a:extLst>
          </p:cNvPr>
          <p:cNvSpPr>
            <a:spLocks noGrp="1"/>
          </p:cNvSpPr>
          <p:nvPr>
            <p:ph type="sldNum" sz="quarter" idx="12"/>
          </p:nvPr>
        </p:nvSpPr>
        <p:spPr/>
        <p:txBody>
          <a:bodyPr/>
          <a:lstStyle/>
          <a:p>
            <a:fld id="{B5C50E92-4701-4803-BF4A-1BCEAA5421B4}" type="slidenum">
              <a:rPr lang="fr-FR" smtClean="0">
                <a:solidFill>
                  <a:schemeClr val="bg1"/>
                </a:solidFill>
              </a:rPr>
              <a:t>23</a:t>
            </a:fld>
            <a:endParaRPr lang="fr-FR">
              <a:solidFill>
                <a:schemeClr val="bg1"/>
              </a:solidFill>
            </a:endParaRPr>
          </a:p>
        </p:txBody>
      </p:sp>
      <p:sp>
        <p:nvSpPr>
          <p:cNvPr id="2" name="Titre 1">
            <a:extLst>
              <a:ext uri="{FF2B5EF4-FFF2-40B4-BE49-F238E27FC236}">
                <a16:creationId xmlns:a16="http://schemas.microsoft.com/office/drawing/2014/main" id="{BE2C97CA-31FF-8D84-2250-5F2C917F640A}"/>
              </a:ext>
            </a:extLst>
          </p:cNvPr>
          <p:cNvSpPr txBox="1">
            <a:spLocks/>
          </p:cNvSpPr>
          <p:nvPr/>
        </p:nvSpPr>
        <p:spPr>
          <a:xfrm>
            <a:off x="363683" y="4176667"/>
            <a:ext cx="4481944"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600" dirty="0" err="1">
                <a:solidFill>
                  <a:schemeClr val="bg1"/>
                </a:solidFill>
                <a:latin typeface="Bebas Neue" panose="020B0606020202050201" pitchFamily="34" charset="0"/>
              </a:rPr>
              <a:t>sEO</a:t>
            </a:r>
            <a:r>
              <a:rPr lang="fr-FR" sz="6600" dirty="0">
                <a:solidFill>
                  <a:schemeClr val="bg1"/>
                </a:solidFill>
                <a:latin typeface="Bebas Neue" panose="020B0606020202050201" pitchFamily="34" charset="0"/>
              </a:rPr>
              <a:t> on-page</a:t>
            </a:r>
          </a:p>
        </p:txBody>
      </p:sp>
      <p:sp>
        <p:nvSpPr>
          <p:cNvPr id="3" name="Titre 1">
            <a:extLst>
              <a:ext uri="{FF2B5EF4-FFF2-40B4-BE49-F238E27FC236}">
                <a16:creationId xmlns:a16="http://schemas.microsoft.com/office/drawing/2014/main" id="{246C7761-3D52-4F03-8B2D-BBD2488D90BD}"/>
              </a:ext>
            </a:extLst>
          </p:cNvPr>
          <p:cNvSpPr txBox="1">
            <a:spLocks/>
          </p:cNvSpPr>
          <p:nvPr/>
        </p:nvSpPr>
        <p:spPr>
          <a:xfrm>
            <a:off x="6958445" y="4176667"/>
            <a:ext cx="5257800"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7200" dirty="0">
                <a:solidFill>
                  <a:schemeClr val="bg1"/>
                </a:solidFill>
                <a:latin typeface="Bebas Neue" panose="020B0606020202050201" pitchFamily="34" charset="0"/>
              </a:rPr>
              <a:t>SEO off-page</a:t>
            </a:r>
            <a:endParaRPr lang="fr-FR" sz="8000" dirty="0">
              <a:solidFill>
                <a:schemeClr val="bg1"/>
              </a:solidFill>
              <a:latin typeface="Bebas Neue" panose="020B0606020202050201" pitchFamily="34" charset="0"/>
            </a:endParaRPr>
          </a:p>
        </p:txBody>
      </p:sp>
      <p:sp>
        <p:nvSpPr>
          <p:cNvPr id="4" name="Titre 1">
            <a:extLst>
              <a:ext uri="{FF2B5EF4-FFF2-40B4-BE49-F238E27FC236}">
                <a16:creationId xmlns:a16="http://schemas.microsoft.com/office/drawing/2014/main" id="{7A6E8C97-B113-11FE-0B5A-0096C84AB05E}"/>
              </a:ext>
            </a:extLst>
          </p:cNvPr>
          <p:cNvSpPr txBox="1">
            <a:spLocks/>
          </p:cNvSpPr>
          <p:nvPr/>
        </p:nvSpPr>
        <p:spPr>
          <a:xfrm>
            <a:off x="5261264" y="4390934"/>
            <a:ext cx="1281544"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7200" dirty="0">
                <a:solidFill>
                  <a:schemeClr val="bg1"/>
                </a:solidFill>
                <a:latin typeface="Bebas Neue" panose="020B0606020202050201" pitchFamily="34" charset="0"/>
              </a:rPr>
              <a:t>ou</a:t>
            </a:r>
          </a:p>
        </p:txBody>
      </p:sp>
      <p:cxnSp>
        <p:nvCxnSpPr>
          <p:cNvPr id="7" name="Connecteur droit 6">
            <a:extLst>
              <a:ext uri="{FF2B5EF4-FFF2-40B4-BE49-F238E27FC236}">
                <a16:creationId xmlns:a16="http://schemas.microsoft.com/office/drawing/2014/main" id="{22308384-CE62-22BB-6307-D5A390F09F2B}"/>
              </a:ext>
            </a:extLst>
          </p:cNvPr>
          <p:cNvCxnSpPr>
            <a:cxnSpLocks/>
          </p:cNvCxnSpPr>
          <p:nvPr/>
        </p:nvCxnSpPr>
        <p:spPr>
          <a:xfrm flipH="1">
            <a:off x="6958445" y="5438308"/>
            <a:ext cx="3920837"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1893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7A778A8E-7B4D-4778-A283-631837C6B0AC}"/>
              </a:ext>
            </a:extLst>
          </p:cNvPr>
          <p:cNvSpPr txBox="1">
            <a:spLocks/>
          </p:cNvSpPr>
          <p:nvPr/>
        </p:nvSpPr>
        <p:spPr>
          <a:xfrm>
            <a:off x="879764" y="1409778"/>
            <a:ext cx="10432472"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8800" dirty="0">
                <a:solidFill>
                  <a:schemeClr val="bg1"/>
                </a:solidFill>
                <a:latin typeface="Bebas Neue" panose="020B0606020202050201" pitchFamily="34" charset="0"/>
              </a:rPr>
              <a:t>Quel est l'objectif du SEO ?</a:t>
            </a:r>
          </a:p>
        </p:txBody>
      </p:sp>
      <p:sp>
        <p:nvSpPr>
          <p:cNvPr id="12" name="Espace réservé du numéro de diapositive 11">
            <a:extLst>
              <a:ext uri="{FF2B5EF4-FFF2-40B4-BE49-F238E27FC236}">
                <a16:creationId xmlns:a16="http://schemas.microsoft.com/office/drawing/2014/main" id="{E15DC55F-ECFB-425B-A449-8AEC41865C1D}"/>
              </a:ext>
            </a:extLst>
          </p:cNvPr>
          <p:cNvSpPr>
            <a:spLocks noGrp="1"/>
          </p:cNvSpPr>
          <p:nvPr>
            <p:ph type="sldNum" sz="quarter" idx="12"/>
          </p:nvPr>
        </p:nvSpPr>
        <p:spPr/>
        <p:txBody>
          <a:bodyPr/>
          <a:lstStyle/>
          <a:p>
            <a:fld id="{B5C50E92-4701-4803-BF4A-1BCEAA5421B4}" type="slidenum">
              <a:rPr lang="fr-FR" smtClean="0">
                <a:solidFill>
                  <a:schemeClr val="bg1"/>
                </a:solidFill>
              </a:rPr>
              <a:t>24</a:t>
            </a:fld>
            <a:endParaRPr lang="fr-FR">
              <a:solidFill>
                <a:schemeClr val="bg1"/>
              </a:solidFill>
            </a:endParaRPr>
          </a:p>
        </p:txBody>
      </p:sp>
      <p:sp>
        <p:nvSpPr>
          <p:cNvPr id="2" name="Titre 1">
            <a:extLst>
              <a:ext uri="{FF2B5EF4-FFF2-40B4-BE49-F238E27FC236}">
                <a16:creationId xmlns:a16="http://schemas.microsoft.com/office/drawing/2014/main" id="{BE2C97CA-31FF-8D84-2250-5F2C917F640A}"/>
              </a:ext>
            </a:extLst>
          </p:cNvPr>
          <p:cNvSpPr txBox="1">
            <a:spLocks/>
          </p:cNvSpPr>
          <p:nvPr/>
        </p:nvSpPr>
        <p:spPr>
          <a:xfrm>
            <a:off x="363683" y="4176667"/>
            <a:ext cx="4481944"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600" dirty="0">
                <a:solidFill>
                  <a:schemeClr val="bg1"/>
                </a:solidFill>
                <a:latin typeface="Bebas Neue" panose="020B0606020202050201" pitchFamily="34" charset="0"/>
              </a:rPr>
              <a:t>taux de conversion</a:t>
            </a:r>
          </a:p>
        </p:txBody>
      </p:sp>
      <p:sp>
        <p:nvSpPr>
          <p:cNvPr id="3" name="Titre 1">
            <a:extLst>
              <a:ext uri="{FF2B5EF4-FFF2-40B4-BE49-F238E27FC236}">
                <a16:creationId xmlns:a16="http://schemas.microsoft.com/office/drawing/2014/main" id="{246C7761-3D52-4F03-8B2D-BBD2488D90BD}"/>
              </a:ext>
            </a:extLst>
          </p:cNvPr>
          <p:cNvSpPr txBox="1">
            <a:spLocks/>
          </p:cNvSpPr>
          <p:nvPr/>
        </p:nvSpPr>
        <p:spPr>
          <a:xfrm>
            <a:off x="6958445" y="4176667"/>
            <a:ext cx="5257800"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11500" dirty="0">
                <a:solidFill>
                  <a:schemeClr val="bg1"/>
                </a:solidFill>
                <a:latin typeface="Bebas Neue" panose="020B0606020202050201" pitchFamily="34" charset="0"/>
              </a:rPr>
              <a:t>visibilité</a:t>
            </a:r>
          </a:p>
        </p:txBody>
      </p:sp>
      <p:sp>
        <p:nvSpPr>
          <p:cNvPr id="4" name="Titre 1">
            <a:extLst>
              <a:ext uri="{FF2B5EF4-FFF2-40B4-BE49-F238E27FC236}">
                <a16:creationId xmlns:a16="http://schemas.microsoft.com/office/drawing/2014/main" id="{7A6E8C97-B113-11FE-0B5A-0096C84AB05E}"/>
              </a:ext>
            </a:extLst>
          </p:cNvPr>
          <p:cNvSpPr txBox="1">
            <a:spLocks/>
          </p:cNvSpPr>
          <p:nvPr/>
        </p:nvSpPr>
        <p:spPr>
          <a:xfrm>
            <a:off x="5261264" y="4390934"/>
            <a:ext cx="1281544"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7200" dirty="0">
                <a:solidFill>
                  <a:schemeClr val="bg1"/>
                </a:solidFill>
                <a:latin typeface="Bebas Neue" panose="020B0606020202050201" pitchFamily="34" charset="0"/>
              </a:rPr>
              <a:t>ou</a:t>
            </a:r>
          </a:p>
        </p:txBody>
      </p:sp>
      <p:cxnSp>
        <p:nvCxnSpPr>
          <p:cNvPr id="7" name="Connecteur droit 6">
            <a:extLst>
              <a:ext uri="{FF2B5EF4-FFF2-40B4-BE49-F238E27FC236}">
                <a16:creationId xmlns:a16="http://schemas.microsoft.com/office/drawing/2014/main" id="{22308384-CE62-22BB-6307-D5A390F09F2B}"/>
              </a:ext>
            </a:extLst>
          </p:cNvPr>
          <p:cNvCxnSpPr>
            <a:cxnSpLocks/>
          </p:cNvCxnSpPr>
          <p:nvPr/>
        </p:nvCxnSpPr>
        <p:spPr>
          <a:xfrm flipH="1">
            <a:off x="467756" y="5636907"/>
            <a:ext cx="3920837"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5394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7A778A8E-7B4D-4778-A283-631837C6B0AC}"/>
              </a:ext>
            </a:extLst>
          </p:cNvPr>
          <p:cNvSpPr txBox="1">
            <a:spLocks/>
          </p:cNvSpPr>
          <p:nvPr/>
        </p:nvSpPr>
        <p:spPr>
          <a:xfrm>
            <a:off x="879764" y="1409778"/>
            <a:ext cx="10432472"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8800" dirty="0">
                <a:solidFill>
                  <a:schemeClr val="bg1"/>
                </a:solidFill>
                <a:latin typeface="Bebas Neue" panose="020B0606020202050201" pitchFamily="34" charset="0"/>
              </a:rPr>
              <a:t>Quel est l'objectif du SEO ?</a:t>
            </a:r>
          </a:p>
        </p:txBody>
      </p:sp>
      <p:sp>
        <p:nvSpPr>
          <p:cNvPr id="12" name="Espace réservé du numéro de diapositive 11">
            <a:extLst>
              <a:ext uri="{FF2B5EF4-FFF2-40B4-BE49-F238E27FC236}">
                <a16:creationId xmlns:a16="http://schemas.microsoft.com/office/drawing/2014/main" id="{E15DC55F-ECFB-425B-A449-8AEC41865C1D}"/>
              </a:ext>
            </a:extLst>
          </p:cNvPr>
          <p:cNvSpPr>
            <a:spLocks noGrp="1"/>
          </p:cNvSpPr>
          <p:nvPr>
            <p:ph type="sldNum" sz="quarter" idx="12"/>
          </p:nvPr>
        </p:nvSpPr>
        <p:spPr/>
        <p:txBody>
          <a:bodyPr/>
          <a:lstStyle/>
          <a:p>
            <a:fld id="{B5C50E92-4701-4803-BF4A-1BCEAA5421B4}" type="slidenum">
              <a:rPr lang="fr-FR" smtClean="0">
                <a:solidFill>
                  <a:schemeClr val="bg1"/>
                </a:solidFill>
              </a:rPr>
              <a:t>25</a:t>
            </a:fld>
            <a:endParaRPr lang="fr-FR">
              <a:solidFill>
                <a:schemeClr val="bg1"/>
              </a:solidFill>
            </a:endParaRPr>
          </a:p>
        </p:txBody>
      </p:sp>
      <p:sp>
        <p:nvSpPr>
          <p:cNvPr id="2" name="Titre 1">
            <a:extLst>
              <a:ext uri="{FF2B5EF4-FFF2-40B4-BE49-F238E27FC236}">
                <a16:creationId xmlns:a16="http://schemas.microsoft.com/office/drawing/2014/main" id="{BE2C97CA-31FF-8D84-2250-5F2C917F640A}"/>
              </a:ext>
            </a:extLst>
          </p:cNvPr>
          <p:cNvSpPr txBox="1">
            <a:spLocks/>
          </p:cNvSpPr>
          <p:nvPr/>
        </p:nvSpPr>
        <p:spPr>
          <a:xfrm>
            <a:off x="363683" y="4176667"/>
            <a:ext cx="4481944"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600" dirty="0">
                <a:solidFill>
                  <a:schemeClr val="bg1"/>
                </a:solidFill>
                <a:latin typeface="Bebas Neue" panose="020B0606020202050201" pitchFamily="34" charset="0"/>
              </a:rPr>
              <a:t>taux de conversion</a:t>
            </a:r>
          </a:p>
        </p:txBody>
      </p:sp>
      <p:sp>
        <p:nvSpPr>
          <p:cNvPr id="3" name="Titre 1">
            <a:extLst>
              <a:ext uri="{FF2B5EF4-FFF2-40B4-BE49-F238E27FC236}">
                <a16:creationId xmlns:a16="http://schemas.microsoft.com/office/drawing/2014/main" id="{246C7761-3D52-4F03-8B2D-BBD2488D90BD}"/>
              </a:ext>
            </a:extLst>
          </p:cNvPr>
          <p:cNvSpPr txBox="1">
            <a:spLocks/>
          </p:cNvSpPr>
          <p:nvPr/>
        </p:nvSpPr>
        <p:spPr>
          <a:xfrm>
            <a:off x="6958445" y="4176667"/>
            <a:ext cx="5257800"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11500" dirty="0">
                <a:solidFill>
                  <a:schemeClr val="bg1"/>
                </a:solidFill>
                <a:latin typeface="Bebas Neue" panose="020B0606020202050201" pitchFamily="34" charset="0"/>
              </a:rPr>
              <a:t>visibilité</a:t>
            </a:r>
          </a:p>
        </p:txBody>
      </p:sp>
      <p:sp>
        <p:nvSpPr>
          <p:cNvPr id="4" name="Titre 1">
            <a:extLst>
              <a:ext uri="{FF2B5EF4-FFF2-40B4-BE49-F238E27FC236}">
                <a16:creationId xmlns:a16="http://schemas.microsoft.com/office/drawing/2014/main" id="{7A6E8C97-B113-11FE-0B5A-0096C84AB05E}"/>
              </a:ext>
            </a:extLst>
          </p:cNvPr>
          <p:cNvSpPr txBox="1">
            <a:spLocks/>
          </p:cNvSpPr>
          <p:nvPr/>
        </p:nvSpPr>
        <p:spPr>
          <a:xfrm>
            <a:off x="5261264" y="4390934"/>
            <a:ext cx="1281544"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7200" dirty="0">
                <a:solidFill>
                  <a:schemeClr val="bg1"/>
                </a:solidFill>
                <a:latin typeface="Bebas Neue" panose="020B0606020202050201" pitchFamily="34" charset="0"/>
              </a:rPr>
              <a:t>ou</a:t>
            </a:r>
          </a:p>
        </p:txBody>
      </p:sp>
      <p:cxnSp>
        <p:nvCxnSpPr>
          <p:cNvPr id="6" name="Connecteur droit 5">
            <a:extLst>
              <a:ext uri="{FF2B5EF4-FFF2-40B4-BE49-F238E27FC236}">
                <a16:creationId xmlns:a16="http://schemas.microsoft.com/office/drawing/2014/main" id="{E15A752C-8900-FE85-B0E5-AD05D914139B}"/>
              </a:ext>
            </a:extLst>
          </p:cNvPr>
          <p:cNvCxnSpPr/>
          <p:nvPr/>
        </p:nvCxnSpPr>
        <p:spPr>
          <a:xfrm>
            <a:off x="498764" y="3429000"/>
            <a:ext cx="3851563" cy="292735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283D6928-6A1C-1835-9EBA-6763C99662E4}"/>
              </a:ext>
            </a:extLst>
          </p:cNvPr>
          <p:cNvCxnSpPr>
            <a:cxnSpLocks/>
          </p:cNvCxnSpPr>
          <p:nvPr/>
        </p:nvCxnSpPr>
        <p:spPr>
          <a:xfrm flipH="1">
            <a:off x="7229504" y="5448222"/>
            <a:ext cx="3920837"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69442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7A778A8E-7B4D-4778-A283-631837C6B0AC}"/>
              </a:ext>
            </a:extLst>
          </p:cNvPr>
          <p:cNvSpPr txBox="1">
            <a:spLocks/>
          </p:cNvSpPr>
          <p:nvPr/>
        </p:nvSpPr>
        <p:spPr>
          <a:xfrm>
            <a:off x="879764" y="1409778"/>
            <a:ext cx="10432472"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8800" dirty="0">
                <a:solidFill>
                  <a:schemeClr val="bg1"/>
                </a:solidFill>
                <a:latin typeface="Bebas Neue" panose="020B0606020202050201" pitchFamily="34" charset="0"/>
              </a:rPr>
              <a:t>SEM =</a:t>
            </a:r>
          </a:p>
        </p:txBody>
      </p:sp>
      <p:sp>
        <p:nvSpPr>
          <p:cNvPr id="12" name="Espace réservé du numéro de diapositive 11">
            <a:extLst>
              <a:ext uri="{FF2B5EF4-FFF2-40B4-BE49-F238E27FC236}">
                <a16:creationId xmlns:a16="http://schemas.microsoft.com/office/drawing/2014/main" id="{E15DC55F-ECFB-425B-A449-8AEC41865C1D}"/>
              </a:ext>
            </a:extLst>
          </p:cNvPr>
          <p:cNvSpPr>
            <a:spLocks noGrp="1"/>
          </p:cNvSpPr>
          <p:nvPr>
            <p:ph type="sldNum" sz="quarter" idx="12"/>
          </p:nvPr>
        </p:nvSpPr>
        <p:spPr/>
        <p:txBody>
          <a:bodyPr/>
          <a:lstStyle/>
          <a:p>
            <a:fld id="{B5C50E92-4701-4803-BF4A-1BCEAA5421B4}" type="slidenum">
              <a:rPr lang="fr-FR" smtClean="0">
                <a:solidFill>
                  <a:schemeClr val="bg1"/>
                </a:solidFill>
              </a:rPr>
              <a:t>26</a:t>
            </a:fld>
            <a:endParaRPr lang="fr-FR">
              <a:solidFill>
                <a:schemeClr val="bg1"/>
              </a:solidFill>
            </a:endParaRPr>
          </a:p>
        </p:txBody>
      </p:sp>
      <p:sp>
        <p:nvSpPr>
          <p:cNvPr id="2" name="Titre 1">
            <a:extLst>
              <a:ext uri="{FF2B5EF4-FFF2-40B4-BE49-F238E27FC236}">
                <a16:creationId xmlns:a16="http://schemas.microsoft.com/office/drawing/2014/main" id="{BE2C97CA-31FF-8D84-2250-5F2C917F640A}"/>
              </a:ext>
            </a:extLst>
          </p:cNvPr>
          <p:cNvSpPr txBox="1">
            <a:spLocks/>
          </p:cNvSpPr>
          <p:nvPr/>
        </p:nvSpPr>
        <p:spPr>
          <a:xfrm>
            <a:off x="879764" y="3968119"/>
            <a:ext cx="473770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600" dirty="0">
                <a:solidFill>
                  <a:schemeClr val="bg1"/>
                </a:solidFill>
                <a:latin typeface="Bebas Neue" panose="020B0606020202050201" pitchFamily="34" charset="0"/>
              </a:rPr>
              <a:t>SEO + SXO +SEA</a:t>
            </a:r>
          </a:p>
        </p:txBody>
      </p:sp>
      <p:sp>
        <p:nvSpPr>
          <p:cNvPr id="3" name="Titre 1">
            <a:extLst>
              <a:ext uri="{FF2B5EF4-FFF2-40B4-BE49-F238E27FC236}">
                <a16:creationId xmlns:a16="http://schemas.microsoft.com/office/drawing/2014/main" id="{246C7761-3D52-4F03-8B2D-BBD2488D90BD}"/>
              </a:ext>
            </a:extLst>
          </p:cNvPr>
          <p:cNvSpPr txBox="1">
            <a:spLocks/>
          </p:cNvSpPr>
          <p:nvPr/>
        </p:nvSpPr>
        <p:spPr>
          <a:xfrm>
            <a:off x="7474526" y="3968119"/>
            <a:ext cx="5257800"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7200" dirty="0">
                <a:solidFill>
                  <a:schemeClr val="bg1"/>
                </a:solidFill>
                <a:latin typeface="Bebas Neue" panose="020B0606020202050201" pitchFamily="34" charset="0"/>
              </a:rPr>
              <a:t>SEO + SEA</a:t>
            </a:r>
            <a:endParaRPr lang="fr-FR" sz="8000" dirty="0">
              <a:solidFill>
                <a:schemeClr val="bg1"/>
              </a:solidFill>
              <a:latin typeface="Bebas Neue" panose="020B0606020202050201" pitchFamily="34" charset="0"/>
            </a:endParaRPr>
          </a:p>
        </p:txBody>
      </p:sp>
      <p:sp>
        <p:nvSpPr>
          <p:cNvPr id="4" name="Titre 1">
            <a:extLst>
              <a:ext uri="{FF2B5EF4-FFF2-40B4-BE49-F238E27FC236}">
                <a16:creationId xmlns:a16="http://schemas.microsoft.com/office/drawing/2014/main" id="{7A6E8C97-B113-11FE-0B5A-0096C84AB05E}"/>
              </a:ext>
            </a:extLst>
          </p:cNvPr>
          <p:cNvSpPr txBox="1">
            <a:spLocks/>
          </p:cNvSpPr>
          <p:nvPr/>
        </p:nvSpPr>
        <p:spPr>
          <a:xfrm>
            <a:off x="5777345" y="4182386"/>
            <a:ext cx="1281544"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7200" dirty="0">
                <a:solidFill>
                  <a:schemeClr val="bg1"/>
                </a:solidFill>
                <a:latin typeface="Bebas Neue" panose="020B0606020202050201" pitchFamily="34" charset="0"/>
              </a:rPr>
              <a:t>ou</a:t>
            </a:r>
          </a:p>
        </p:txBody>
      </p:sp>
      <p:cxnSp>
        <p:nvCxnSpPr>
          <p:cNvPr id="7" name="Connecteur droit 6">
            <a:extLst>
              <a:ext uri="{FF2B5EF4-FFF2-40B4-BE49-F238E27FC236}">
                <a16:creationId xmlns:a16="http://schemas.microsoft.com/office/drawing/2014/main" id="{22308384-CE62-22BB-6307-D5A390F09F2B}"/>
              </a:ext>
            </a:extLst>
          </p:cNvPr>
          <p:cNvCxnSpPr>
            <a:cxnSpLocks/>
          </p:cNvCxnSpPr>
          <p:nvPr/>
        </p:nvCxnSpPr>
        <p:spPr>
          <a:xfrm flipH="1">
            <a:off x="7474526" y="5229760"/>
            <a:ext cx="3920837"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Connecteur droit 5">
            <a:extLst>
              <a:ext uri="{FF2B5EF4-FFF2-40B4-BE49-F238E27FC236}">
                <a16:creationId xmlns:a16="http://schemas.microsoft.com/office/drawing/2014/main" id="{7D671B81-48A5-5A5A-1FCF-9EF8D37B48B7}"/>
              </a:ext>
            </a:extLst>
          </p:cNvPr>
          <p:cNvCxnSpPr>
            <a:cxnSpLocks/>
          </p:cNvCxnSpPr>
          <p:nvPr/>
        </p:nvCxnSpPr>
        <p:spPr>
          <a:xfrm flipH="1">
            <a:off x="879764" y="5229760"/>
            <a:ext cx="3920837"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4146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2695</TotalTime>
  <Words>752</Words>
  <Application>Microsoft Office PowerPoint</Application>
  <PresentationFormat>Grand écran</PresentationFormat>
  <Paragraphs>156</Paragraphs>
  <Slides>26</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26</vt:i4>
      </vt:variant>
    </vt:vector>
  </HeadingPairs>
  <TitlesOfParts>
    <vt:vector size="33" baseType="lpstr">
      <vt:lpstr>Arial</vt:lpstr>
      <vt:lpstr>Bebas Neue</vt:lpstr>
      <vt:lpstr>Calibri</vt:lpstr>
      <vt:lpstr>Calibri Light</vt:lpstr>
      <vt:lpstr>Poppins</vt:lpstr>
      <vt:lpstr>Silka</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Lading page</dc:title>
  <dc:creator>Fayçal Sellam</dc:creator>
  <cp:lastModifiedBy>AKOUCHE Adel</cp:lastModifiedBy>
  <cp:revision>26</cp:revision>
  <dcterms:created xsi:type="dcterms:W3CDTF">2021-11-16T19:28:52Z</dcterms:created>
  <dcterms:modified xsi:type="dcterms:W3CDTF">2023-04-28T08:13:12Z</dcterms:modified>
</cp:coreProperties>
</file>