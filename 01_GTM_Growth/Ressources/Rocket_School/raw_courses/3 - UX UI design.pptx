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7" r:id="rId2"/>
    <p:sldId id="258" r:id="rId3"/>
    <p:sldId id="260" r:id="rId4"/>
    <p:sldId id="261" r:id="rId5"/>
    <p:sldId id="265" r:id="rId6"/>
    <p:sldId id="266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7" r:id="rId16"/>
    <p:sldId id="279" r:id="rId17"/>
    <p:sldId id="280" r:id="rId18"/>
    <p:sldId id="281" r:id="rId19"/>
    <p:sldId id="282" r:id="rId20"/>
    <p:sldId id="283" r:id="rId21"/>
    <p:sldId id="285" r:id="rId22"/>
    <p:sldId id="286" r:id="rId23"/>
    <p:sldId id="284" r:id="rId24"/>
    <p:sldId id="288" r:id="rId25"/>
    <p:sldId id="287" r:id="rId26"/>
    <p:sldId id="289" r:id="rId27"/>
    <p:sldId id="290" r:id="rId28"/>
    <p:sldId id="295" r:id="rId29"/>
    <p:sldId id="296" r:id="rId30"/>
    <p:sldId id="297" r:id="rId31"/>
    <p:sldId id="293" r:id="rId32"/>
    <p:sldId id="294" r:id="rId33"/>
    <p:sldId id="291" r:id="rId34"/>
    <p:sldId id="292" r:id="rId35"/>
    <p:sldId id="298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3B5E"/>
    <a:srgbClr val="0D2D48"/>
    <a:srgbClr val="113C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AA9398-64E0-4F4F-88A0-2C8FAE88F315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8F183C4D-544E-489E-8312-B549F2826D79}">
      <dgm:prSet phldrT="[Texte]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fr-FR" dirty="0">
              <a:latin typeface="Silka" panose="00000500000000000000" pitchFamily="50" charset="0"/>
            </a:rPr>
            <a:t>plaisant/mémorable</a:t>
          </a:r>
        </a:p>
      </dgm:t>
    </dgm:pt>
    <dgm:pt modelId="{2B98EFB4-FD6D-4616-A3C9-78C215F7D51B}" type="parTrans" cxnId="{2EB9A994-F2DF-48B3-86FF-A8B4208EEF73}">
      <dgm:prSet/>
      <dgm:spPr/>
      <dgm:t>
        <a:bodyPr/>
        <a:lstStyle/>
        <a:p>
          <a:endParaRPr lang="fr-FR"/>
        </a:p>
      </dgm:t>
    </dgm:pt>
    <dgm:pt modelId="{FD8CEE2B-B765-4437-959D-8AA8CF97B417}" type="sibTrans" cxnId="{2EB9A994-F2DF-48B3-86FF-A8B4208EEF73}">
      <dgm:prSet/>
      <dgm:spPr/>
      <dgm:t>
        <a:bodyPr/>
        <a:lstStyle/>
        <a:p>
          <a:endParaRPr lang="fr-FR"/>
        </a:p>
      </dgm:t>
    </dgm:pt>
    <dgm:pt modelId="{C26BA93C-8E51-49C3-9816-B96A83EF4E5E}">
      <dgm:prSet phldrT="[Texte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fr-FR" dirty="0">
              <a:latin typeface="Silka" panose="00000500000000000000" pitchFamily="50" charset="0"/>
            </a:rPr>
            <a:t>fiable</a:t>
          </a:r>
        </a:p>
      </dgm:t>
    </dgm:pt>
    <dgm:pt modelId="{42E9A4D2-7385-49A3-A1DF-AA601BE2B8EB}" type="parTrans" cxnId="{EB1777FC-A13E-45CB-A78F-2384D00A4AEA}">
      <dgm:prSet/>
      <dgm:spPr/>
      <dgm:t>
        <a:bodyPr/>
        <a:lstStyle/>
        <a:p>
          <a:endParaRPr lang="fr-FR"/>
        </a:p>
      </dgm:t>
    </dgm:pt>
    <dgm:pt modelId="{5FC196CD-E1E0-457D-80E9-585AC322AA6A}" type="sibTrans" cxnId="{EB1777FC-A13E-45CB-A78F-2384D00A4AEA}">
      <dgm:prSet/>
      <dgm:spPr/>
      <dgm:t>
        <a:bodyPr/>
        <a:lstStyle/>
        <a:p>
          <a:endParaRPr lang="fr-FR"/>
        </a:p>
      </dgm:t>
    </dgm:pt>
    <dgm:pt modelId="{3BB5DE34-2CBA-48B1-B969-4060D7DE1B05}">
      <dgm:prSet phldrT="[Texte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fr-FR" dirty="0">
              <a:solidFill>
                <a:schemeClr val="bg1"/>
              </a:solidFill>
              <a:latin typeface="Silka" panose="00000500000000000000" pitchFamily="50" charset="0"/>
            </a:rPr>
            <a:t>ergonomique</a:t>
          </a:r>
        </a:p>
      </dgm:t>
    </dgm:pt>
    <dgm:pt modelId="{C7780B15-FCC9-43F4-956B-E9C303836016}" type="parTrans" cxnId="{3BE1A04E-C74D-4DAA-B799-91A9FE0A1E2A}">
      <dgm:prSet/>
      <dgm:spPr/>
      <dgm:t>
        <a:bodyPr/>
        <a:lstStyle/>
        <a:p>
          <a:endParaRPr lang="fr-FR"/>
        </a:p>
      </dgm:t>
    </dgm:pt>
    <dgm:pt modelId="{B8208CDC-5BD9-4691-A767-31EE9DBD6DF1}" type="sibTrans" cxnId="{3BE1A04E-C74D-4DAA-B799-91A9FE0A1E2A}">
      <dgm:prSet/>
      <dgm:spPr/>
      <dgm:t>
        <a:bodyPr/>
        <a:lstStyle/>
        <a:p>
          <a:endParaRPr lang="fr-FR"/>
        </a:p>
      </dgm:t>
    </dgm:pt>
    <dgm:pt modelId="{1EF30ECF-3CC7-4C23-ADE3-E27D56729543}">
      <dgm:prSet phldrT="[Texte]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fr-FR" dirty="0">
              <a:latin typeface="Silka" panose="00000500000000000000" pitchFamily="50" charset="0"/>
            </a:rPr>
            <a:t>utilisable/fonctionnel</a:t>
          </a:r>
        </a:p>
      </dgm:t>
    </dgm:pt>
    <dgm:pt modelId="{53632E5C-D77A-4D9A-9F93-AE8DAA6898D8}" type="parTrans" cxnId="{20A2EDC9-0FFF-4F63-9D52-9F7DF4BBAC37}">
      <dgm:prSet/>
      <dgm:spPr/>
      <dgm:t>
        <a:bodyPr/>
        <a:lstStyle/>
        <a:p>
          <a:endParaRPr lang="fr-FR"/>
        </a:p>
      </dgm:t>
    </dgm:pt>
    <dgm:pt modelId="{46064C95-64FF-497A-B2A4-4CCD439DC796}" type="sibTrans" cxnId="{20A2EDC9-0FFF-4F63-9D52-9F7DF4BBAC37}">
      <dgm:prSet/>
      <dgm:spPr/>
      <dgm:t>
        <a:bodyPr/>
        <a:lstStyle/>
        <a:p>
          <a:endParaRPr lang="fr-FR"/>
        </a:p>
      </dgm:t>
    </dgm:pt>
    <dgm:pt modelId="{41733A81-EBDF-461D-99A0-B454EA504372}" type="pres">
      <dgm:prSet presAssocID="{64AA9398-64E0-4F4F-88A0-2C8FAE88F315}" presName="Name0" presStyleCnt="0">
        <dgm:presLayoutVars>
          <dgm:dir/>
          <dgm:animLvl val="lvl"/>
          <dgm:resizeHandles val="exact"/>
        </dgm:presLayoutVars>
      </dgm:prSet>
      <dgm:spPr/>
    </dgm:pt>
    <dgm:pt modelId="{2561F942-7BCD-46FB-B75A-C7CC00E1104A}" type="pres">
      <dgm:prSet presAssocID="{8F183C4D-544E-489E-8312-B549F2826D79}" presName="Name8" presStyleCnt="0"/>
      <dgm:spPr/>
    </dgm:pt>
    <dgm:pt modelId="{5BD2A7DE-90DD-4995-AC20-E419BEA580DD}" type="pres">
      <dgm:prSet presAssocID="{8F183C4D-544E-489E-8312-B549F2826D79}" presName="level" presStyleLbl="node1" presStyleIdx="0" presStyleCnt="4">
        <dgm:presLayoutVars>
          <dgm:chMax val="1"/>
          <dgm:bulletEnabled val="1"/>
        </dgm:presLayoutVars>
      </dgm:prSet>
      <dgm:spPr/>
    </dgm:pt>
    <dgm:pt modelId="{DEF354E4-E744-414E-B709-7BF7AC67EE97}" type="pres">
      <dgm:prSet presAssocID="{8F183C4D-544E-489E-8312-B549F2826D7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06358BC-16C1-4119-9315-D3CAE990DD2A}" type="pres">
      <dgm:prSet presAssocID="{C26BA93C-8E51-49C3-9816-B96A83EF4E5E}" presName="Name8" presStyleCnt="0"/>
      <dgm:spPr/>
    </dgm:pt>
    <dgm:pt modelId="{57A5A313-63E5-43D1-A2AA-39A628BA4F4A}" type="pres">
      <dgm:prSet presAssocID="{C26BA93C-8E51-49C3-9816-B96A83EF4E5E}" presName="level" presStyleLbl="node1" presStyleIdx="1" presStyleCnt="4">
        <dgm:presLayoutVars>
          <dgm:chMax val="1"/>
          <dgm:bulletEnabled val="1"/>
        </dgm:presLayoutVars>
      </dgm:prSet>
      <dgm:spPr/>
    </dgm:pt>
    <dgm:pt modelId="{E8385F85-A2A7-4A74-941B-399668EF5532}" type="pres">
      <dgm:prSet presAssocID="{C26BA93C-8E51-49C3-9816-B96A83EF4E5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614EE1E-644E-4377-9AB7-D660F80CC26A}" type="pres">
      <dgm:prSet presAssocID="{1EF30ECF-3CC7-4C23-ADE3-E27D56729543}" presName="Name8" presStyleCnt="0"/>
      <dgm:spPr/>
    </dgm:pt>
    <dgm:pt modelId="{C426F6F4-6894-45EE-B8B6-FE567E1CBB78}" type="pres">
      <dgm:prSet presAssocID="{1EF30ECF-3CC7-4C23-ADE3-E27D56729543}" presName="level" presStyleLbl="node1" presStyleIdx="2" presStyleCnt="4">
        <dgm:presLayoutVars>
          <dgm:chMax val="1"/>
          <dgm:bulletEnabled val="1"/>
        </dgm:presLayoutVars>
      </dgm:prSet>
      <dgm:spPr/>
    </dgm:pt>
    <dgm:pt modelId="{FBD26097-DCD5-4CBC-B192-327371E8328F}" type="pres">
      <dgm:prSet presAssocID="{1EF30ECF-3CC7-4C23-ADE3-E27D5672954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02D8974D-D061-4DBE-8702-06CC79493C95}" type="pres">
      <dgm:prSet presAssocID="{3BB5DE34-2CBA-48B1-B969-4060D7DE1B05}" presName="Name8" presStyleCnt="0"/>
      <dgm:spPr/>
    </dgm:pt>
    <dgm:pt modelId="{D7AFA409-4AF9-4CE6-967B-5F09E1E68E3A}" type="pres">
      <dgm:prSet presAssocID="{3BB5DE34-2CBA-48B1-B969-4060D7DE1B05}" presName="level" presStyleLbl="node1" presStyleIdx="3" presStyleCnt="4" custLinFactNeighborX="23773" custLinFactNeighborY="6368">
        <dgm:presLayoutVars>
          <dgm:chMax val="1"/>
          <dgm:bulletEnabled val="1"/>
        </dgm:presLayoutVars>
      </dgm:prSet>
      <dgm:spPr/>
    </dgm:pt>
    <dgm:pt modelId="{08E02D9D-A804-4E49-96A6-F9062D544ABC}" type="pres">
      <dgm:prSet presAssocID="{3BB5DE34-2CBA-48B1-B969-4060D7DE1B05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7E546426-AC54-4173-9500-C9A05C4BDE3C}" type="presOf" srcId="{1EF30ECF-3CC7-4C23-ADE3-E27D56729543}" destId="{FBD26097-DCD5-4CBC-B192-327371E8328F}" srcOrd="1" destOrd="0" presId="urn:microsoft.com/office/officeart/2005/8/layout/pyramid1"/>
    <dgm:cxn modelId="{3BE1A04E-C74D-4DAA-B799-91A9FE0A1E2A}" srcId="{64AA9398-64E0-4F4F-88A0-2C8FAE88F315}" destId="{3BB5DE34-2CBA-48B1-B969-4060D7DE1B05}" srcOrd="3" destOrd="0" parTransId="{C7780B15-FCC9-43F4-956B-E9C303836016}" sibTransId="{B8208CDC-5BD9-4691-A767-31EE9DBD6DF1}"/>
    <dgm:cxn modelId="{5B6BC188-A653-489B-82CB-7B6A816BB74E}" type="presOf" srcId="{8F183C4D-544E-489E-8312-B549F2826D79}" destId="{5BD2A7DE-90DD-4995-AC20-E419BEA580DD}" srcOrd="0" destOrd="0" presId="urn:microsoft.com/office/officeart/2005/8/layout/pyramid1"/>
    <dgm:cxn modelId="{8E769491-573C-4D74-940D-ED90E3FC7706}" type="presOf" srcId="{64AA9398-64E0-4F4F-88A0-2C8FAE88F315}" destId="{41733A81-EBDF-461D-99A0-B454EA504372}" srcOrd="0" destOrd="0" presId="urn:microsoft.com/office/officeart/2005/8/layout/pyramid1"/>
    <dgm:cxn modelId="{2EB9A994-F2DF-48B3-86FF-A8B4208EEF73}" srcId="{64AA9398-64E0-4F4F-88A0-2C8FAE88F315}" destId="{8F183C4D-544E-489E-8312-B549F2826D79}" srcOrd="0" destOrd="0" parTransId="{2B98EFB4-FD6D-4616-A3C9-78C215F7D51B}" sibTransId="{FD8CEE2B-B765-4437-959D-8AA8CF97B417}"/>
    <dgm:cxn modelId="{30C426B5-182B-4570-A761-836DF0C049C5}" type="presOf" srcId="{3BB5DE34-2CBA-48B1-B969-4060D7DE1B05}" destId="{08E02D9D-A804-4E49-96A6-F9062D544ABC}" srcOrd="1" destOrd="0" presId="urn:microsoft.com/office/officeart/2005/8/layout/pyramid1"/>
    <dgm:cxn modelId="{4A0F45C0-1432-4FDE-BCBC-202802D6170D}" type="presOf" srcId="{C26BA93C-8E51-49C3-9816-B96A83EF4E5E}" destId="{57A5A313-63E5-43D1-A2AA-39A628BA4F4A}" srcOrd="0" destOrd="0" presId="urn:microsoft.com/office/officeart/2005/8/layout/pyramid1"/>
    <dgm:cxn modelId="{ACAA0FC4-23D3-4A18-A551-A3A0481340D3}" type="presOf" srcId="{C26BA93C-8E51-49C3-9816-B96A83EF4E5E}" destId="{E8385F85-A2A7-4A74-941B-399668EF5532}" srcOrd="1" destOrd="0" presId="urn:microsoft.com/office/officeart/2005/8/layout/pyramid1"/>
    <dgm:cxn modelId="{20A2EDC9-0FFF-4F63-9D52-9F7DF4BBAC37}" srcId="{64AA9398-64E0-4F4F-88A0-2C8FAE88F315}" destId="{1EF30ECF-3CC7-4C23-ADE3-E27D56729543}" srcOrd="2" destOrd="0" parTransId="{53632E5C-D77A-4D9A-9F93-AE8DAA6898D8}" sibTransId="{46064C95-64FF-497A-B2A4-4CCD439DC796}"/>
    <dgm:cxn modelId="{55B79BDA-B901-4EEC-AA30-4C1652E8ADB0}" type="presOf" srcId="{3BB5DE34-2CBA-48B1-B969-4060D7DE1B05}" destId="{D7AFA409-4AF9-4CE6-967B-5F09E1E68E3A}" srcOrd="0" destOrd="0" presId="urn:microsoft.com/office/officeart/2005/8/layout/pyramid1"/>
    <dgm:cxn modelId="{A8D490DF-2E9E-43E7-AF00-2ED18DEDB5E9}" type="presOf" srcId="{8F183C4D-544E-489E-8312-B549F2826D79}" destId="{DEF354E4-E744-414E-B709-7BF7AC67EE97}" srcOrd="1" destOrd="0" presId="urn:microsoft.com/office/officeart/2005/8/layout/pyramid1"/>
    <dgm:cxn modelId="{33FC2BF2-B971-4EF4-BD2C-A4895969FD61}" type="presOf" srcId="{1EF30ECF-3CC7-4C23-ADE3-E27D56729543}" destId="{C426F6F4-6894-45EE-B8B6-FE567E1CBB78}" srcOrd="0" destOrd="0" presId="urn:microsoft.com/office/officeart/2005/8/layout/pyramid1"/>
    <dgm:cxn modelId="{EB1777FC-A13E-45CB-A78F-2384D00A4AEA}" srcId="{64AA9398-64E0-4F4F-88A0-2C8FAE88F315}" destId="{C26BA93C-8E51-49C3-9816-B96A83EF4E5E}" srcOrd="1" destOrd="0" parTransId="{42E9A4D2-7385-49A3-A1DF-AA601BE2B8EB}" sibTransId="{5FC196CD-E1E0-457D-80E9-585AC322AA6A}"/>
    <dgm:cxn modelId="{87FB06F9-990B-4540-85DA-F2BC8548B67D}" type="presParOf" srcId="{41733A81-EBDF-461D-99A0-B454EA504372}" destId="{2561F942-7BCD-46FB-B75A-C7CC00E1104A}" srcOrd="0" destOrd="0" presId="urn:microsoft.com/office/officeart/2005/8/layout/pyramid1"/>
    <dgm:cxn modelId="{5EDE1624-80AD-43DE-A958-0E99F3350F70}" type="presParOf" srcId="{2561F942-7BCD-46FB-B75A-C7CC00E1104A}" destId="{5BD2A7DE-90DD-4995-AC20-E419BEA580DD}" srcOrd="0" destOrd="0" presId="urn:microsoft.com/office/officeart/2005/8/layout/pyramid1"/>
    <dgm:cxn modelId="{78FE8606-5473-4254-BF94-C7A1E47CE12E}" type="presParOf" srcId="{2561F942-7BCD-46FB-B75A-C7CC00E1104A}" destId="{DEF354E4-E744-414E-B709-7BF7AC67EE97}" srcOrd="1" destOrd="0" presId="urn:microsoft.com/office/officeart/2005/8/layout/pyramid1"/>
    <dgm:cxn modelId="{DBE3C087-B5E6-4C4C-B3AE-E3834F2665A0}" type="presParOf" srcId="{41733A81-EBDF-461D-99A0-B454EA504372}" destId="{906358BC-16C1-4119-9315-D3CAE990DD2A}" srcOrd="1" destOrd="0" presId="urn:microsoft.com/office/officeart/2005/8/layout/pyramid1"/>
    <dgm:cxn modelId="{42ABB19A-D141-4953-812D-3067A3D6FACC}" type="presParOf" srcId="{906358BC-16C1-4119-9315-D3CAE990DD2A}" destId="{57A5A313-63E5-43D1-A2AA-39A628BA4F4A}" srcOrd="0" destOrd="0" presId="urn:microsoft.com/office/officeart/2005/8/layout/pyramid1"/>
    <dgm:cxn modelId="{7214E186-929A-475E-B66D-474BE8147ABA}" type="presParOf" srcId="{906358BC-16C1-4119-9315-D3CAE990DD2A}" destId="{E8385F85-A2A7-4A74-941B-399668EF5532}" srcOrd="1" destOrd="0" presId="urn:microsoft.com/office/officeart/2005/8/layout/pyramid1"/>
    <dgm:cxn modelId="{4A07A28A-7678-4004-B48B-E3C15A3EF754}" type="presParOf" srcId="{41733A81-EBDF-461D-99A0-B454EA504372}" destId="{4614EE1E-644E-4377-9AB7-D660F80CC26A}" srcOrd="2" destOrd="0" presId="urn:microsoft.com/office/officeart/2005/8/layout/pyramid1"/>
    <dgm:cxn modelId="{B44C8F7E-5F5F-4046-9CDA-436DD70E6D87}" type="presParOf" srcId="{4614EE1E-644E-4377-9AB7-D660F80CC26A}" destId="{C426F6F4-6894-45EE-B8B6-FE567E1CBB78}" srcOrd="0" destOrd="0" presId="urn:microsoft.com/office/officeart/2005/8/layout/pyramid1"/>
    <dgm:cxn modelId="{74FD17C7-B764-424C-8534-8F6CD46AE667}" type="presParOf" srcId="{4614EE1E-644E-4377-9AB7-D660F80CC26A}" destId="{FBD26097-DCD5-4CBC-B192-327371E8328F}" srcOrd="1" destOrd="0" presId="urn:microsoft.com/office/officeart/2005/8/layout/pyramid1"/>
    <dgm:cxn modelId="{A7D9A561-6A6D-4C23-8E7F-485DBA477AEE}" type="presParOf" srcId="{41733A81-EBDF-461D-99A0-B454EA504372}" destId="{02D8974D-D061-4DBE-8702-06CC79493C95}" srcOrd="3" destOrd="0" presId="urn:microsoft.com/office/officeart/2005/8/layout/pyramid1"/>
    <dgm:cxn modelId="{6321339B-742E-430C-B04D-2252CF8AB863}" type="presParOf" srcId="{02D8974D-D061-4DBE-8702-06CC79493C95}" destId="{D7AFA409-4AF9-4CE6-967B-5F09E1E68E3A}" srcOrd="0" destOrd="0" presId="urn:microsoft.com/office/officeart/2005/8/layout/pyramid1"/>
    <dgm:cxn modelId="{C2581454-4B32-45B2-B3DD-C1D1FB9C96BD}" type="presParOf" srcId="{02D8974D-D061-4DBE-8702-06CC79493C95}" destId="{08E02D9D-A804-4E49-96A6-F9062D544ABC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D2A7DE-90DD-4995-AC20-E419BEA580DD}">
      <dsp:nvSpPr>
        <dsp:cNvPr id="0" name=""/>
        <dsp:cNvSpPr/>
      </dsp:nvSpPr>
      <dsp:spPr>
        <a:xfrm>
          <a:off x="2880503" y="0"/>
          <a:ext cx="1920335" cy="1260614"/>
        </a:xfrm>
        <a:prstGeom prst="trapezoid">
          <a:avLst>
            <a:gd name="adj" fmla="val 76167"/>
          </a:avLst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Silka" panose="00000500000000000000" pitchFamily="50" charset="0"/>
            </a:rPr>
            <a:t>plaisant/mémorable</a:t>
          </a:r>
        </a:p>
      </dsp:txBody>
      <dsp:txXfrm>
        <a:off x="2880503" y="0"/>
        <a:ext cx="1920335" cy="1260614"/>
      </dsp:txXfrm>
    </dsp:sp>
    <dsp:sp modelId="{57A5A313-63E5-43D1-A2AA-39A628BA4F4A}">
      <dsp:nvSpPr>
        <dsp:cNvPr id="0" name=""/>
        <dsp:cNvSpPr/>
      </dsp:nvSpPr>
      <dsp:spPr>
        <a:xfrm>
          <a:off x="1920335" y="1260614"/>
          <a:ext cx="3840671" cy="1260614"/>
        </a:xfrm>
        <a:prstGeom prst="trapezoid">
          <a:avLst>
            <a:gd name="adj" fmla="val 76167"/>
          </a:avLst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Silka" panose="00000500000000000000" pitchFamily="50" charset="0"/>
            </a:rPr>
            <a:t>fiable</a:t>
          </a:r>
        </a:p>
      </dsp:txBody>
      <dsp:txXfrm>
        <a:off x="2592453" y="1260614"/>
        <a:ext cx="2496436" cy="1260614"/>
      </dsp:txXfrm>
    </dsp:sp>
    <dsp:sp modelId="{C426F6F4-6894-45EE-B8B6-FE567E1CBB78}">
      <dsp:nvSpPr>
        <dsp:cNvPr id="0" name=""/>
        <dsp:cNvSpPr/>
      </dsp:nvSpPr>
      <dsp:spPr>
        <a:xfrm>
          <a:off x="960167" y="2521229"/>
          <a:ext cx="5761007" cy="1260614"/>
        </a:xfrm>
        <a:prstGeom prst="trapezoid">
          <a:avLst>
            <a:gd name="adj" fmla="val 76167"/>
          </a:avLst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latin typeface="Silka" panose="00000500000000000000" pitchFamily="50" charset="0"/>
            </a:rPr>
            <a:t>utilisable/fonctionnel</a:t>
          </a:r>
        </a:p>
      </dsp:txBody>
      <dsp:txXfrm>
        <a:off x="1968344" y="2521229"/>
        <a:ext cx="3744654" cy="1260614"/>
      </dsp:txXfrm>
    </dsp:sp>
    <dsp:sp modelId="{D7AFA409-4AF9-4CE6-967B-5F09E1E68E3A}">
      <dsp:nvSpPr>
        <dsp:cNvPr id="0" name=""/>
        <dsp:cNvSpPr/>
      </dsp:nvSpPr>
      <dsp:spPr>
        <a:xfrm>
          <a:off x="0" y="3781844"/>
          <a:ext cx="7681343" cy="1260614"/>
        </a:xfrm>
        <a:prstGeom prst="trapezoid">
          <a:avLst>
            <a:gd name="adj" fmla="val 76167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solidFill>
                <a:schemeClr val="bg1"/>
              </a:solidFill>
              <a:latin typeface="Silka" panose="00000500000000000000" pitchFamily="50" charset="0"/>
            </a:rPr>
            <a:t>ergonomique</a:t>
          </a:r>
        </a:p>
      </dsp:txBody>
      <dsp:txXfrm>
        <a:off x="1344235" y="3781844"/>
        <a:ext cx="4992872" cy="12606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5E35D-F185-4527-94D0-CD45CBF2F05A}" type="datetimeFigureOut">
              <a:rPr lang="fr-FR" smtClean="0"/>
              <a:t>24/11/2022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08B54-1628-4D51-A0EE-6CDD3B0773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1822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C6DB9D-0980-4304-9B91-B1A659EB1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BA52D00-EE48-440A-8C34-11FC90A698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AFF057-5456-4974-A3FD-98AA243BA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FF50-2CE7-4B22-9BB6-4A43E5124B94}" type="datetime1">
              <a:rPr lang="fr-FR" smtClean="0"/>
              <a:t>24/11/2022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60688B-E64D-4677-944D-1EFA554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0A7C1F-316E-4DE8-A38B-2C0E5E55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8603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D0229-7030-478D-8A2C-EC533121B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CE8213-1957-435D-A66F-C0B69CCA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1A4059-7779-4494-80B9-F2C9194E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5969E-DDDE-4F74-927E-1211D541F3A1}" type="datetime1">
              <a:rPr lang="fr-FR" smtClean="0"/>
              <a:t>24/11/2022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1BB3FF-649E-4609-8D05-C58C3B981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2BA19D-608A-4CA1-9642-BD18B3D6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839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C47888-40F2-448B-B6D7-A82547441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A64B68-0792-4F0A-9DED-F38A8DC39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16B1F7-2B19-4A66-84C4-85F0F80DA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970-E7AD-495C-8B7D-52C1CBEBED9E}" type="datetime1">
              <a:rPr lang="fr-FR" smtClean="0"/>
              <a:t>24/11/2022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878A9A-5754-4511-9FAA-5765D64F6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47AAA0-D5CB-4653-9BF0-6CEA9ED86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848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E01387-51DC-4B75-8A24-D02394151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D9AF7F-591D-4C37-8671-F1953951A1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23ACE7-FAA1-429D-9984-60B5C91ED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83D36A-022E-454E-A067-6340C8982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7BCB4-F1CD-4A58-A5D5-ABA3E1D1AF59}" type="datetime1">
              <a:rPr lang="fr-FR" smtClean="0"/>
              <a:t>24/11/2022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22F7F9-5E44-41C2-B36D-6F82F32E2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1EF9932-E8D3-45FF-AD31-0AF7F2C9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7398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D3DA00-D7E0-4CCA-93E3-AAAE21A6A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7F3317-C479-4767-AB19-186139A81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B274F34-5209-443F-BBC7-905A3B860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0E82B48-4BE1-459A-A717-074B596889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B2F2B74-1ADC-4251-9F6C-BA5B1709B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D9C4C1E-4AF3-40EB-8E7E-279F5F82B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D4BE6-BBAC-4B37-9690-2670275129C4}" type="datetime1">
              <a:rPr lang="fr-FR" smtClean="0"/>
              <a:t>24/11/2022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4BF378D-8D87-4647-A0CF-75FED7C3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291360F-85B8-4527-964D-657087C2B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774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91B91E-3E57-4C1F-993C-275AEC85C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2CDCDC-C71A-4088-9E65-5FDB1A3AA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4AAB9-3222-4B05-824E-398847DCB4E6}" type="datetime1">
              <a:rPr lang="fr-FR" smtClean="0"/>
              <a:t>24/11/2022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C273C19-32B4-4B5F-8D97-99EB75CE0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B93685D-24A8-4F49-B34F-A021A5155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5953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F655710-E846-476E-81A5-705533B2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C1AB-CF28-467D-A30E-159160E36B9B}" type="datetime1">
              <a:rPr lang="fr-FR" smtClean="0"/>
              <a:t>24/11/2022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A55DAB7-EA0E-4DA8-A55A-2698E829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814707-69E3-45CF-850E-E0717031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89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F0BA03-9910-488A-86F3-9972C566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1DB02E-1564-40D0-860E-18F0EBF2D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972F7AF-A2A1-48A7-A667-413E3CD89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550E83-183B-490C-97A7-F912D93C4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DE73A-9D3F-4115-B5BE-3898BFCB7962}" type="datetime1">
              <a:rPr lang="fr-FR" smtClean="0"/>
              <a:t>24/11/2022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06E1D6F-E5B8-46F1-927E-C1593FDC1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427C38B-B43C-4DD1-AE74-67D0A364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660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99E281-390D-4339-A568-AFF7F8B28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96B08FA-1B3C-4CB5-AB96-2D97C3F4C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3AC1AF0-24EA-4DA0-8A36-D22BA908B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953BB4-D049-4097-99C3-A026D021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09D3C-E049-4CA0-97EC-ADD8F9C1E24E}" type="datetime1">
              <a:rPr lang="fr-FR" smtClean="0"/>
              <a:t>24/11/2022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B639696-5415-49D1-9F2E-577EF8F4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55E139-87BD-40AC-A55B-E9EB19A5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191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C8C4BD-71D3-47C9-9E4E-02E50FDB3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C1FFD3D-9235-4BF0-B32E-D6A4CC338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FE9D17-9C80-4449-BC8E-555FA0B65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3A9F2-A017-43D7-8418-19E1BDE685AD}" type="datetime1">
              <a:rPr lang="fr-FR" smtClean="0"/>
              <a:t>24/11/2022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6E3200-8F2F-493A-89AC-A01562158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DA76CF-17FD-4656-8F44-77C21F769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8925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4BD3739-97ED-40FA-9A61-861CB43C1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F465ACD-ED3C-4EAA-856A-FDE89EB91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05FE08-CBAF-4DD2-B452-75E862895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1B34A-85FD-40D8-B8A3-35E293354128}" type="datetime1">
              <a:rPr lang="fr-FR" smtClean="0"/>
              <a:t>24/11/2022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5EE295-9F08-4B44-AC8D-D225D1179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A50FD6-B2E8-467F-9C1A-978765F42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8248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714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958E2C8-A947-4997-B891-C179A642A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F73747-09B0-49B9-B4C2-BB0D589B3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DEB885-F3C9-4D6E-B15A-9E065AE8BD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7F181-89CF-461D-A4F8-9E4A933155DA}" type="datetime1">
              <a:rPr lang="fr-FR" smtClean="0"/>
              <a:t>24/11/2022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9475D7-78FC-4B29-8AC8-10133F8E6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799CE3-AB21-407A-93E0-76FB32890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2D5C5-2ED2-434D-B2C7-066487D37C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4154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annipolito.fr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esign.giannipolito.fr/template/src/persona_design-gianni-polito.pdf" TargetMode="External"/><Relationship Id="rId2" Type="http://schemas.openxmlformats.org/officeDocument/2006/relationships/hyperlink" Target="http://design.giannipolito.fr/template/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design.giannipolito.fr/template/src/grille-feedback_design-gianni-polito.pdf" TargetMode="External"/><Relationship Id="rId2" Type="http://schemas.openxmlformats.org/officeDocument/2006/relationships/hyperlink" Target="http://design.giannipolito.fr/template/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design.giannipolito.fr/template/src/carte-empathie_design-gianni-polito.pdf" TargetMode="External"/><Relationship Id="rId2" Type="http://schemas.openxmlformats.org/officeDocument/2006/relationships/hyperlink" Target="http://design.giannipolito.fr/template/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08128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53311" y="215703"/>
            <a:ext cx="5745470" cy="2387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dirty="0"/>
              <a:t>UX/UI &amp; Landing Page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C6E2C8AC-AFB2-4A02-A569-68D2D194B9DD}"/>
              </a:ext>
            </a:extLst>
          </p:cNvPr>
          <p:cNvSpPr txBox="1">
            <a:spLocks/>
          </p:cNvSpPr>
          <p:nvPr/>
        </p:nvSpPr>
        <p:spPr>
          <a:xfrm>
            <a:off x="274502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FS Consulting 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8DA517E-F120-4AA3-8829-AE4F48BF9D63}"/>
              </a:ext>
            </a:extLst>
          </p:cNvPr>
          <p:cNvSpPr txBox="1">
            <a:spLocks/>
          </p:cNvSpPr>
          <p:nvPr/>
        </p:nvSpPr>
        <p:spPr>
          <a:xfrm>
            <a:off x="10374903" y="6356350"/>
            <a:ext cx="1817097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Rocket </a:t>
            </a:r>
            <a:r>
              <a:rPr lang="fr-FR" sz="1200" dirty="0" err="1">
                <a:latin typeface="Silka" panose="00000500000000000000" pitchFamily="50" charset="0"/>
              </a:rPr>
              <a:t>School</a:t>
            </a:r>
            <a:r>
              <a:rPr lang="fr-FR" sz="1200" dirty="0">
                <a:latin typeface="Silka" panose="00000500000000000000" pitchFamily="50" charset="0"/>
              </a:rPr>
              <a:t> Paris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53311" y="4391209"/>
            <a:ext cx="654291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Chapitre 3 : UX/UI design </a:t>
            </a:r>
            <a:b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</a:b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12" name="Picture 2" descr="École de Marketing, Customer Success et Vente nouvelle génération | Rocket  School">
            <a:extLst>
              <a:ext uri="{FF2B5EF4-FFF2-40B4-BE49-F238E27FC236}">
                <a16:creationId xmlns:a16="http://schemas.microsoft.com/office/drawing/2014/main" id="{4FC9F2F4-AB66-4486-A0A4-4E524E89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458" y="554440"/>
            <a:ext cx="2804774" cy="98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060305A-CB28-4182-807A-8A1B30341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766" y="4586709"/>
            <a:ext cx="2456466" cy="153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0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FAD4A629-24B4-4FAE-8DCC-C22E2FA5A730}"/>
              </a:ext>
            </a:extLst>
          </p:cNvPr>
          <p:cNvGrpSpPr/>
          <p:nvPr/>
        </p:nvGrpSpPr>
        <p:grpSpPr>
          <a:xfrm>
            <a:off x="435936" y="-779130"/>
            <a:ext cx="6298362" cy="2573668"/>
            <a:chOff x="574159" y="-896088"/>
            <a:chExt cx="6298362" cy="257366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06CA3A-DB2C-4EDF-B180-243A6EE2F29E}"/>
                </a:ext>
              </a:extLst>
            </p:cNvPr>
            <p:cNvSpPr/>
            <p:nvPr/>
          </p:nvSpPr>
          <p:spPr>
            <a:xfrm>
              <a:off x="1127050" y="624957"/>
              <a:ext cx="1849263" cy="105262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9E21E66-B7B9-43E6-940B-B05A5E1A18D2}"/>
                </a:ext>
              </a:extLst>
            </p:cNvPr>
            <p:cNvSpPr/>
            <p:nvPr/>
          </p:nvSpPr>
          <p:spPr>
            <a:xfrm>
              <a:off x="574159" y="297712"/>
              <a:ext cx="1743739" cy="97051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Titre 1">
              <a:extLst>
                <a:ext uri="{FF2B5EF4-FFF2-40B4-BE49-F238E27FC236}">
                  <a16:creationId xmlns:a16="http://schemas.microsoft.com/office/drawing/2014/main" id="{004A79D6-2688-4942-8432-E3877276557A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" y="-896088"/>
              <a:ext cx="5745470" cy="2387600"/>
            </a:xfrm>
            <a:prstGeom prst="rect">
              <a:avLst/>
            </a:prstGeom>
          </p:spPr>
          <p:txBody>
            <a:bodyPr anchor="b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Silka" panose="00000500000000000000" pitchFamily="50" charset="0"/>
                  <a:ea typeface="+mj-ea"/>
                  <a:cs typeface="+mj-cs"/>
                </a:defRPr>
              </a:lvl1pPr>
            </a:lstStyle>
            <a:p>
              <a:r>
                <a:rPr lang="fr-FR" dirty="0"/>
                <a:t>introduction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6D4A525-D06E-466C-A461-E6AD904F2888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0350F4BF-EDE9-4DC7-8ADC-D6AB7BA341EC}"/>
              </a:ext>
            </a:extLst>
          </p:cNvPr>
          <p:cNvSpPr txBox="1">
            <a:spLocks/>
          </p:cNvSpPr>
          <p:nvPr/>
        </p:nvSpPr>
        <p:spPr>
          <a:xfrm>
            <a:off x="6492949" y="3704591"/>
            <a:ext cx="5699051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ergonomie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LANDING PAGE ET UX/UI</a:t>
            </a:r>
          </a:p>
        </p:txBody>
      </p:sp>
      <p:pic>
        <p:nvPicPr>
          <p:cNvPr id="2" name="Picture 2" descr="Quelle est la différence entre UI et UX ? - Mobyssey">
            <a:extLst>
              <a:ext uri="{FF2B5EF4-FFF2-40B4-BE49-F238E27FC236}">
                <a16:creationId xmlns:a16="http://schemas.microsoft.com/office/drawing/2014/main" id="{1CDD5DA7-F199-4464-A2DB-82FEDF52B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98" y="2712405"/>
            <a:ext cx="4276545" cy="285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space réservé de la date 3">
            <a:extLst>
              <a:ext uri="{FF2B5EF4-FFF2-40B4-BE49-F238E27FC236}">
                <a16:creationId xmlns:a16="http://schemas.microsoft.com/office/drawing/2014/main" id="{6C3A7163-C084-46CE-8077-1699F091BFD0}"/>
              </a:ext>
            </a:extLst>
          </p:cNvPr>
          <p:cNvSpPr txBox="1">
            <a:spLocks/>
          </p:cNvSpPr>
          <p:nvPr/>
        </p:nvSpPr>
        <p:spPr>
          <a:xfrm>
            <a:off x="10013724" y="6390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  <a:hlinkClick r:id="rId3"/>
              </a:rPr>
              <a:t>source : </a:t>
            </a:r>
            <a:r>
              <a:rPr lang="fr-FR" sz="1200" dirty="0" err="1">
                <a:latin typeface="Silka" panose="00000500000000000000" pitchFamily="50" charset="0"/>
                <a:hlinkClick r:id="rId3"/>
              </a:rPr>
              <a:t>gianni</a:t>
            </a:r>
            <a:r>
              <a:rPr lang="fr-FR" sz="1200" dirty="0">
                <a:latin typeface="Silka" panose="00000500000000000000" pitchFamily="50" charset="0"/>
                <a:hlinkClick r:id="rId3"/>
              </a:rPr>
              <a:t> </a:t>
            </a:r>
            <a:r>
              <a:rPr lang="fr-FR" sz="1200" dirty="0" err="1">
                <a:latin typeface="Silka" panose="00000500000000000000" pitchFamily="50" charset="0"/>
                <a:hlinkClick r:id="rId3"/>
              </a:rPr>
              <a:t>polito</a:t>
            </a:r>
            <a:endParaRPr lang="fr-FR" sz="1200" dirty="0">
              <a:latin typeface="Silka" panose="00000500000000000000" pitchFamily="50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006B31-F5F8-4325-AB06-96D56C62A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150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La différence entre UX et UI 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7" y="1589899"/>
            <a:ext cx="12764110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800" dirty="0"/>
              <a:t>Le cas de la bouteille de ketchup</a:t>
            </a:r>
          </a:p>
        </p:txBody>
      </p:sp>
      <p:pic>
        <p:nvPicPr>
          <p:cNvPr id="4098" name="Picture 2" descr="L&amp;#39;UX/UI : Qu&amp;#39;est-ce-que c&amp;#39;est ? - Yeah Communication">
            <a:extLst>
              <a:ext uri="{FF2B5EF4-FFF2-40B4-BE49-F238E27FC236}">
                <a16:creationId xmlns:a16="http://schemas.microsoft.com/office/drawing/2014/main" id="{5AF0DA88-6A49-4457-B147-196E84D31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2621089"/>
            <a:ext cx="790575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CBF34E1-5AF9-48F7-94BC-392FC3E8C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1932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La différence entre UX et UI 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7" y="1589899"/>
            <a:ext cx="12764110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800" dirty="0"/>
              <a:t>Le cas de la bouteille de ketchup</a:t>
            </a:r>
          </a:p>
        </p:txBody>
      </p:sp>
      <p:pic>
        <p:nvPicPr>
          <p:cNvPr id="4098" name="Picture 2" descr="L&amp;#39;UX/UI : Qu&amp;#39;est-ce-que c&amp;#39;est ? - Yeah Communication">
            <a:extLst>
              <a:ext uri="{FF2B5EF4-FFF2-40B4-BE49-F238E27FC236}">
                <a16:creationId xmlns:a16="http://schemas.microsoft.com/office/drawing/2014/main" id="{5AF0DA88-6A49-4457-B147-196E84D313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72" r="77133"/>
          <a:stretch/>
        </p:blipFill>
        <p:spPr bwMode="auto">
          <a:xfrm>
            <a:off x="10226259" y="2984737"/>
            <a:ext cx="1807773" cy="3205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L&amp;#39;UX/UI : Qu&amp;#39;est-ce-que c&amp;#39;est ? - Yeah Communication">
            <a:extLst>
              <a:ext uri="{FF2B5EF4-FFF2-40B4-BE49-F238E27FC236}">
                <a16:creationId xmlns:a16="http://schemas.microsoft.com/office/drawing/2014/main" id="{C58E405C-C68C-495B-8459-35F7BEDFF6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6" t="19872" r="52958"/>
          <a:stretch/>
        </p:blipFill>
        <p:spPr bwMode="auto">
          <a:xfrm>
            <a:off x="60821" y="2984736"/>
            <a:ext cx="1807773" cy="3205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That&amp;#39;s too much ketchup! | Ellyn Satter Institute">
            <a:extLst>
              <a:ext uri="{FF2B5EF4-FFF2-40B4-BE49-F238E27FC236}">
                <a16:creationId xmlns:a16="http://schemas.microsoft.com/office/drawing/2014/main" id="{094ED7C1-5456-4500-8A24-E5D21C631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224" y="3737460"/>
            <a:ext cx="3022363" cy="170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Ketchup shortage hits restaurants across the United States">
            <a:extLst>
              <a:ext uri="{FF2B5EF4-FFF2-40B4-BE49-F238E27FC236}">
                <a16:creationId xmlns:a16="http://schemas.microsoft.com/office/drawing/2014/main" id="{0D7E1A85-EB31-40D2-B18E-663BBA0A7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416" y="3737460"/>
            <a:ext cx="3022362" cy="170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0E89B8E9-486E-446F-B6E0-51C3DD866CDC}"/>
              </a:ext>
            </a:extLst>
          </p:cNvPr>
          <p:cNvSpPr txBox="1">
            <a:spLocks/>
          </p:cNvSpPr>
          <p:nvPr/>
        </p:nvSpPr>
        <p:spPr>
          <a:xfrm>
            <a:off x="5669158" y="4212359"/>
            <a:ext cx="8536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4800" dirty="0"/>
              <a:t>vs</a:t>
            </a:r>
          </a:p>
        </p:txBody>
      </p:sp>
      <p:pic>
        <p:nvPicPr>
          <p:cNvPr id="9" name="Picture 4" descr="White space design - 20 striking examples and best practices - Justinmind">
            <a:extLst>
              <a:ext uri="{FF2B5EF4-FFF2-40B4-BE49-F238E27FC236}">
                <a16:creationId xmlns:a16="http://schemas.microsoft.com/office/drawing/2014/main" id="{634B9ECA-8A1E-4DEB-AD9F-7978C1CC2A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35" r="14939"/>
          <a:stretch/>
        </p:blipFill>
        <p:spPr bwMode="auto">
          <a:xfrm>
            <a:off x="2634460" y="5563458"/>
            <a:ext cx="6146662" cy="1068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C8B8177-771F-439C-8B4E-668CE6066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3970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La pyramide de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l’ux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D1964F98-850C-4F1B-AAAA-0CE1935E4C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7051860"/>
              </p:ext>
            </p:extLst>
          </p:nvPr>
        </p:nvGraphicFramePr>
        <p:xfrm>
          <a:off x="2255328" y="1561382"/>
          <a:ext cx="7681343" cy="5042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18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Compétences de l’UX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B11C8C3-9647-4B37-AEF3-97AAF19D9DCB}"/>
              </a:ext>
            </a:extLst>
          </p:cNvPr>
          <p:cNvSpPr txBox="1"/>
          <p:nvPr/>
        </p:nvSpPr>
        <p:spPr>
          <a:xfrm>
            <a:off x="383426" y="2921950"/>
            <a:ext cx="105673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latin typeface="Bebas Neue" panose="020B0606020202050201" pitchFamily="34" charset="0"/>
              </a:rPr>
              <a:t>RECHERCHE</a:t>
            </a:r>
          </a:p>
        </p:txBody>
      </p:sp>
      <p:pic>
        <p:nvPicPr>
          <p:cNvPr id="6146" name="Picture 2" descr="Research Free Icon of Coronavirus Emergency">
            <a:extLst>
              <a:ext uri="{FF2B5EF4-FFF2-40B4-BE49-F238E27FC236}">
                <a16:creationId xmlns:a16="http://schemas.microsoft.com/office/drawing/2014/main" id="{40DA9E2F-1119-48CA-8D2A-7EC9D6F60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87" y="2862047"/>
            <a:ext cx="1057289" cy="1057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E3FCB5A3-92A2-435E-8A48-DFC170B1616C}"/>
              </a:ext>
            </a:extLst>
          </p:cNvPr>
          <p:cNvSpPr txBox="1">
            <a:spLocks/>
          </p:cNvSpPr>
          <p:nvPr/>
        </p:nvSpPr>
        <p:spPr>
          <a:xfrm>
            <a:off x="443811" y="4371297"/>
            <a:ext cx="4520241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UX </a:t>
            </a:r>
            <a:r>
              <a:rPr lang="fr-FR" sz="2000" dirty="0" err="1"/>
              <a:t>research</a:t>
            </a:r>
            <a:endParaRPr 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tests utilisateurs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ergonomie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/>
              <a:t>analytics</a:t>
            </a:r>
            <a:endParaRPr lang="fr-FR" sz="2000" dirty="0"/>
          </a:p>
        </p:txBody>
      </p:sp>
      <p:pic>
        <p:nvPicPr>
          <p:cNvPr id="6150" name="Picture 6" descr="Svg center center align center alignment general office text alignment icon  - Mini Icon Set General">
            <a:extLst>
              <a:ext uri="{FF2B5EF4-FFF2-40B4-BE49-F238E27FC236}">
                <a16:creationId xmlns:a16="http://schemas.microsoft.com/office/drawing/2014/main" id="{AAC7B399-2465-4822-AE63-67583ADF6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5410" y="2790093"/>
            <a:ext cx="1139614" cy="1139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E8F6AAA-02DA-44A8-A46B-D13A03A3CE30}"/>
              </a:ext>
            </a:extLst>
          </p:cNvPr>
          <p:cNvSpPr txBox="1"/>
          <p:nvPr/>
        </p:nvSpPr>
        <p:spPr>
          <a:xfrm>
            <a:off x="4310332" y="2938628"/>
            <a:ext cx="252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latin typeface="Bebas Neue" panose="020B0606020202050201" pitchFamily="34" charset="0"/>
              </a:rPr>
              <a:t>alignement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0BDCC880-32AB-4B30-BF7D-80BF30BED005}"/>
              </a:ext>
            </a:extLst>
          </p:cNvPr>
          <p:cNvSpPr txBox="1">
            <a:spLocks/>
          </p:cNvSpPr>
          <p:nvPr/>
        </p:nvSpPr>
        <p:spPr>
          <a:xfrm>
            <a:off x="4310332" y="4371099"/>
            <a:ext cx="4520241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/>
              <a:t>co-conception</a:t>
            </a:r>
            <a:endParaRPr 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/>
              <a:t>product</a:t>
            </a:r>
            <a:r>
              <a:rPr lang="fr-FR" sz="2000" dirty="0"/>
              <a:t>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/>
          </a:p>
        </p:txBody>
      </p:sp>
      <p:pic>
        <p:nvPicPr>
          <p:cNvPr id="6152" name="Picture 8" descr="Pen Free Icon of Bootstrap">
            <a:extLst>
              <a:ext uri="{FF2B5EF4-FFF2-40B4-BE49-F238E27FC236}">
                <a16:creationId xmlns:a16="http://schemas.microsoft.com/office/drawing/2014/main" id="{FBEF6A6D-E3A5-48E4-AA4D-5330C805F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8737" y="2990325"/>
            <a:ext cx="571135" cy="571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9E086306-2B2F-43EB-BCCF-26B18B5F3870}"/>
              </a:ext>
            </a:extLst>
          </p:cNvPr>
          <p:cNvSpPr txBox="1"/>
          <p:nvPr/>
        </p:nvSpPr>
        <p:spPr>
          <a:xfrm>
            <a:off x="8771711" y="2938628"/>
            <a:ext cx="2527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>
                <a:latin typeface="Bebas Neue" panose="020B0606020202050201" pitchFamily="34" charset="0"/>
              </a:rPr>
              <a:t>conception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976FA30A-A2D1-4BF2-AA4F-40AA06AAD4D3}"/>
              </a:ext>
            </a:extLst>
          </p:cNvPr>
          <p:cNvSpPr txBox="1">
            <a:spLocks/>
          </p:cNvSpPr>
          <p:nvPr/>
        </p:nvSpPr>
        <p:spPr>
          <a:xfrm>
            <a:off x="8620666" y="4671545"/>
            <a:ext cx="4520241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UI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prototypage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/>
              <a:t>graphic</a:t>
            </a:r>
            <a:r>
              <a:rPr lang="fr-FR" sz="2000" dirty="0"/>
              <a:t>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/>
              <a:t>copywriting</a:t>
            </a:r>
            <a:endParaRPr 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/>
              <a:t>UX </a:t>
            </a:r>
            <a:r>
              <a:rPr lang="fr-FR" sz="2000" dirty="0" err="1"/>
              <a:t>writing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01168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Tout miser sur les utilisateurs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D3B16A63-F9EB-4C22-A6F6-F3E028384581}"/>
              </a:ext>
            </a:extLst>
          </p:cNvPr>
          <p:cNvSpPr txBox="1">
            <a:spLocks/>
          </p:cNvSpPr>
          <p:nvPr/>
        </p:nvSpPr>
        <p:spPr>
          <a:xfrm>
            <a:off x="7795405" y="6332156"/>
            <a:ext cx="4396595" cy="4034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hlinkClick r:id="rId2"/>
              </a:rPr>
              <a:t>design.giannipolito.fr/template/</a:t>
            </a:r>
            <a:endParaRPr lang="fr-FR" sz="2000" dirty="0"/>
          </a:p>
        </p:txBody>
      </p:sp>
      <p:pic>
        <p:nvPicPr>
          <p:cNvPr id="4" name="Image 3">
            <a:hlinkClick r:id="rId3"/>
            <a:extLst>
              <a:ext uri="{FF2B5EF4-FFF2-40B4-BE49-F238E27FC236}">
                <a16:creationId xmlns:a16="http://schemas.microsoft.com/office/drawing/2014/main" id="{A5069BA3-1371-4281-86D4-93066FC1A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73" y="2503563"/>
            <a:ext cx="5844494" cy="4095335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5121087C-78E7-4E17-9F38-7CBD4737F608}"/>
              </a:ext>
            </a:extLst>
          </p:cNvPr>
          <p:cNvSpPr txBox="1">
            <a:spLocks/>
          </p:cNvSpPr>
          <p:nvPr/>
        </p:nvSpPr>
        <p:spPr>
          <a:xfrm>
            <a:off x="377878" y="1497380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rgbClr val="303030"/>
                </a:solidFill>
              </a:rPr>
              <a:t>carte de persona</a:t>
            </a:r>
            <a:endParaRPr lang="fr-FR" sz="6600" dirty="0"/>
          </a:p>
        </p:txBody>
      </p:sp>
    </p:spTree>
    <p:extLst>
      <p:ext uri="{BB962C8B-B14F-4D97-AF65-F5344CB8AC3E}">
        <p14:creationId xmlns:p14="http://schemas.microsoft.com/office/powerpoint/2010/main" val="2440515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Tout miser sur les utilisateurs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D3B16A63-F9EB-4C22-A6F6-F3E028384581}"/>
              </a:ext>
            </a:extLst>
          </p:cNvPr>
          <p:cNvSpPr txBox="1">
            <a:spLocks/>
          </p:cNvSpPr>
          <p:nvPr/>
        </p:nvSpPr>
        <p:spPr>
          <a:xfrm>
            <a:off x="7795405" y="6332156"/>
            <a:ext cx="4396595" cy="4034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hlinkClick r:id="rId2"/>
              </a:rPr>
              <a:t>design.giannipolito.fr/template/</a:t>
            </a:r>
            <a:endParaRPr lang="fr-FR" sz="2000" dirty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5121087C-78E7-4E17-9F38-7CBD4737F608}"/>
              </a:ext>
            </a:extLst>
          </p:cNvPr>
          <p:cNvSpPr txBox="1">
            <a:spLocks/>
          </p:cNvSpPr>
          <p:nvPr/>
        </p:nvSpPr>
        <p:spPr>
          <a:xfrm>
            <a:off x="377878" y="1497380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rgbClr val="303030"/>
                </a:solidFill>
              </a:rPr>
              <a:t>grille de feedback</a:t>
            </a:r>
            <a:endParaRPr lang="fr-FR" sz="6600" dirty="0"/>
          </a:p>
        </p:txBody>
      </p:sp>
      <p:pic>
        <p:nvPicPr>
          <p:cNvPr id="3" name="Image 2">
            <a:hlinkClick r:id="rId3"/>
            <a:extLst>
              <a:ext uri="{FF2B5EF4-FFF2-40B4-BE49-F238E27FC236}">
                <a16:creationId xmlns:a16="http://schemas.microsoft.com/office/drawing/2014/main" id="{617F379C-022F-4D7D-AEC0-376348984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135" y="2570251"/>
            <a:ext cx="5922459" cy="410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352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Tout miser sur les utilisateurs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D3B16A63-F9EB-4C22-A6F6-F3E028384581}"/>
              </a:ext>
            </a:extLst>
          </p:cNvPr>
          <p:cNvSpPr txBox="1">
            <a:spLocks/>
          </p:cNvSpPr>
          <p:nvPr/>
        </p:nvSpPr>
        <p:spPr>
          <a:xfrm>
            <a:off x="7795405" y="6332156"/>
            <a:ext cx="4396595" cy="40343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hlinkClick r:id="rId2"/>
              </a:rPr>
              <a:t>design.giannipolito.fr/template/</a:t>
            </a:r>
            <a:endParaRPr lang="fr-FR" sz="2000" dirty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5121087C-78E7-4E17-9F38-7CBD4737F608}"/>
              </a:ext>
            </a:extLst>
          </p:cNvPr>
          <p:cNvSpPr txBox="1">
            <a:spLocks/>
          </p:cNvSpPr>
          <p:nvPr/>
        </p:nvSpPr>
        <p:spPr>
          <a:xfrm>
            <a:off x="377878" y="1497380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rgbClr val="303030"/>
                </a:solidFill>
              </a:rPr>
              <a:t>carte d’empathie</a:t>
            </a:r>
            <a:endParaRPr lang="fr-FR" sz="6600" dirty="0"/>
          </a:p>
        </p:txBody>
      </p:sp>
      <p:pic>
        <p:nvPicPr>
          <p:cNvPr id="4" name="Image 3">
            <a:hlinkClick r:id="rId3"/>
            <a:extLst>
              <a:ext uri="{FF2B5EF4-FFF2-40B4-BE49-F238E27FC236}">
                <a16:creationId xmlns:a16="http://schemas.microsoft.com/office/drawing/2014/main" id="{6CB8DEF1-E250-48B8-8B27-F58C19EE5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502" y="2413665"/>
            <a:ext cx="5848709" cy="412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9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5 fondamentaux de l’UI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7" y="1952209"/>
            <a:ext cx="685140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1.  les couleurs</a:t>
            </a:r>
            <a:endParaRPr lang="fr-FR" sz="66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3131667-5B55-4178-8CD3-3957DEE8DF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77" t="3030" r="11448" b="6624"/>
          <a:stretch/>
        </p:blipFill>
        <p:spPr>
          <a:xfrm>
            <a:off x="1130060" y="2820838"/>
            <a:ext cx="3743865" cy="352820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2695C74-1C41-49E1-952A-95A852C299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940"/>
          <a:stretch/>
        </p:blipFill>
        <p:spPr>
          <a:xfrm>
            <a:off x="7318077" y="2850701"/>
            <a:ext cx="3743864" cy="3498341"/>
          </a:xfrm>
          <a:prstGeom prst="rect">
            <a:avLst/>
          </a:prstGeom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52DB7044-9596-422A-B195-4CB675A7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930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5 fondamentaux de l’UI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7" y="1952209"/>
            <a:ext cx="685140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rgbClr val="303030"/>
                </a:solidFill>
                <a:latin typeface="Poppins" panose="00000500000000000000" pitchFamily="2" charset="0"/>
              </a:rPr>
              <a:t>2</a:t>
            </a:r>
            <a:r>
              <a:rPr lang="fr-FR" sz="66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.  l’espace</a:t>
            </a:r>
            <a:endParaRPr lang="fr-FR" sz="6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580F7D1-A5E1-4C27-82FF-01D19113A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794" y="3152135"/>
            <a:ext cx="3755985" cy="286047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84649CC-4C01-4036-BFAA-A78C81ACF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344" y="2749270"/>
            <a:ext cx="3587996" cy="3263341"/>
          </a:xfrm>
          <a:prstGeom prst="rect">
            <a:avLst/>
          </a:prstGeom>
        </p:spPr>
      </p:pic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0BBB61A7-55EE-4279-A782-51B9633B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585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5 fondamentaux de l’UI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7" y="1952209"/>
            <a:ext cx="685140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rgbClr val="303030"/>
                </a:solidFill>
                <a:latin typeface="Poppins" panose="00000500000000000000" pitchFamily="2" charset="0"/>
              </a:rPr>
              <a:t>3</a:t>
            </a:r>
            <a:r>
              <a:rPr lang="fr-FR" sz="66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.  la hiérarchie</a:t>
            </a:r>
            <a:endParaRPr lang="fr-FR" sz="66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37FCC1B-A7B9-4B18-85F2-990D8CF3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12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2A005B2-9A09-43F0-AA5A-8F1C118792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40"/>
          <a:stretch/>
        </p:blipFill>
        <p:spPr>
          <a:xfrm>
            <a:off x="7318077" y="2850701"/>
            <a:ext cx="3743864" cy="349834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48790E8-BE11-4442-B324-831646DA3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76" y="2850701"/>
            <a:ext cx="3743864" cy="358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57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5 fondamentaux de l’UI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7" y="1952209"/>
            <a:ext cx="848540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4.  les effets visuels</a:t>
            </a:r>
            <a:endParaRPr lang="fr-FR" sz="66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37FCC1B-A7B9-4B18-85F2-990D8CF3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13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2A005B2-9A09-43F0-AA5A-8F1C118792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40"/>
          <a:stretch/>
        </p:blipFill>
        <p:spPr>
          <a:xfrm>
            <a:off x="7318077" y="2850701"/>
            <a:ext cx="3743864" cy="349834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DD1E68F-1F1D-43F2-952C-CAEFFD28C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60" y="2918006"/>
            <a:ext cx="3837720" cy="343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45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5 fondamentaux de l’UI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7" y="1952209"/>
            <a:ext cx="848540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rgbClr val="303030"/>
                </a:solidFill>
                <a:latin typeface="Poppins" panose="00000500000000000000" pitchFamily="2" charset="0"/>
              </a:rPr>
              <a:t>5</a:t>
            </a:r>
            <a:r>
              <a:rPr lang="fr-FR" sz="66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.  les polices</a:t>
            </a:r>
            <a:endParaRPr lang="fr-FR" sz="66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37FCC1B-A7B9-4B18-85F2-990D8CF33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14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2A005B2-9A09-43F0-AA5A-8F1C118792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40"/>
          <a:stretch/>
        </p:blipFill>
        <p:spPr>
          <a:xfrm>
            <a:off x="7318077" y="2850701"/>
            <a:ext cx="3743864" cy="349834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CF4E993-D9AE-4418-BF35-15D2E08A7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82" y="2969442"/>
            <a:ext cx="3580299" cy="344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3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FEB5061-7DA6-4CAB-9DFA-79351EBF0C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709"/>
          <a:stretch/>
        </p:blipFill>
        <p:spPr>
          <a:xfrm>
            <a:off x="1179190" y="2545272"/>
            <a:ext cx="3762266" cy="3735238"/>
          </a:xfrm>
          <a:prstGeom prst="rect">
            <a:avLst/>
          </a:prstGeom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22642ECD-9EB7-4D57-A6B6-1618B621787F}"/>
              </a:ext>
            </a:extLst>
          </p:cNvPr>
          <p:cNvSpPr txBox="1">
            <a:spLocks/>
          </p:cNvSpPr>
          <p:nvPr/>
        </p:nvSpPr>
        <p:spPr>
          <a:xfrm>
            <a:off x="377878" y="1497380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chemeClr val="bg1"/>
                </a:solidFill>
              </a:rPr>
              <a:t>les formulaires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B4CD045-860A-4505-BF9D-639770D326D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860" b="2686"/>
          <a:stretch/>
        </p:blipFill>
        <p:spPr>
          <a:xfrm>
            <a:off x="7582619" y="2462144"/>
            <a:ext cx="3430191" cy="373523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926655A-7F5D-420B-80DB-391DE4A1C9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8537" b="71115"/>
          <a:stretch/>
        </p:blipFill>
        <p:spPr>
          <a:xfrm>
            <a:off x="5043055" y="2545272"/>
            <a:ext cx="636980" cy="78282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AC68926-E399-4814-BC21-9F90751F7F3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8567" b="71417"/>
          <a:stretch/>
        </p:blipFill>
        <p:spPr>
          <a:xfrm>
            <a:off x="11286508" y="2585442"/>
            <a:ext cx="572838" cy="702488"/>
          </a:xfrm>
          <a:prstGeom prst="rect">
            <a:avLst/>
          </a:prstGeom>
        </p:spPr>
      </p:pic>
      <p:sp>
        <p:nvSpPr>
          <p:cNvPr id="16" name="Titre 1">
            <a:extLst>
              <a:ext uri="{FF2B5EF4-FFF2-40B4-BE49-F238E27FC236}">
                <a16:creationId xmlns:a16="http://schemas.microsoft.com/office/drawing/2014/main" id="{11682CCC-9D20-48DF-8E8A-5259A6B5C0BA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petit jeu &amp; Bonnes pratiques UI</a:t>
            </a:r>
          </a:p>
        </p:txBody>
      </p:sp>
    </p:spTree>
    <p:extLst>
      <p:ext uri="{BB962C8B-B14F-4D97-AF65-F5344CB8AC3E}">
        <p14:creationId xmlns:p14="http://schemas.microsoft.com/office/powerpoint/2010/main" val="2026730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re 1">
            <a:extLst>
              <a:ext uri="{FF2B5EF4-FFF2-40B4-BE49-F238E27FC236}">
                <a16:creationId xmlns:a16="http://schemas.microsoft.com/office/drawing/2014/main" id="{E535E6A7-0123-4148-9656-B31B327F2EA6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petit jeu &amp; Bonnes pratiques </a:t>
            </a:r>
            <a:r>
              <a:rPr lang="fr-FR" sz="6000" dirty="0" err="1">
                <a:solidFill>
                  <a:schemeClr val="bg1"/>
                </a:solidFill>
                <a:latin typeface="Bebas Neue" panose="020B0606020202050201" pitchFamily="34" charset="0"/>
              </a:rPr>
              <a:t>ui</a:t>
            </a:r>
            <a:endParaRPr lang="fr-FR" sz="60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22642ECD-9EB7-4D57-A6B6-1618B621787F}"/>
              </a:ext>
            </a:extLst>
          </p:cNvPr>
          <p:cNvSpPr txBox="1">
            <a:spLocks/>
          </p:cNvSpPr>
          <p:nvPr/>
        </p:nvSpPr>
        <p:spPr>
          <a:xfrm>
            <a:off x="304307" y="1528392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chemeClr val="bg1"/>
                </a:solidFill>
              </a:rPr>
              <a:t>les tableaux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6454F6C-3326-45D9-909D-D1307CFE08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744"/>
          <a:stretch/>
        </p:blipFill>
        <p:spPr>
          <a:xfrm>
            <a:off x="304307" y="3053861"/>
            <a:ext cx="5385294" cy="241122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C2E0604-4477-4577-A8E0-05C4DE7319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071"/>
          <a:stretch/>
        </p:blipFill>
        <p:spPr>
          <a:xfrm>
            <a:off x="7075055" y="2928421"/>
            <a:ext cx="4405746" cy="245770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B4F5DF5-7908-477C-991E-F0BB5943BF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8537" b="71115"/>
          <a:stretch/>
        </p:blipFill>
        <p:spPr>
          <a:xfrm>
            <a:off x="5624946" y="2928421"/>
            <a:ext cx="636980" cy="78282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6869A03-546B-4022-B923-0EBA53D18B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8567" b="71417"/>
          <a:stretch/>
        </p:blipFill>
        <p:spPr>
          <a:xfrm>
            <a:off x="11480801" y="2928421"/>
            <a:ext cx="572838" cy="70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25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22642ECD-9EB7-4D57-A6B6-1618B621787F}"/>
              </a:ext>
            </a:extLst>
          </p:cNvPr>
          <p:cNvSpPr txBox="1">
            <a:spLocks/>
          </p:cNvSpPr>
          <p:nvPr/>
        </p:nvSpPr>
        <p:spPr>
          <a:xfrm>
            <a:off x="377878" y="1497380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chemeClr val="bg1"/>
                </a:solidFill>
              </a:rPr>
              <a:t>les tableaux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B68AFC0-B24E-45C3-9673-2FD68E356A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773"/>
          <a:stretch/>
        </p:blipFill>
        <p:spPr>
          <a:xfrm>
            <a:off x="6703839" y="2493771"/>
            <a:ext cx="4826066" cy="263626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7E15894-2F24-4FFC-983A-0C5EF5E6A1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715"/>
          <a:stretch/>
        </p:blipFill>
        <p:spPr>
          <a:xfrm>
            <a:off x="432617" y="2493771"/>
            <a:ext cx="4961420" cy="271019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3FEE539-FCD5-440D-ADD0-0642691C73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8537" b="71115"/>
          <a:stretch/>
        </p:blipFill>
        <p:spPr>
          <a:xfrm>
            <a:off x="5394037" y="2533941"/>
            <a:ext cx="636980" cy="78282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2FB623FF-81D9-42EE-86E1-6EBF741DBB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8567" b="71417"/>
          <a:stretch/>
        </p:blipFill>
        <p:spPr>
          <a:xfrm>
            <a:off x="11529905" y="2493771"/>
            <a:ext cx="572838" cy="702488"/>
          </a:xfrm>
          <a:prstGeom prst="rect">
            <a:avLst/>
          </a:prstGeom>
        </p:spPr>
      </p:pic>
      <p:sp>
        <p:nvSpPr>
          <p:cNvPr id="15" name="Titre 1">
            <a:extLst>
              <a:ext uri="{FF2B5EF4-FFF2-40B4-BE49-F238E27FC236}">
                <a16:creationId xmlns:a16="http://schemas.microsoft.com/office/drawing/2014/main" id="{671304BE-A2AF-418B-89C9-057667618D48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petit jeu &amp; Bonnes pratiques </a:t>
            </a:r>
            <a:r>
              <a:rPr lang="fr-FR" sz="6000" dirty="0" err="1">
                <a:solidFill>
                  <a:schemeClr val="bg1"/>
                </a:solidFill>
                <a:latin typeface="Bebas Neue" panose="020B0606020202050201" pitchFamily="34" charset="0"/>
              </a:rPr>
              <a:t>ui</a:t>
            </a:r>
            <a:endParaRPr lang="fr-FR" sz="60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72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22642ECD-9EB7-4D57-A6B6-1618B621787F}"/>
              </a:ext>
            </a:extLst>
          </p:cNvPr>
          <p:cNvSpPr txBox="1">
            <a:spLocks/>
          </p:cNvSpPr>
          <p:nvPr/>
        </p:nvSpPr>
        <p:spPr>
          <a:xfrm>
            <a:off x="377878" y="1497380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chemeClr val="bg1"/>
                </a:solidFill>
              </a:rPr>
              <a:t>liste de caractéristiques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31FB7BF-A204-45E1-8457-2B1C917E5A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373"/>
          <a:stretch/>
        </p:blipFill>
        <p:spPr>
          <a:xfrm>
            <a:off x="7794243" y="2363623"/>
            <a:ext cx="3067722" cy="407641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97B1056-83BD-428F-9912-9262CF61D5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931"/>
          <a:stretch/>
        </p:blipFill>
        <p:spPr>
          <a:xfrm>
            <a:off x="750528" y="2363623"/>
            <a:ext cx="3067722" cy="417235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F592227-092C-4A85-87D0-3236A1C9DA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8537" b="71115"/>
          <a:stretch/>
        </p:blipFill>
        <p:spPr>
          <a:xfrm>
            <a:off x="10905764" y="2453600"/>
            <a:ext cx="636980" cy="78282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B14800F-CEE1-43F2-9057-85B44C7044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8567" b="71417"/>
          <a:stretch/>
        </p:blipFill>
        <p:spPr>
          <a:xfrm>
            <a:off x="3993033" y="2493771"/>
            <a:ext cx="572838" cy="702488"/>
          </a:xfrm>
          <a:prstGeom prst="rect">
            <a:avLst/>
          </a:prstGeom>
        </p:spPr>
      </p:pic>
      <p:sp>
        <p:nvSpPr>
          <p:cNvPr id="14" name="Titre 1">
            <a:extLst>
              <a:ext uri="{FF2B5EF4-FFF2-40B4-BE49-F238E27FC236}">
                <a16:creationId xmlns:a16="http://schemas.microsoft.com/office/drawing/2014/main" id="{0BDB77CC-6E25-4C5A-AD34-1DA1D081E4BC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petit jeu &amp; Bonnes pratiques </a:t>
            </a:r>
            <a:r>
              <a:rPr lang="fr-FR" sz="6000" dirty="0" err="1">
                <a:solidFill>
                  <a:schemeClr val="bg1"/>
                </a:solidFill>
                <a:latin typeface="Bebas Neue" panose="020B0606020202050201" pitchFamily="34" charset="0"/>
              </a:rPr>
              <a:t>ui</a:t>
            </a:r>
            <a:endParaRPr lang="fr-FR" sz="60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81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2309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2520" y="1683115"/>
            <a:ext cx="9615547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9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lois de perception visuelle et théories cognitives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5121087C-78E7-4E17-9F38-7CBD4737F608}"/>
              </a:ext>
            </a:extLst>
          </p:cNvPr>
          <p:cNvSpPr txBox="1">
            <a:spLocks/>
          </p:cNvSpPr>
          <p:nvPr/>
        </p:nvSpPr>
        <p:spPr>
          <a:xfrm>
            <a:off x="302520" y="4811474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rgbClr val="303030"/>
                </a:solidFill>
              </a:rPr>
              <a:t>l’utilisateur est un humain</a:t>
            </a:r>
            <a:endParaRPr lang="fr-FR" sz="54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D09CF20-CE1B-4027-8844-4E03706866F5}"/>
              </a:ext>
            </a:extLst>
          </p:cNvPr>
          <p:cNvSpPr txBox="1">
            <a:spLocks/>
          </p:cNvSpPr>
          <p:nvPr/>
        </p:nvSpPr>
        <p:spPr>
          <a:xfrm>
            <a:off x="302520" y="5835891"/>
            <a:ext cx="11586959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5400" dirty="0">
                <a:solidFill>
                  <a:srgbClr val="303030"/>
                </a:solidFill>
              </a:rPr>
              <a:t>l’humain a ses limites</a:t>
            </a:r>
            <a:endParaRPr lang="fr-FR" sz="5400" dirty="0"/>
          </a:p>
        </p:txBody>
      </p:sp>
    </p:spTree>
    <p:extLst>
      <p:ext uri="{BB962C8B-B14F-4D97-AF65-F5344CB8AC3E}">
        <p14:creationId xmlns:p14="http://schemas.microsoft.com/office/powerpoint/2010/main" val="2981279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Loi de proximité </a:t>
            </a:r>
          </a:p>
        </p:txBody>
      </p:sp>
      <p:pic>
        <p:nvPicPr>
          <p:cNvPr id="10242" name="Picture 2" descr="Théorie de la Gestalt | Le bloc-notes, UX &amp;amp; Design d&amp;#39;expérience utilisateur">
            <a:extLst>
              <a:ext uri="{FF2B5EF4-FFF2-40B4-BE49-F238E27FC236}">
                <a16:creationId xmlns:a16="http://schemas.microsoft.com/office/drawing/2014/main" id="{F64E59DD-1CBE-43E4-A8E0-AC245B609D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16" b="3703"/>
          <a:stretch/>
        </p:blipFill>
        <p:spPr bwMode="auto">
          <a:xfrm>
            <a:off x="2430843" y="2092181"/>
            <a:ext cx="7330313" cy="4479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8A4BEDA7-31EE-4C9F-8461-CEC298026078}"/>
              </a:ext>
            </a:extLst>
          </p:cNvPr>
          <p:cNvSpPr txBox="1">
            <a:spLocks/>
          </p:cNvSpPr>
          <p:nvPr/>
        </p:nvSpPr>
        <p:spPr>
          <a:xfrm>
            <a:off x="304307" y="1290665"/>
            <a:ext cx="11425875" cy="51533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</a:rPr>
              <a:t>des éléments mis côtes à côtes sont perçus comme un ensemble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54155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Loi de proximité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48F97C7-CF20-4182-828F-1BDDEC0FC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6" y="2387600"/>
            <a:ext cx="10954327" cy="2491265"/>
          </a:xfrm>
          <a:prstGeom prst="rect">
            <a:avLst/>
          </a:prstGeom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0224427-4220-4E25-AD1D-676D6E09B2BE}"/>
              </a:ext>
            </a:extLst>
          </p:cNvPr>
          <p:cNvCxnSpPr/>
          <p:nvPr/>
        </p:nvCxnSpPr>
        <p:spPr>
          <a:xfrm>
            <a:off x="3017702" y="4470401"/>
            <a:ext cx="623713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44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Loi de proximité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26D9724-6B1D-44D9-9F6D-280767386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240" y="1588655"/>
            <a:ext cx="7684393" cy="4501287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A4D241E7-28AE-4376-99D9-DA45EBCE14F6}"/>
              </a:ext>
            </a:extLst>
          </p:cNvPr>
          <p:cNvSpPr/>
          <p:nvPr/>
        </p:nvSpPr>
        <p:spPr>
          <a:xfrm>
            <a:off x="1618618" y="3998626"/>
            <a:ext cx="8543636" cy="2387600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862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Loi de la similarité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C89A65B-8B4F-4BF9-B058-67809E7DE7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451" b="3704"/>
          <a:stretch/>
        </p:blipFill>
        <p:spPr>
          <a:xfrm>
            <a:off x="2676515" y="2628092"/>
            <a:ext cx="6838970" cy="3992853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783E9F2B-6005-46AA-BB9E-D7FC4E30E608}"/>
              </a:ext>
            </a:extLst>
          </p:cNvPr>
          <p:cNvSpPr txBox="1">
            <a:spLocks/>
          </p:cNvSpPr>
          <p:nvPr/>
        </p:nvSpPr>
        <p:spPr>
          <a:xfrm>
            <a:off x="304307" y="1489421"/>
            <a:ext cx="11425875" cy="51533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</a:rPr>
              <a:t>des éléments ayant le même aspect sont perçus comme ayant </a:t>
            </a:r>
          </a:p>
          <a:p>
            <a:r>
              <a:rPr lang="fr-FR" sz="2400" dirty="0">
                <a:solidFill>
                  <a:srgbClr val="303030"/>
                </a:solidFill>
              </a:rPr>
              <a:t>la même fonction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89286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Loi de la similarité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EAA8666-F3D6-4DD6-9EE7-73390A61B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3800"/>
            <a:ext cx="12192000" cy="540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923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Loi de la similarité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0BCF975-2D95-4F76-8561-09D18CD02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008" y="2499017"/>
            <a:ext cx="7495983" cy="289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8029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Loi de continuité</a:t>
            </a:r>
          </a:p>
        </p:txBody>
      </p:sp>
      <p:pic>
        <p:nvPicPr>
          <p:cNvPr id="11266" name="Picture 2" descr="Exploring the Gestalt Principles of Design | Toptal">
            <a:extLst>
              <a:ext uri="{FF2B5EF4-FFF2-40B4-BE49-F238E27FC236}">
                <a16:creationId xmlns:a16="http://schemas.microsoft.com/office/drawing/2014/main" id="{3AB95CB1-0551-4B4B-A6C6-7A6248125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164" y="2149908"/>
            <a:ext cx="7758545" cy="415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E557DE54-82F7-407F-AAD9-CAFE825CA85A}"/>
              </a:ext>
            </a:extLst>
          </p:cNvPr>
          <p:cNvSpPr txBox="1">
            <a:spLocks/>
          </p:cNvSpPr>
          <p:nvPr/>
        </p:nvSpPr>
        <p:spPr>
          <a:xfrm>
            <a:off x="304307" y="1489421"/>
            <a:ext cx="11425875" cy="51533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</a:rPr>
              <a:t>des éléments rapprochés tendent à représenter des formes 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0045938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Loi de continuité</a:t>
            </a:r>
          </a:p>
        </p:txBody>
      </p:sp>
      <p:pic>
        <p:nvPicPr>
          <p:cNvPr id="12290" name="Picture 2" descr="UI Design in Practice: Gestalt Principles | UXMISFIT.COM">
            <a:extLst>
              <a:ext uri="{FF2B5EF4-FFF2-40B4-BE49-F238E27FC236}">
                <a16:creationId xmlns:a16="http://schemas.microsoft.com/office/drawing/2014/main" id="{17927559-25B0-4709-A697-AAD5CA03F9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85" b="17121"/>
          <a:stretch/>
        </p:blipFill>
        <p:spPr bwMode="auto">
          <a:xfrm>
            <a:off x="2509255" y="1510144"/>
            <a:ext cx="7173487" cy="1995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A2E14AB-3FE0-4622-BE17-C5CA96807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3" y="4837257"/>
            <a:ext cx="904875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246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Loi de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Hick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83E9F2B-6005-46AA-BB9E-D7FC4E30E608}"/>
              </a:ext>
            </a:extLst>
          </p:cNvPr>
          <p:cNvSpPr txBox="1">
            <a:spLocks/>
          </p:cNvSpPr>
          <p:nvPr/>
        </p:nvSpPr>
        <p:spPr>
          <a:xfrm>
            <a:off x="304307" y="1489421"/>
            <a:ext cx="11425875" cy="51533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</a:rPr>
              <a:t>plus un utilisateur a de choix, plus il prendra du temps à prendre </a:t>
            </a:r>
          </a:p>
          <a:p>
            <a:r>
              <a:rPr lang="fr-FR" sz="2400" dirty="0">
                <a:solidFill>
                  <a:srgbClr val="303030"/>
                </a:solidFill>
              </a:rPr>
              <a:t>une décision</a:t>
            </a:r>
            <a:endParaRPr lang="fr-FR" sz="2400" dirty="0"/>
          </a:p>
        </p:txBody>
      </p:sp>
      <p:pic>
        <p:nvPicPr>
          <p:cNvPr id="18436" name="Picture 4" descr="hicks law #medium #ux #userexperience #experience #ux resource #customer  encn | Bootcamp">
            <a:extLst>
              <a:ext uri="{FF2B5EF4-FFF2-40B4-BE49-F238E27FC236}">
                <a16:creationId xmlns:a16="http://schemas.microsoft.com/office/drawing/2014/main" id="{9C5063E1-16C7-45C9-9DB0-F661B385A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395" y="2194493"/>
            <a:ext cx="6444084" cy="413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137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Loi de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Hick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B076C17-CEDE-4E4A-BBAF-6CCF3166D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3800"/>
            <a:ext cx="12192000" cy="550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9323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Loi de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Hick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BC82BF1-5B6F-4887-A138-D218E7E2C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74" y="1705546"/>
            <a:ext cx="10102326" cy="405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10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loi de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fitts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7BBA6AC-9DD9-4451-B924-9C5845DCD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320" y="2711729"/>
            <a:ext cx="5709031" cy="4281773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9F09AECE-F5EF-4291-9A13-172B557FF93C}"/>
              </a:ext>
            </a:extLst>
          </p:cNvPr>
          <p:cNvSpPr txBox="1">
            <a:spLocks/>
          </p:cNvSpPr>
          <p:nvPr/>
        </p:nvSpPr>
        <p:spPr>
          <a:xfrm>
            <a:off x="304307" y="1489421"/>
            <a:ext cx="11425875" cy="51533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</a:rPr>
              <a:t>lorsqu’on veut atteindre une cible, plus cette cible est grande et proche, plus elle est facile à atteindre 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2453589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loi de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fitts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80E5F57-1DCF-4800-99D3-CEECD806DA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11"/>
          <a:stretch/>
        </p:blipFill>
        <p:spPr>
          <a:xfrm>
            <a:off x="0" y="1705546"/>
            <a:ext cx="12192000" cy="392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798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effet von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restorff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13314" name="Picture 2" descr="Von Restorff Effect ! encode experiences differently #Marketing-Thema |  Marketing-Thema.com">
            <a:extLst>
              <a:ext uri="{FF2B5EF4-FFF2-40B4-BE49-F238E27FC236}">
                <a16:creationId xmlns:a16="http://schemas.microsoft.com/office/drawing/2014/main" id="{946548BA-5491-48DB-9C36-49FD73F48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68" y="2175959"/>
            <a:ext cx="10299664" cy="405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28BD919C-5B0A-4126-9C2E-F4E3FE5409BF}"/>
              </a:ext>
            </a:extLst>
          </p:cNvPr>
          <p:cNvSpPr txBox="1">
            <a:spLocks/>
          </p:cNvSpPr>
          <p:nvPr/>
        </p:nvSpPr>
        <p:spPr>
          <a:xfrm>
            <a:off x="304307" y="1489421"/>
            <a:ext cx="11425875" cy="51533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rgbClr val="303030"/>
                </a:solidFill>
              </a:rPr>
              <a:t>différencier un élément par rapport à son groupe le met en valeur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8198131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effet von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restorff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14338" name="Picture 2" descr="Design for Conversion: Apply the Von Restorff Effect">
            <a:extLst>
              <a:ext uri="{FF2B5EF4-FFF2-40B4-BE49-F238E27FC236}">
                <a16:creationId xmlns:a16="http://schemas.microsoft.com/office/drawing/2014/main" id="{5476976F-D759-4CA1-A32E-57FDE04D03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2"/>
          <a:stretch/>
        </p:blipFill>
        <p:spPr bwMode="auto">
          <a:xfrm>
            <a:off x="2163827" y="1670727"/>
            <a:ext cx="7453220" cy="490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3030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NEXT STEP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83288" y="4584788"/>
            <a:ext cx="1162542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endParaRPr lang="fr-FR" sz="66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fr-FR" sz="66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fr-FR" sz="66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6600" dirty="0">
                <a:solidFill>
                  <a:schemeClr val="bg1"/>
                </a:solidFill>
                <a:latin typeface="Poppins" panose="00000500000000000000" pitchFamily="2" charset="0"/>
              </a:rPr>
              <a:t>UX </a:t>
            </a:r>
            <a:r>
              <a:rPr lang="fr-FR" sz="6600" dirty="0" err="1">
                <a:solidFill>
                  <a:schemeClr val="bg1"/>
                </a:solidFill>
                <a:latin typeface="Poppins" panose="00000500000000000000" pitchFamily="2" charset="0"/>
              </a:rPr>
              <a:t>writing</a:t>
            </a:r>
            <a:endParaRPr lang="fr-FR" sz="6600" dirty="0">
              <a:solidFill>
                <a:schemeClr val="bg1"/>
              </a:solidFill>
              <a:latin typeface="Poppins" panose="00000500000000000000" pitchFamily="2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6600" dirty="0">
                <a:solidFill>
                  <a:schemeClr val="bg1"/>
                </a:solidFill>
                <a:latin typeface="Poppins" panose="00000500000000000000" pitchFamily="2" charset="0"/>
              </a:rPr>
              <a:t>implications UI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fr-FR" sz="6600" dirty="0">
              <a:solidFill>
                <a:schemeClr val="bg1"/>
              </a:solidFill>
              <a:latin typeface="Poppins" panose="00000500000000000000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6E1C059-12D6-45B8-AF6B-8266F866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35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7646436-9056-4EE3-A6CD-0EE5846C7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883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378</Words>
  <Application>Microsoft Office PowerPoint</Application>
  <PresentationFormat>Grand écran</PresentationFormat>
  <Paragraphs>102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2" baseType="lpstr">
      <vt:lpstr>Arial</vt:lpstr>
      <vt:lpstr>Bebas Neue</vt:lpstr>
      <vt:lpstr>Calibri</vt:lpstr>
      <vt:lpstr>Calibri Light</vt:lpstr>
      <vt:lpstr>Poppins</vt:lpstr>
      <vt:lpstr>Silka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Fayçal Sellam</dc:creator>
  <cp:lastModifiedBy>User1</cp:lastModifiedBy>
  <cp:revision>7</cp:revision>
  <dcterms:created xsi:type="dcterms:W3CDTF">2021-11-17T22:33:31Z</dcterms:created>
  <dcterms:modified xsi:type="dcterms:W3CDTF">2022-11-24T06:51:17Z</dcterms:modified>
</cp:coreProperties>
</file>