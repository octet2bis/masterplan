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56" r:id="rId2"/>
    <p:sldId id="257" r:id="rId3"/>
    <p:sldId id="337" r:id="rId4"/>
    <p:sldId id="304" r:id="rId5"/>
    <p:sldId id="313" r:id="rId6"/>
    <p:sldId id="339" r:id="rId7"/>
    <p:sldId id="349" r:id="rId8"/>
    <p:sldId id="350" r:id="rId9"/>
    <p:sldId id="341" r:id="rId10"/>
    <p:sldId id="351" r:id="rId11"/>
    <p:sldId id="352" r:id="rId12"/>
    <p:sldId id="353" r:id="rId13"/>
    <p:sldId id="354" r:id="rId14"/>
    <p:sldId id="355" r:id="rId15"/>
    <p:sldId id="383" r:id="rId16"/>
    <p:sldId id="263" r:id="rId17"/>
    <p:sldId id="331" r:id="rId18"/>
    <p:sldId id="325" r:id="rId19"/>
    <p:sldId id="364" r:id="rId20"/>
    <p:sldId id="344" r:id="rId21"/>
    <p:sldId id="365" r:id="rId22"/>
    <p:sldId id="333" r:id="rId23"/>
    <p:sldId id="332" r:id="rId24"/>
    <p:sldId id="335" r:id="rId25"/>
    <p:sldId id="356" r:id="rId26"/>
    <p:sldId id="357" r:id="rId27"/>
    <p:sldId id="338" r:id="rId28"/>
    <p:sldId id="358" r:id="rId29"/>
    <p:sldId id="382" r:id="rId30"/>
    <p:sldId id="340" r:id="rId31"/>
    <p:sldId id="345" r:id="rId32"/>
    <p:sldId id="343" r:id="rId33"/>
    <p:sldId id="346" r:id="rId34"/>
    <p:sldId id="348" r:id="rId35"/>
    <p:sldId id="347" r:id="rId36"/>
    <p:sldId id="359" r:id="rId37"/>
    <p:sldId id="360" r:id="rId38"/>
    <p:sldId id="362" r:id="rId39"/>
    <p:sldId id="363" r:id="rId40"/>
    <p:sldId id="361" r:id="rId41"/>
    <p:sldId id="367" r:id="rId42"/>
    <p:sldId id="368" r:id="rId43"/>
    <p:sldId id="370" r:id="rId44"/>
    <p:sldId id="369" r:id="rId45"/>
    <p:sldId id="371" r:id="rId46"/>
    <p:sldId id="373" r:id="rId47"/>
    <p:sldId id="374" r:id="rId48"/>
    <p:sldId id="375" r:id="rId49"/>
    <p:sldId id="376" r:id="rId50"/>
    <p:sldId id="377" r:id="rId51"/>
    <p:sldId id="378" r:id="rId52"/>
    <p:sldId id="379" r:id="rId53"/>
    <p:sldId id="381" r:id="rId5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19E"/>
    <a:srgbClr val="1871A9"/>
    <a:srgbClr val="BEC2E8"/>
    <a:srgbClr val="B4C7E7"/>
    <a:srgbClr val="1F4E79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DBC1DB-F904-4ED4-91EC-ED869F3FE908}" type="datetimeFigureOut">
              <a:rPr lang="fr-FR" smtClean="0"/>
              <a:t>30/08/2024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D77C7D-0C16-438B-AA37-6324CDB825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7296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029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A1499D-1446-4E04-AAE9-0F53FA0E4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34F14D-AFF3-470D-9806-087CEC071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EE0A6ED-3CC6-4D50-9CFE-05B3EBC50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5E6A-7D02-4E43-8ACA-C8662A82C9C4}" type="datetime1">
              <a:rPr lang="fr-FR" smtClean="0"/>
              <a:t>30/08/2024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890BC0-0958-4CAE-95AE-5D71BF12E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6D66F5F-8328-4338-AC3F-32239B5C7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6198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B48302-A599-4833-AFC0-1323DBCA6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F26B1E1-2F99-4DEF-9452-DD20A9E98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D01FB8-A82C-49BF-9B46-6E439F44A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07CDB-0744-4C76-93AB-E8B7EE07BA7F}" type="datetime1">
              <a:rPr lang="fr-FR" smtClean="0"/>
              <a:t>30/08/2024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B381A4-F05D-4CF1-BBFA-7932ECE60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891D034-9C23-435C-991A-F06A33900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7327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74BE04-6C9D-4EAD-BE8B-D94772788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5BF750-F6A3-4EE1-B9AA-1BAFCDAA23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1EDE41D-71C0-45B1-8D96-ECBA40957B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B619CCB-53F4-46FD-9ED6-652BDF617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20AA8-DB14-44C6-956E-F6E0EEAD56F9}" type="datetime1">
              <a:rPr lang="fr-FR" smtClean="0"/>
              <a:t>30/08/2024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F918141-0A9D-4E94-8BF9-58166F39F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5443D87-8997-4BC2-A259-8FD4500D3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6089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C3BF19-4476-4566-9CEC-3E2E626D3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69F6A3E-7141-4F74-BDA1-96690C752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E641606-4939-4363-A8A2-26AFCBDA34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676DEDB-0060-4A12-88A2-CFA6C3E00F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9DA22D7-639D-4375-948A-DD772BA06A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FE85279-70F7-4898-BABF-33CAF59F2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4878F-7FAE-40E5-87E0-15E2E5B585C8}" type="datetime1">
              <a:rPr lang="fr-FR" smtClean="0"/>
              <a:t>30/08/2024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ED99652-4A05-49D9-9BEC-E92BDF55C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CBAE0A0-FCC4-4F4C-8F90-12132C83F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3648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005936-6A3A-4300-ACFE-EEDFBC970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68909AB-093A-4BCB-9825-82200B0AD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E2122-D94C-419B-8AC0-48C98DAE3707}" type="datetime1">
              <a:rPr lang="fr-FR" smtClean="0"/>
              <a:t>30/08/2024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1D1FF6E-F117-4151-9947-B6E031BBD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EFBC609-8C3A-4465-A7A9-2F6436572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3115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AFA2BCE-5BE9-4F89-9981-DCBA0F851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DC048-C528-4723-899C-F8862751532C}" type="datetime1">
              <a:rPr lang="fr-FR" smtClean="0"/>
              <a:t>30/08/2024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3398552-706C-48C2-9C3B-288B6BF46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AC78B2F-BF9F-4817-A1EC-58AACDA03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7826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CCA24E-0E39-467C-916D-53B9FDD46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0F977B-0F1A-481B-BD1B-6D44FDC99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6AB8AC9-5CC7-4EFC-AC0B-049F6B5313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861F640-386A-443B-9708-A314D79A4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DB301-81F5-4238-9A43-07B17721BF85}" type="datetime1">
              <a:rPr lang="fr-FR" smtClean="0"/>
              <a:t>30/08/2024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003D8C-9F88-4936-9468-91149B249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D623694-DF0C-435A-BB75-84F6A1AC4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4967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2B3396-1F2B-45BB-9282-0B4FE8365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B2F398F-574C-4D62-8764-1B26989DC0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F561EB9-22A7-4F64-9F59-5384144525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4A1BBA3-F8C2-47EF-9602-1859C8BD4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57BB0-3357-4204-92CF-43C04F4FFA1E}" type="datetime1">
              <a:rPr lang="fr-FR" smtClean="0"/>
              <a:t>30/08/2024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7C8D5AD-91DD-4E1F-A09C-68524B545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98CCBFB-DDBE-4AC6-A4D7-8CCAC312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6618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6DEBE9-5F4A-4E6C-82C1-1C8B596EB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9EA56B5-35C9-4DC0-8FA1-CA2D97A5E0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7B836D0-8478-4982-98F6-A6F7CE0FB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FAB57-D298-4856-B02B-0F4A6F0F600A}" type="datetime1">
              <a:rPr lang="fr-FR" smtClean="0"/>
              <a:t>30/08/2024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0965E9-FCB0-4F5B-897D-EC9F06E9D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546CC1-9BDA-4375-9ED5-7702CA10F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877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DF4DBC5-0857-406F-9B0B-49EE0E31F6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B849488-7657-4758-AB53-3F1256341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595FD13-E122-4E58-9D68-7E93E06BC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1997B-FC33-4AAC-B47C-BAF6E4E8D9E7}" type="datetime1">
              <a:rPr lang="fr-FR" smtClean="0"/>
              <a:t>30/08/2024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A1DE80-EC4A-4FC8-B448-474078475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DACE03-8677-4602-9797-9DC1BC5A9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1919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791F028-C547-4C15-94D4-F4111DCFE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69FA9BE-FB49-4241-BAA1-3B6716B0B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CA40CB4-D352-442A-9B62-8BF3647B83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27D251-361F-4C2E-81DA-2E7DDCD8F7D5}" type="datetime1">
              <a:rPr lang="fr-FR" smtClean="0"/>
              <a:t>30/08/2024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6ADD21E-12B4-4E60-A942-4339717CBF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BEF094-F7FD-48CB-8D1D-5C0AFA2C39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073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httpstatus.io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httpstatus.io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search.google.com/structured-data/testing-tool" TargetMode="Externa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7081284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2D7DE57-EA08-41D9-972C-F0579F99CBA5}"/>
              </a:ext>
            </a:extLst>
          </p:cNvPr>
          <p:cNvSpPr txBox="1">
            <a:spLocks/>
          </p:cNvSpPr>
          <p:nvPr/>
        </p:nvSpPr>
        <p:spPr>
          <a:xfrm>
            <a:off x="453311" y="215703"/>
            <a:ext cx="5745470" cy="238760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dirty="0"/>
              <a:t>introduction au SEO</a:t>
            </a:r>
          </a:p>
        </p:txBody>
      </p:sp>
      <p:sp>
        <p:nvSpPr>
          <p:cNvPr id="9" name="Espace réservé de la date 3">
            <a:extLst>
              <a:ext uri="{FF2B5EF4-FFF2-40B4-BE49-F238E27FC236}">
                <a16:creationId xmlns:a16="http://schemas.microsoft.com/office/drawing/2014/main" id="{C6E2C8AC-AFB2-4A02-A569-68D2D194B9DD}"/>
              </a:ext>
            </a:extLst>
          </p:cNvPr>
          <p:cNvSpPr txBox="1">
            <a:spLocks/>
          </p:cNvSpPr>
          <p:nvPr/>
        </p:nvSpPr>
        <p:spPr>
          <a:xfrm>
            <a:off x="274502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>
                <a:latin typeface="Silka" panose="00000500000000000000" pitchFamily="50" charset="0"/>
              </a:rPr>
              <a:t>FS Consulting </a:t>
            </a:r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C8DA517E-F120-4AA3-8829-AE4F48BF9D63}"/>
              </a:ext>
            </a:extLst>
          </p:cNvPr>
          <p:cNvSpPr txBox="1">
            <a:spLocks/>
          </p:cNvSpPr>
          <p:nvPr/>
        </p:nvSpPr>
        <p:spPr>
          <a:xfrm>
            <a:off x="10374903" y="6356350"/>
            <a:ext cx="1817097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>
                <a:latin typeface="Silka" panose="00000500000000000000" pitchFamily="50" charset="0"/>
              </a:rPr>
              <a:t>Rocket </a:t>
            </a:r>
            <a:r>
              <a:rPr lang="fr-FR" sz="1200" dirty="0" err="1">
                <a:latin typeface="Silka" panose="00000500000000000000" pitchFamily="50" charset="0"/>
              </a:rPr>
              <a:t>School</a:t>
            </a:r>
            <a:r>
              <a:rPr lang="fr-FR" sz="1200" dirty="0">
                <a:latin typeface="Silka" panose="00000500000000000000" pitchFamily="50" charset="0"/>
              </a:rPr>
              <a:t> Paris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144967" y="4391209"/>
            <a:ext cx="685125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Chapitre 8 : </a:t>
            </a:r>
          </a:p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SEO technique</a:t>
            </a:r>
          </a:p>
        </p:txBody>
      </p:sp>
      <p:pic>
        <p:nvPicPr>
          <p:cNvPr id="12" name="Picture 2" descr="École de Marketing, Customer Success et Vente nouvelle génération | Rocket  School">
            <a:extLst>
              <a:ext uri="{FF2B5EF4-FFF2-40B4-BE49-F238E27FC236}">
                <a16:creationId xmlns:a16="http://schemas.microsoft.com/office/drawing/2014/main" id="{4FC9F2F4-AB66-4486-A0A4-4E524E89B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1458" y="554440"/>
            <a:ext cx="2804774" cy="98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9060305A-CB28-4182-807A-8A1B30341D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766" y="4586709"/>
            <a:ext cx="2456466" cy="153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208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e 8">
            <a:extLst>
              <a:ext uri="{FF2B5EF4-FFF2-40B4-BE49-F238E27FC236}">
                <a16:creationId xmlns:a16="http://schemas.microsoft.com/office/drawing/2014/main" id="{FAD4A629-24B4-4FAE-8DCC-C22E2FA5A730}"/>
              </a:ext>
            </a:extLst>
          </p:cNvPr>
          <p:cNvGrpSpPr/>
          <p:nvPr/>
        </p:nvGrpSpPr>
        <p:grpSpPr>
          <a:xfrm>
            <a:off x="435936" y="-779130"/>
            <a:ext cx="6298362" cy="2571601"/>
            <a:chOff x="574159" y="-896088"/>
            <a:chExt cx="6298362" cy="25716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306CA3A-DB2C-4EDF-B180-243A6EE2F29E}"/>
                </a:ext>
              </a:extLst>
            </p:cNvPr>
            <p:cNvSpPr/>
            <p:nvPr/>
          </p:nvSpPr>
          <p:spPr>
            <a:xfrm>
              <a:off x="1265274" y="622890"/>
              <a:ext cx="1743738" cy="105262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9E21E66-B7B9-43E6-940B-B05A5E1A18D2}"/>
                </a:ext>
              </a:extLst>
            </p:cNvPr>
            <p:cNvSpPr/>
            <p:nvPr/>
          </p:nvSpPr>
          <p:spPr>
            <a:xfrm>
              <a:off x="574159" y="297712"/>
              <a:ext cx="1743739" cy="97051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Titre 1">
              <a:extLst>
                <a:ext uri="{FF2B5EF4-FFF2-40B4-BE49-F238E27FC236}">
                  <a16:creationId xmlns:a16="http://schemas.microsoft.com/office/drawing/2014/main" id="{004A79D6-2688-4942-8432-E3877276557A}"/>
                </a:ext>
              </a:extLst>
            </p:cNvPr>
            <p:cNvSpPr txBox="1">
              <a:spLocks/>
            </p:cNvSpPr>
            <p:nvPr/>
          </p:nvSpPr>
          <p:spPr>
            <a:xfrm>
              <a:off x="1127051" y="-896088"/>
              <a:ext cx="5745470" cy="2387600"/>
            </a:xfrm>
            <a:prstGeom prst="rect">
              <a:avLst/>
            </a:prstGeom>
          </p:spPr>
          <p:txBody>
            <a:bodyPr anchor="b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Silka" panose="00000500000000000000" pitchFamily="50" charset="0"/>
                  <a:ea typeface="+mj-ea"/>
                  <a:cs typeface="+mj-cs"/>
                </a:defRPr>
              </a:lvl1pPr>
            </a:lstStyle>
            <a:p>
              <a:r>
                <a:rPr lang="fr-FR" dirty="0"/>
                <a:t>introduction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96D4A525-D06E-466C-A461-E6AD904F2888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0350F4BF-EDE9-4DC7-8ADC-D6AB7BA341EC}"/>
              </a:ext>
            </a:extLst>
          </p:cNvPr>
          <p:cNvSpPr txBox="1">
            <a:spLocks/>
          </p:cNvSpPr>
          <p:nvPr/>
        </p:nvSpPr>
        <p:spPr>
          <a:xfrm>
            <a:off x="6492949" y="3705086"/>
            <a:ext cx="5699051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4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fr-FR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Déroulement du workshop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fr-FR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CONTEXTE du cours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07D6A0A9-CCFC-4FDD-83F1-6600DA04DD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28" y="3129514"/>
            <a:ext cx="3540642" cy="2208431"/>
          </a:xfrm>
          <a:prstGeom prst="rect">
            <a:avLst/>
          </a:prstGeom>
        </p:spPr>
      </p:pic>
      <p:sp>
        <p:nvSpPr>
          <p:cNvPr id="15" name="Espace réservé du numéro de diapositive 14">
            <a:extLst>
              <a:ext uri="{FF2B5EF4-FFF2-40B4-BE49-F238E27FC236}">
                <a16:creationId xmlns:a16="http://schemas.microsoft.com/office/drawing/2014/main" id="{C00E0682-CBB5-42C2-9457-021A05C14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2150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957256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3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Mais avant ça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45278C6-C984-D3CC-F667-77347E897A9D}"/>
              </a:ext>
            </a:extLst>
          </p:cNvPr>
          <p:cNvSpPr txBox="1">
            <a:spLocks/>
          </p:cNvSpPr>
          <p:nvPr/>
        </p:nvSpPr>
        <p:spPr>
          <a:xfrm>
            <a:off x="3017702" y="4600794"/>
            <a:ext cx="8570560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UN </a:t>
            </a:r>
            <a:r>
              <a:rPr lang="fr-FR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PETIT</a:t>
            </a:r>
            <a:r>
              <a:rPr lang="fr-FR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RAPPEL S’impose </a:t>
            </a:r>
          </a:p>
        </p:txBody>
      </p:sp>
    </p:spTree>
    <p:extLst>
      <p:ext uri="{BB962C8B-B14F-4D97-AF65-F5344CB8AC3E}">
        <p14:creationId xmlns:p14="http://schemas.microsoft.com/office/powerpoint/2010/main" val="3355468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-30152" y="-1926"/>
            <a:ext cx="8579066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92240DEC-66D2-4CB2-8B0B-C1410CAC3C5D}"/>
              </a:ext>
            </a:extLst>
          </p:cNvPr>
          <p:cNvSpPr txBox="1">
            <a:spLocks/>
          </p:cNvSpPr>
          <p:nvPr/>
        </p:nvSpPr>
        <p:spPr>
          <a:xfrm>
            <a:off x="602511" y="5205752"/>
            <a:ext cx="6351526" cy="56546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078BDD5-FC65-CD60-59A5-778B0F20AF7C}"/>
              </a:ext>
            </a:extLst>
          </p:cNvPr>
          <p:cNvSpPr txBox="1">
            <a:spLocks/>
          </p:cNvSpPr>
          <p:nvPr/>
        </p:nvSpPr>
        <p:spPr>
          <a:xfrm>
            <a:off x="9051920" y="6157765"/>
            <a:ext cx="390258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algn="r"/>
            <a:r>
              <a:rPr lang="fr-FR" sz="41300" dirty="0">
                <a:solidFill>
                  <a:srgbClr val="303030"/>
                </a:solidFill>
                <a:latin typeface="Poppins" panose="00000500000000000000" pitchFamily="2" charset="0"/>
              </a:rPr>
              <a:t>?</a:t>
            </a:r>
            <a:endParaRPr lang="fr-FR" sz="41300" dirty="0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F9930143-E24E-C224-0F79-BCA5FF75EA40}"/>
              </a:ext>
            </a:extLst>
          </p:cNvPr>
          <p:cNvSpPr txBox="1">
            <a:spLocks/>
          </p:cNvSpPr>
          <p:nvPr/>
        </p:nvSpPr>
        <p:spPr>
          <a:xfrm>
            <a:off x="111959" y="5188227"/>
            <a:ext cx="6653786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800" b="1" i="1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06BCEAA3-53B4-8D01-7C4F-FE2C500AFB7A}"/>
              </a:ext>
            </a:extLst>
          </p:cNvPr>
          <p:cNvSpPr txBox="1">
            <a:spLocks/>
          </p:cNvSpPr>
          <p:nvPr/>
        </p:nvSpPr>
        <p:spPr>
          <a:xfrm>
            <a:off x="328695" y="3105490"/>
            <a:ext cx="7285443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fr-FR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Quel est l’objectif du </a:t>
            </a:r>
            <a:r>
              <a:rPr lang="fr-FR" sz="8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seo</a:t>
            </a:r>
            <a:r>
              <a:rPr lang="fr-FR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off page </a:t>
            </a:r>
          </a:p>
        </p:txBody>
      </p:sp>
    </p:spTree>
    <p:extLst>
      <p:ext uri="{BB962C8B-B14F-4D97-AF65-F5344CB8AC3E}">
        <p14:creationId xmlns:p14="http://schemas.microsoft.com/office/powerpoint/2010/main" val="599074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35734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-645886" y="3211446"/>
            <a:ext cx="13483772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3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Augmenter le da 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92240DEC-66D2-4CB2-8B0B-C1410CAC3C5D}"/>
              </a:ext>
            </a:extLst>
          </p:cNvPr>
          <p:cNvSpPr txBox="1">
            <a:spLocks/>
          </p:cNvSpPr>
          <p:nvPr/>
        </p:nvSpPr>
        <p:spPr>
          <a:xfrm>
            <a:off x="602511" y="5205752"/>
            <a:ext cx="6351526" cy="56546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F9930143-E24E-C224-0F79-BCA5FF75EA40}"/>
              </a:ext>
            </a:extLst>
          </p:cNvPr>
          <p:cNvSpPr txBox="1">
            <a:spLocks/>
          </p:cNvSpPr>
          <p:nvPr/>
        </p:nvSpPr>
        <p:spPr>
          <a:xfrm>
            <a:off x="111959" y="5188227"/>
            <a:ext cx="6653786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800" b="1" i="1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091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-30152" y="-1926"/>
            <a:ext cx="8579066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92240DEC-66D2-4CB2-8B0B-C1410CAC3C5D}"/>
              </a:ext>
            </a:extLst>
          </p:cNvPr>
          <p:cNvSpPr txBox="1">
            <a:spLocks/>
          </p:cNvSpPr>
          <p:nvPr/>
        </p:nvSpPr>
        <p:spPr>
          <a:xfrm>
            <a:off x="602511" y="5205752"/>
            <a:ext cx="6351526" cy="56546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078BDD5-FC65-CD60-59A5-778B0F20AF7C}"/>
              </a:ext>
            </a:extLst>
          </p:cNvPr>
          <p:cNvSpPr txBox="1">
            <a:spLocks/>
          </p:cNvSpPr>
          <p:nvPr/>
        </p:nvSpPr>
        <p:spPr>
          <a:xfrm>
            <a:off x="9051920" y="6157765"/>
            <a:ext cx="390258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algn="r"/>
            <a:r>
              <a:rPr lang="fr-FR" sz="41300" dirty="0">
                <a:solidFill>
                  <a:srgbClr val="303030"/>
                </a:solidFill>
                <a:latin typeface="Poppins" panose="00000500000000000000" pitchFamily="2" charset="0"/>
              </a:rPr>
              <a:t>?</a:t>
            </a:r>
            <a:endParaRPr lang="fr-FR" sz="41300" dirty="0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F9930143-E24E-C224-0F79-BCA5FF75EA40}"/>
              </a:ext>
            </a:extLst>
          </p:cNvPr>
          <p:cNvSpPr txBox="1">
            <a:spLocks/>
          </p:cNvSpPr>
          <p:nvPr/>
        </p:nvSpPr>
        <p:spPr>
          <a:xfrm>
            <a:off x="111959" y="5188227"/>
            <a:ext cx="6653786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800" b="1" i="1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06BCEAA3-53B4-8D01-7C4F-FE2C500AFB7A}"/>
              </a:ext>
            </a:extLst>
          </p:cNvPr>
          <p:cNvSpPr txBox="1">
            <a:spLocks/>
          </p:cNvSpPr>
          <p:nvPr/>
        </p:nvSpPr>
        <p:spPr>
          <a:xfrm>
            <a:off x="311111" y="2898430"/>
            <a:ext cx="7285443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Quels sont les Types de liens et attributs</a:t>
            </a:r>
          </a:p>
        </p:txBody>
      </p:sp>
    </p:spTree>
    <p:extLst>
      <p:ext uri="{BB962C8B-B14F-4D97-AF65-F5344CB8AC3E}">
        <p14:creationId xmlns:p14="http://schemas.microsoft.com/office/powerpoint/2010/main" val="2474418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Stratégies et techniques DE NETLINKING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87DA3E-1957-A9A1-D3A0-9CCE042A097A}"/>
              </a:ext>
            </a:extLst>
          </p:cNvPr>
          <p:cNvSpPr txBox="1">
            <a:spLocks/>
          </p:cNvSpPr>
          <p:nvPr/>
        </p:nvSpPr>
        <p:spPr>
          <a:xfrm>
            <a:off x="304308" y="1483862"/>
            <a:ext cx="11742725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3600" dirty="0">
                <a:solidFill>
                  <a:srgbClr val="303030"/>
                </a:solidFill>
                <a:latin typeface="Poppins" panose="00000500000000000000" pitchFamily="2" charset="0"/>
              </a:rPr>
              <a:t>Types de liens et attributs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18AC14B5-53CB-09D9-1171-918E47645CB6}"/>
              </a:ext>
            </a:extLst>
          </p:cNvPr>
          <p:cNvSpPr txBox="1">
            <a:spLocks/>
          </p:cNvSpPr>
          <p:nvPr/>
        </p:nvSpPr>
        <p:spPr>
          <a:xfrm>
            <a:off x="280861" y="5581403"/>
            <a:ext cx="10349838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dirty="0">
                <a:solidFill>
                  <a:srgbClr val="303030"/>
                </a:solidFill>
                <a:latin typeface="Poppins" panose="00000500000000000000" pitchFamily="2" charset="0"/>
              </a:rPr>
              <a:t>Dofollow : 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Liens qui transmettent l'autorité du site d'origine vers le site cible. Ils sont les plus précieux pour le référencement.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dirty="0" err="1">
                <a:solidFill>
                  <a:srgbClr val="303030"/>
                </a:solidFill>
                <a:latin typeface="Poppins" panose="00000500000000000000" pitchFamily="2" charset="0"/>
              </a:rPr>
              <a:t>Nofollow</a:t>
            </a:r>
            <a:r>
              <a:rPr lang="fr-FR" sz="2000" b="1" dirty="0">
                <a:solidFill>
                  <a:srgbClr val="303030"/>
                </a:solidFill>
                <a:latin typeface="Poppins" panose="00000500000000000000" pitchFamily="2" charset="0"/>
              </a:rPr>
              <a:t> : 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Liens qui ne transmettent pas d'autorité du site d'origine vers le site cible. Ils peuvent toujours générer du trafic, mais ont un impact limité sur le référencement.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dirty="0" err="1">
                <a:solidFill>
                  <a:srgbClr val="303030"/>
                </a:solidFill>
                <a:latin typeface="Poppins" panose="00000500000000000000" pitchFamily="2" charset="0"/>
              </a:rPr>
              <a:t>Sponsored</a:t>
            </a:r>
            <a:r>
              <a:rPr lang="fr-FR" sz="2000" b="1" dirty="0">
                <a:solidFill>
                  <a:srgbClr val="303030"/>
                </a:solidFill>
                <a:latin typeface="Poppins" panose="00000500000000000000" pitchFamily="2" charset="0"/>
              </a:rPr>
              <a:t> : 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Liens qui indiquent une relation commerciale entre les sites. Les moteurs de recherche n'accordent généralement pas d'autorité à ces liens.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dirty="0">
                <a:solidFill>
                  <a:srgbClr val="303030"/>
                </a:solidFill>
                <a:latin typeface="Poppins" panose="00000500000000000000" pitchFamily="2" charset="0"/>
              </a:rPr>
              <a:t>UGC 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: Liens qui proviennent de contenus générés par les utilisateurs, tels que les commentaires et les forums. Ils ont généralement moins d'autorité que les liens éditoriaux.</a:t>
            </a:r>
          </a:p>
        </p:txBody>
      </p:sp>
    </p:spTree>
    <p:extLst>
      <p:ext uri="{BB962C8B-B14F-4D97-AF65-F5344CB8AC3E}">
        <p14:creationId xmlns:p14="http://schemas.microsoft.com/office/powerpoint/2010/main" val="3367291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-30152" y="-1926"/>
            <a:ext cx="8579066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92240DEC-66D2-4CB2-8B0B-C1410CAC3C5D}"/>
              </a:ext>
            </a:extLst>
          </p:cNvPr>
          <p:cNvSpPr txBox="1">
            <a:spLocks/>
          </p:cNvSpPr>
          <p:nvPr/>
        </p:nvSpPr>
        <p:spPr>
          <a:xfrm>
            <a:off x="602511" y="5205752"/>
            <a:ext cx="6351526" cy="56546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078BDD5-FC65-CD60-59A5-778B0F20AF7C}"/>
              </a:ext>
            </a:extLst>
          </p:cNvPr>
          <p:cNvSpPr txBox="1">
            <a:spLocks/>
          </p:cNvSpPr>
          <p:nvPr/>
        </p:nvSpPr>
        <p:spPr>
          <a:xfrm>
            <a:off x="9051920" y="6157765"/>
            <a:ext cx="390258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algn="r"/>
            <a:r>
              <a:rPr lang="fr-FR" sz="41300" dirty="0">
                <a:solidFill>
                  <a:srgbClr val="303030"/>
                </a:solidFill>
                <a:latin typeface="Poppins" panose="00000500000000000000" pitchFamily="2" charset="0"/>
              </a:rPr>
              <a:t>?</a:t>
            </a:r>
            <a:endParaRPr lang="fr-FR" sz="41300" dirty="0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F9930143-E24E-C224-0F79-BCA5FF75EA40}"/>
              </a:ext>
            </a:extLst>
          </p:cNvPr>
          <p:cNvSpPr txBox="1">
            <a:spLocks/>
          </p:cNvSpPr>
          <p:nvPr/>
        </p:nvSpPr>
        <p:spPr>
          <a:xfrm>
            <a:off x="111959" y="5188227"/>
            <a:ext cx="6653786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800" b="1" i="1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06BCEAA3-53B4-8D01-7C4F-FE2C500AFB7A}"/>
              </a:ext>
            </a:extLst>
          </p:cNvPr>
          <p:cNvSpPr txBox="1">
            <a:spLocks/>
          </p:cNvSpPr>
          <p:nvPr/>
        </p:nvSpPr>
        <p:spPr>
          <a:xfrm>
            <a:off x="311111" y="2898430"/>
            <a:ext cx="7285443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Exemple de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dofollow</a:t>
            </a:r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/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nofollow</a:t>
            </a:r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73589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35734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409192" y="2900356"/>
            <a:ext cx="853704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Qu’est-ce que le </a:t>
            </a:r>
            <a:r>
              <a:rPr lang="fr-FR" sz="8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guest</a:t>
            </a:r>
            <a:r>
              <a:rPr lang="fr-FR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blogging ? 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92240DEC-66D2-4CB2-8B0B-C1410CAC3C5D}"/>
              </a:ext>
            </a:extLst>
          </p:cNvPr>
          <p:cNvSpPr txBox="1">
            <a:spLocks/>
          </p:cNvSpPr>
          <p:nvPr/>
        </p:nvSpPr>
        <p:spPr>
          <a:xfrm>
            <a:off x="602511" y="5205752"/>
            <a:ext cx="6351526" cy="56546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F9930143-E24E-C224-0F79-BCA5FF75EA40}"/>
              </a:ext>
            </a:extLst>
          </p:cNvPr>
          <p:cNvSpPr txBox="1">
            <a:spLocks/>
          </p:cNvSpPr>
          <p:nvPr/>
        </p:nvSpPr>
        <p:spPr>
          <a:xfrm>
            <a:off x="111959" y="5188227"/>
            <a:ext cx="6653786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800" b="1" i="1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401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35734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409192" y="2900356"/>
            <a:ext cx="853704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Qu’est-ce que l’ego </a:t>
            </a:r>
            <a:r>
              <a:rPr lang="fr-FR" sz="8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bait</a:t>
            </a:r>
            <a:r>
              <a:rPr lang="fr-FR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? 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92240DEC-66D2-4CB2-8B0B-C1410CAC3C5D}"/>
              </a:ext>
            </a:extLst>
          </p:cNvPr>
          <p:cNvSpPr txBox="1">
            <a:spLocks/>
          </p:cNvSpPr>
          <p:nvPr/>
        </p:nvSpPr>
        <p:spPr>
          <a:xfrm>
            <a:off x="602511" y="5205752"/>
            <a:ext cx="6351526" cy="56546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F9930143-E24E-C224-0F79-BCA5FF75EA40}"/>
              </a:ext>
            </a:extLst>
          </p:cNvPr>
          <p:cNvSpPr txBox="1">
            <a:spLocks/>
          </p:cNvSpPr>
          <p:nvPr/>
        </p:nvSpPr>
        <p:spPr>
          <a:xfrm>
            <a:off x="111959" y="5188227"/>
            <a:ext cx="6653786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800" b="1" i="1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741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35734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409192" y="2900356"/>
            <a:ext cx="853704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72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Comment créer une opportunité de </a:t>
            </a:r>
            <a:r>
              <a:rPr lang="fr-FR" sz="7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backlink</a:t>
            </a:r>
            <a:r>
              <a:rPr lang="fr-FR" sz="72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avec des liens brisés ? 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92240DEC-66D2-4CB2-8B0B-C1410CAC3C5D}"/>
              </a:ext>
            </a:extLst>
          </p:cNvPr>
          <p:cNvSpPr txBox="1">
            <a:spLocks/>
          </p:cNvSpPr>
          <p:nvPr/>
        </p:nvSpPr>
        <p:spPr>
          <a:xfrm>
            <a:off x="602511" y="5205752"/>
            <a:ext cx="6351526" cy="56546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F9930143-E24E-C224-0F79-BCA5FF75EA40}"/>
              </a:ext>
            </a:extLst>
          </p:cNvPr>
          <p:cNvSpPr txBox="1">
            <a:spLocks/>
          </p:cNvSpPr>
          <p:nvPr/>
        </p:nvSpPr>
        <p:spPr>
          <a:xfrm>
            <a:off x="111959" y="5188227"/>
            <a:ext cx="6653786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800" b="1" i="1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397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35734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409192" y="2900356"/>
            <a:ext cx="951668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Qu’est-ce que la </a:t>
            </a:r>
            <a:r>
              <a:rPr lang="fr-FR" sz="8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skyscraper</a:t>
            </a:r>
            <a:r>
              <a:rPr lang="fr-FR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technique ?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92240DEC-66D2-4CB2-8B0B-C1410CAC3C5D}"/>
              </a:ext>
            </a:extLst>
          </p:cNvPr>
          <p:cNvSpPr txBox="1">
            <a:spLocks/>
          </p:cNvSpPr>
          <p:nvPr/>
        </p:nvSpPr>
        <p:spPr>
          <a:xfrm>
            <a:off x="602511" y="5205752"/>
            <a:ext cx="6351526" cy="56546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F9930143-E24E-C224-0F79-BCA5FF75EA40}"/>
              </a:ext>
            </a:extLst>
          </p:cNvPr>
          <p:cNvSpPr txBox="1">
            <a:spLocks/>
          </p:cNvSpPr>
          <p:nvPr/>
        </p:nvSpPr>
        <p:spPr>
          <a:xfrm>
            <a:off x="111959" y="5188227"/>
            <a:ext cx="6653786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800" b="1" i="1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9578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35734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409192" y="2900356"/>
            <a:ext cx="951668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Qu’est-ce que la brand mention ?</a:t>
            </a:r>
          </a:p>
          <a:p>
            <a:endParaRPr lang="fr-FR" sz="88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  <a:p>
            <a:r>
              <a:rPr lang="fr-FR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Comment en profiter ?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92240DEC-66D2-4CB2-8B0B-C1410CAC3C5D}"/>
              </a:ext>
            </a:extLst>
          </p:cNvPr>
          <p:cNvSpPr txBox="1">
            <a:spLocks/>
          </p:cNvSpPr>
          <p:nvPr/>
        </p:nvSpPr>
        <p:spPr>
          <a:xfrm>
            <a:off x="602511" y="5205752"/>
            <a:ext cx="6351526" cy="56546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F9930143-E24E-C224-0F79-BCA5FF75EA40}"/>
              </a:ext>
            </a:extLst>
          </p:cNvPr>
          <p:cNvSpPr txBox="1">
            <a:spLocks/>
          </p:cNvSpPr>
          <p:nvPr/>
        </p:nvSpPr>
        <p:spPr>
          <a:xfrm>
            <a:off x="111959" y="5188227"/>
            <a:ext cx="6653786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800" b="1" i="1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22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35734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409192" y="2900356"/>
            <a:ext cx="951668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Qu’est-ce que les critères </a:t>
            </a:r>
            <a:r>
              <a:rPr lang="fr-FR" sz="8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eat</a:t>
            </a:r>
            <a:r>
              <a:rPr lang="fr-FR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?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92240DEC-66D2-4CB2-8B0B-C1410CAC3C5D}"/>
              </a:ext>
            </a:extLst>
          </p:cNvPr>
          <p:cNvSpPr txBox="1">
            <a:spLocks/>
          </p:cNvSpPr>
          <p:nvPr/>
        </p:nvSpPr>
        <p:spPr>
          <a:xfrm>
            <a:off x="602511" y="5205752"/>
            <a:ext cx="6351526" cy="56546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F9930143-E24E-C224-0F79-BCA5FF75EA40}"/>
              </a:ext>
            </a:extLst>
          </p:cNvPr>
          <p:cNvSpPr txBox="1">
            <a:spLocks/>
          </p:cNvSpPr>
          <p:nvPr/>
        </p:nvSpPr>
        <p:spPr>
          <a:xfrm>
            <a:off x="111959" y="5188227"/>
            <a:ext cx="6653786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800" b="1" i="1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054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7081284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2D7DE57-EA08-41D9-972C-F0579F99CBA5}"/>
              </a:ext>
            </a:extLst>
          </p:cNvPr>
          <p:cNvSpPr txBox="1">
            <a:spLocks/>
          </p:cNvSpPr>
          <p:nvPr/>
        </p:nvSpPr>
        <p:spPr>
          <a:xfrm>
            <a:off x="453311" y="215703"/>
            <a:ext cx="5745470" cy="238760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dirty="0"/>
              <a:t>introduction au SEO</a:t>
            </a:r>
          </a:p>
        </p:txBody>
      </p:sp>
      <p:sp>
        <p:nvSpPr>
          <p:cNvPr id="9" name="Espace réservé de la date 3">
            <a:extLst>
              <a:ext uri="{FF2B5EF4-FFF2-40B4-BE49-F238E27FC236}">
                <a16:creationId xmlns:a16="http://schemas.microsoft.com/office/drawing/2014/main" id="{C6E2C8AC-AFB2-4A02-A569-68D2D194B9DD}"/>
              </a:ext>
            </a:extLst>
          </p:cNvPr>
          <p:cNvSpPr txBox="1">
            <a:spLocks/>
          </p:cNvSpPr>
          <p:nvPr/>
        </p:nvSpPr>
        <p:spPr>
          <a:xfrm>
            <a:off x="274502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>
                <a:latin typeface="Silka" panose="00000500000000000000" pitchFamily="50" charset="0"/>
              </a:rPr>
              <a:t>FS Consulting </a:t>
            </a:r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C8DA517E-F120-4AA3-8829-AE4F48BF9D63}"/>
              </a:ext>
            </a:extLst>
          </p:cNvPr>
          <p:cNvSpPr txBox="1">
            <a:spLocks/>
          </p:cNvSpPr>
          <p:nvPr/>
        </p:nvSpPr>
        <p:spPr>
          <a:xfrm>
            <a:off x="10374903" y="6356350"/>
            <a:ext cx="1817097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>
                <a:latin typeface="Silka" panose="00000500000000000000" pitchFamily="50" charset="0"/>
              </a:rPr>
              <a:t>Rocket </a:t>
            </a:r>
            <a:r>
              <a:rPr lang="fr-FR" sz="1200" dirty="0" err="1">
                <a:latin typeface="Silka" panose="00000500000000000000" pitchFamily="50" charset="0"/>
              </a:rPr>
              <a:t>School</a:t>
            </a:r>
            <a:r>
              <a:rPr lang="fr-FR" sz="1200" dirty="0">
                <a:latin typeface="Silka" panose="00000500000000000000" pitchFamily="50" charset="0"/>
              </a:rPr>
              <a:t> Paris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144967" y="4391209"/>
            <a:ext cx="685125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Chapitre 5 : </a:t>
            </a:r>
          </a:p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OFF PAGE SEO</a:t>
            </a:r>
          </a:p>
        </p:txBody>
      </p:sp>
      <p:pic>
        <p:nvPicPr>
          <p:cNvPr id="12" name="Picture 2" descr="École de Marketing, Customer Success et Vente nouvelle génération | Rocket  School">
            <a:extLst>
              <a:ext uri="{FF2B5EF4-FFF2-40B4-BE49-F238E27FC236}">
                <a16:creationId xmlns:a16="http://schemas.microsoft.com/office/drawing/2014/main" id="{4FC9F2F4-AB66-4486-A0A4-4E524E89B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1458" y="554440"/>
            <a:ext cx="2804774" cy="98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9060305A-CB28-4182-807A-8A1B30341D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766" y="4586709"/>
            <a:ext cx="2456466" cy="153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0900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28" name="Picture 4" descr="How Search Engines Work: Crawling, Indexing, and Ranking - Beginner's Guide  to SEO - Moz">
            <a:extLst>
              <a:ext uri="{FF2B5EF4-FFF2-40B4-BE49-F238E27FC236}">
                <a16:creationId xmlns:a16="http://schemas.microsoft.com/office/drawing/2014/main" id="{A7A48BA6-0103-0A08-6B60-D81444930F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2317" y="3295982"/>
            <a:ext cx="5059403" cy="2643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Budget de crawl : Guide pour son optimisation SEO - 1ère Position">
            <a:extLst>
              <a:ext uri="{FF2B5EF4-FFF2-40B4-BE49-F238E27FC236}">
                <a16:creationId xmlns:a16="http://schemas.microsoft.com/office/drawing/2014/main" id="{D35F2DBE-9849-BC04-3F89-7CAD310B6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537" y="918072"/>
            <a:ext cx="3231845" cy="1700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32D7DE57-EA08-41D9-972C-F0579F99CBA5}"/>
              </a:ext>
            </a:extLst>
          </p:cNvPr>
          <p:cNvSpPr txBox="1">
            <a:spLocks/>
          </p:cNvSpPr>
          <p:nvPr/>
        </p:nvSpPr>
        <p:spPr>
          <a:xfrm>
            <a:off x="312231" y="1992430"/>
            <a:ext cx="8286026" cy="160075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800" dirty="0">
                <a:solidFill>
                  <a:srgbClr val="303030"/>
                </a:solidFill>
                <a:latin typeface="Poppins" panose="00000500000000000000" pitchFamily="2" charset="0"/>
              </a:rPr>
              <a:t>toutes les actions qui permettent aux robots de Google (spiders) de crawler (explorer) le site plus facilement et plus rapidement.</a:t>
            </a:r>
          </a:p>
          <a:p>
            <a:endParaRPr lang="fr-FR" sz="28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endParaRPr lang="fr-FR" sz="2800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542511" y="258203"/>
            <a:ext cx="7148968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EN QUOI ça consiste?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6AEE0935-E08A-0119-4DA2-623C0E4A14AB}"/>
              </a:ext>
            </a:extLst>
          </p:cNvPr>
          <p:cNvSpPr txBox="1">
            <a:spLocks/>
          </p:cNvSpPr>
          <p:nvPr/>
        </p:nvSpPr>
        <p:spPr>
          <a:xfrm>
            <a:off x="34217" y="4191913"/>
            <a:ext cx="8286026" cy="160075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rgbClr val="303030"/>
                </a:solidFill>
                <a:latin typeface="Poppins" panose="00000500000000000000" pitchFamily="2" charset="0"/>
              </a:rPr>
              <a:t>guider les </a:t>
            </a:r>
            <a:r>
              <a:rPr lang="fr-FR" sz="2800" dirty="0" err="1">
                <a:solidFill>
                  <a:srgbClr val="303030"/>
                </a:solidFill>
                <a:latin typeface="Poppins" panose="00000500000000000000" pitchFamily="2" charset="0"/>
              </a:rPr>
              <a:t>crawlers</a:t>
            </a:r>
            <a:endParaRPr lang="fr-FR" sz="28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rgbClr val="303030"/>
                </a:solidFill>
                <a:latin typeface="Poppins" panose="00000500000000000000" pitchFamily="2" charset="0"/>
              </a:rPr>
              <a:t>rendre le site </a:t>
            </a:r>
            <a:r>
              <a:rPr lang="fr-FR" sz="2800" dirty="0" err="1">
                <a:solidFill>
                  <a:srgbClr val="303030"/>
                </a:solidFill>
                <a:latin typeface="Poppins" panose="00000500000000000000" pitchFamily="2" charset="0"/>
              </a:rPr>
              <a:t>indexable</a:t>
            </a:r>
            <a:r>
              <a:rPr lang="fr-FR" sz="2800" dirty="0">
                <a:solidFill>
                  <a:srgbClr val="303030"/>
                </a:solidFill>
                <a:latin typeface="Poppins" panose="00000500000000000000" pitchFamily="2" charset="0"/>
              </a:rPr>
              <a:t> (robots.txt)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rgbClr val="303030"/>
                </a:solidFill>
                <a:latin typeface="Poppins" panose="00000500000000000000" pitchFamily="2" charset="0"/>
              </a:rPr>
              <a:t>éviter les erreurs dans le code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rgbClr val="303030"/>
                </a:solidFill>
                <a:latin typeface="Poppins" panose="00000500000000000000" pitchFamily="2" charset="0"/>
              </a:rPr>
              <a:t>améliorer la vitesse du site </a:t>
            </a:r>
          </a:p>
        </p:txBody>
      </p:sp>
    </p:spTree>
    <p:extLst>
      <p:ext uri="{BB962C8B-B14F-4D97-AF65-F5344CB8AC3E}">
        <p14:creationId xmlns:p14="http://schemas.microsoft.com/office/powerpoint/2010/main" val="40051514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jus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seo</a:t>
            </a: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pic>
        <p:nvPicPr>
          <p:cNvPr id="3" name="Picture 2" descr="Image">
            <a:extLst>
              <a:ext uri="{FF2B5EF4-FFF2-40B4-BE49-F238E27FC236}">
                <a16:creationId xmlns:a16="http://schemas.microsoft.com/office/drawing/2014/main" id="{28AFE941-5DA5-6D13-C0F7-B82581F5E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83" y="1193800"/>
            <a:ext cx="9723307" cy="5146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44547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4" name="Picture 2" descr="Budget de crawl : Guide pour son optimisation SEO - 1ère Position">
            <a:extLst>
              <a:ext uri="{FF2B5EF4-FFF2-40B4-BE49-F238E27FC236}">
                <a16:creationId xmlns:a16="http://schemas.microsoft.com/office/drawing/2014/main" id="{E08E9CBA-CB1D-A0F5-F014-5D193CF414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65" t="22529" r="22162" b="9101"/>
          <a:stretch/>
        </p:blipFill>
        <p:spPr bwMode="auto">
          <a:xfrm>
            <a:off x="6362432" y="2528893"/>
            <a:ext cx="5724010" cy="3809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175609" y="476983"/>
            <a:ext cx="7721482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POURQUOI ?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92240DEC-66D2-4CB2-8B0B-C1410CAC3C5D}"/>
              </a:ext>
            </a:extLst>
          </p:cNvPr>
          <p:cNvSpPr txBox="1">
            <a:spLocks/>
          </p:cNvSpPr>
          <p:nvPr/>
        </p:nvSpPr>
        <p:spPr>
          <a:xfrm>
            <a:off x="602511" y="5205752"/>
            <a:ext cx="6351526" cy="56546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A2359B88-C08C-4C02-A7DE-ADDDBD3831A6}"/>
              </a:ext>
            </a:extLst>
          </p:cNvPr>
          <p:cNvSpPr txBox="1">
            <a:spLocks/>
          </p:cNvSpPr>
          <p:nvPr/>
        </p:nvSpPr>
        <p:spPr>
          <a:xfrm>
            <a:off x="175609" y="4653843"/>
            <a:ext cx="5653961" cy="428462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400" dirty="0">
                <a:solidFill>
                  <a:schemeClr val="accent5">
                    <a:lumMod val="50000"/>
                  </a:schemeClr>
                </a:solidFill>
              </a:rPr>
              <a:t>si votre site ne respecte pas certaines conditions en termes de performances, Google ne l’indexera pas. </a:t>
            </a:r>
          </a:p>
          <a:p>
            <a:endParaRPr lang="fr-FR" sz="2400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fr-FR" sz="2400" dirty="0">
                <a:solidFill>
                  <a:schemeClr val="accent5">
                    <a:lumMod val="50000"/>
                  </a:schemeClr>
                </a:solidFill>
              </a:rPr>
              <a:t>Google estime qu’un site rapide, fiable et sécurisé vaut mieux qu’un site lent ou qui contient des liens brisés.</a:t>
            </a:r>
          </a:p>
        </p:txBody>
      </p:sp>
    </p:spTree>
    <p:extLst>
      <p:ext uri="{BB962C8B-B14F-4D97-AF65-F5344CB8AC3E}">
        <p14:creationId xmlns:p14="http://schemas.microsoft.com/office/powerpoint/2010/main" val="596004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4" name="Picture 2" descr="Budget de crawl : Guide pour son optimisation SEO - 1ère Position">
            <a:extLst>
              <a:ext uri="{FF2B5EF4-FFF2-40B4-BE49-F238E27FC236}">
                <a16:creationId xmlns:a16="http://schemas.microsoft.com/office/drawing/2014/main" id="{E08E9CBA-CB1D-A0F5-F014-5D193CF414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65" t="22529" r="22162" b="9101"/>
          <a:stretch/>
        </p:blipFill>
        <p:spPr bwMode="auto">
          <a:xfrm>
            <a:off x="6362432" y="2528893"/>
            <a:ext cx="5724010" cy="3809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175609" y="476983"/>
            <a:ext cx="8160008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L’importance du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seo</a:t>
            </a:r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technique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92240DEC-66D2-4CB2-8B0B-C1410CAC3C5D}"/>
              </a:ext>
            </a:extLst>
          </p:cNvPr>
          <p:cNvSpPr txBox="1">
            <a:spLocks/>
          </p:cNvSpPr>
          <p:nvPr/>
        </p:nvSpPr>
        <p:spPr>
          <a:xfrm>
            <a:off x="602511" y="5205752"/>
            <a:ext cx="6351526" cy="56546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A2359B88-C08C-4C02-A7DE-ADDDBD3831A6}"/>
              </a:ext>
            </a:extLst>
          </p:cNvPr>
          <p:cNvSpPr txBox="1">
            <a:spLocks/>
          </p:cNvSpPr>
          <p:nvPr/>
        </p:nvSpPr>
        <p:spPr>
          <a:xfrm>
            <a:off x="175609" y="4653843"/>
            <a:ext cx="5653961" cy="428462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400" dirty="0">
                <a:solidFill>
                  <a:schemeClr val="accent5">
                    <a:lumMod val="50000"/>
                  </a:schemeClr>
                </a:solidFill>
              </a:rPr>
              <a:t>Un site parfaitement optimisé on-page et off-page ne sera pas correctement classé sur les moteurs de recherche sans la dimension technique</a:t>
            </a:r>
          </a:p>
        </p:txBody>
      </p:sp>
    </p:spTree>
    <p:extLst>
      <p:ext uri="{BB962C8B-B14F-4D97-AF65-F5344CB8AC3E}">
        <p14:creationId xmlns:p14="http://schemas.microsoft.com/office/powerpoint/2010/main" val="9393229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77B545-5F50-BDB4-49D9-8882882167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concept de crawl budget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EB7DE234-0993-1395-5D19-981DB389E637}"/>
              </a:ext>
            </a:extLst>
          </p:cNvPr>
          <p:cNvSpPr txBox="1">
            <a:spLocks/>
          </p:cNvSpPr>
          <p:nvPr/>
        </p:nvSpPr>
        <p:spPr>
          <a:xfrm>
            <a:off x="304307" y="1483862"/>
            <a:ext cx="7869875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00" dirty="0">
                <a:solidFill>
                  <a:srgbClr val="303030"/>
                </a:solidFill>
                <a:latin typeface="Poppins" panose="00000500000000000000" pitchFamily="2" charset="0"/>
              </a:rPr>
              <a:t>les 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CF3D5249-457C-C70A-D417-73ADAC5879FB}"/>
              </a:ext>
            </a:extLst>
          </p:cNvPr>
          <p:cNvSpPr txBox="1">
            <a:spLocks/>
          </p:cNvSpPr>
          <p:nvPr/>
        </p:nvSpPr>
        <p:spPr>
          <a:xfrm>
            <a:off x="304307" y="1492942"/>
            <a:ext cx="11444350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1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523B1DDF-203C-4D09-A0EF-C9749B02EDB5}"/>
              </a:ext>
            </a:extLst>
          </p:cNvPr>
          <p:cNvSpPr txBox="1">
            <a:spLocks/>
          </p:cNvSpPr>
          <p:nvPr/>
        </p:nvSpPr>
        <p:spPr>
          <a:xfrm>
            <a:off x="144967" y="2223638"/>
            <a:ext cx="11742726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le Crawl Budget, est le nombre de pages de votre site que Google va parcourir.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de manière simplifiée, le “</a:t>
            </a: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Crawl budge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t” est une combinaison du “</a:t>
            </a: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taux d'exploration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” et de “</a:t>
            </a: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demande d'exploration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”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D5412519-8533-B38D-33A6-8DBA855BA05A}"/>
              </a:ext>
            </a:extLst>
          </p:cNvPr>
          <p:cNvSpPr txBox="1">
            <a:spLocks/>
          </p:cNvSpPr>
          <p:nvPr/>
        </p:nvSpPr>
        <p:spPr>
          <a:xfrm>
            <a:off x="161806" y="2900356"/>
            <a:ext cx="5106139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exploiter son crawl budget 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51A1D1CD-4598-BB99-2CB2-A86E7A5B6AF3}"/>
              </a:ext>
            </a:extLst>
          </p:cNvPr>
          <p:cNvSpPr txBox="1">
            <a:spLocks/>
          </p:cNvSpPr>
          <p:nvPr/>
        </p:nvSpPr>
        <p:spPr>
          <a:xfrm>
            <a:off x="144967" y="5980935"/>
            <a:ext cx="5391140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avoir un serveur rapide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organiser (ou revoir) la structure de votre site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faire du maillage interne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Réparer/supprimer les liens brisés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Optimiser le robots.txt et le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sitemap</a:t>
            </a:r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mettre à jour votre contenu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Éliminer les contenus inutiles/doubles.</a:t>
            </a:r>
          </a:p>
        </p:txBody>
      </p:sp>
      <p:pic>
        <p:nvPicPr>
          <p:cNvPr id="1026" name="Picture 2" descr="Very high page total might affect indexing">
            <a:extLst>
              <a:ext uri="{FF2B5EF4-FFF2-40B4-BE49-F238E27FC236}">
                <a16:creationId xmlns:a16="http://schemas.microsoft.com/office/drawing/2014/main" id="{D4C07E72-D7D6-FF4B-7FC6-96AACCB4A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5833" y="2954334"/>
            <a:ext cx="6386167" cy="3888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0229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175609" y="476983"/>
            <a:ext cx="8160008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Architecture de site 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92240DEC-66D2-4CB2-8B0B-C1410CAC3C5D}"/>
              </a:ext>
            </a:extLst>
          </p:cNvPr>
          <p:cNvSpPr txBox="1">
            <a:spLocks/>
          </p:cNvSpPr>
          <p:nvPr/>
        </p:nvSpPr>
        <p:spPr>
          <a:xfrm>
            <a:off x="602511" y="5205752"/>
            <a:ext cx="6351526" cy="56546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A2359B88-C08C-4C02-A7DE-ADDDBD3831A6}"/>
              </a:ext>
            </a:extLst>
          </p:cNvPr>
          <p:cNvSpPr txBox="1">
            <a:spLocks/>
          </p:cNvSpPr>
          <p:nvPr/>
        </p:nvSpPr>
        <p:spPr>
          <a:xfrm>
            <a:off x="175609" y="4653843"/>
            <a:ext cx="5653961" cy="428462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accent5">
                    <a:lumMod val="50000"/>
                  </a:schemeClr>
                </a:solidFill>
              </a:rPr>
              <a:t>La structure d'un site doit être claire et logique, à la fois pour les utilisateurs et pour les moteurs de recherche.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accent5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accent5">
                    <a:lumMod val="50000"/>
                  </a:schemeClr>
                </a:solidFill>
              </a:rPr>
              <a:t>Les URL doivent être simples, cohérentes et contenir des mots-clés pertinents.</a:t>
            </a:r>
          </a:p>
        </p:txBody>
      </p:sp>
      <p:pic>
        <p:nvPicPr>
          <p:cNvPr id="1026" name="Picture 2" descr="Comment optimiser l'architecture d'un site web pour le SEO ?">
            <a:extLst>
              <a:ext uri="{FF2B5EF4-FFF2-40B4-BE49-F238E27FC236}">
                <a16:creationId xmlns:a16="http://schemas.microsoft.com/office/drawing/2014/main" id="{58B01D38-E22C-6935-2E54-52A32C1C6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695948"/>
            <a:ext cx="6191250" cy="300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3379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449274" y="272736"/>
            <a:ext cx="11074282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quelques mots sur le duplicate content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92240DEC-66D2-4CB2-8B0B-C1410CAC3C5D}"/>
              </a:ext>
            </a:extLst>
          </p:cNvPr>
          <p:cNvSpPr txBox="1">
            <a:spLocks/>
          </p:cNvSpPr>
          <p:nvPr/>
        </p:nvSpPr>
        <p:spPr>
          <a:xfrm>
            <a:off x="602511" y="5205752"/>
            <a:ext cx="6351526" cy="56546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341DEC8-0123-627C-3372-B2755C2D6248}"/>
              </a:ext>
            </a:extLst>
          </p:cNvPr>
          <p:cNvSpPr txBox="1">
            <a:spLocks/>
          </p:cNvSpPr>
          <p:nvPr/>
        </p:nvSpPr>
        <p:spPr>
          <a:xfrm>
            <a:off x="147900" y="2259451"/>
            <a:ext cx="10349838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il peut arriver de faire du duplicate content sciemment sur un site. Sur une page produit, par exemple.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Seulement, le duplicate content est pénalisé par Google puisqu’il ne sait pas quelle page indexer.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7FC1A901-E396-5722-E29C-7B1D92FE7528}"/>
              </a:ext>
            </a:extLst>
          </p:cNvPr>
          <p:cNvSpPr txBox="1">
            <a:spLocks/>
          </p:cNvSpPr>
          <p:nvPr/>
        </p:nvSpPr>
        <p:spPr>
          <a:xfrm>
            <a:off x="449274" y="5569097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la solution : la balise canonique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01BEFB3D-4D58-D24E-1E56-86B876EEF47A}"/>
              </a:ext>
            </a:extLst>
          </p:cNvPr>
          <p:cNvSpPr txBox="1">
            <a:spLocks/>
          </p:cNvSpPr>
          <p:nvPr/>
        </p:nvSpPr>
        <p:spPr>
          <a:xfrm>
            <a:off x="449274" y="3050971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exemple 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F3E99C31-8EB3-5E53-D892-2B4EA2802C70}"/>
              </a:ext>
            </a:extLst>
          </p:cNvPr>
          <p:cNvSpPr txBox="1">
            <a:spLocks/>
          </p:cNvSpPr>
          <p:nvPr/>
        </p:nvSpPr>
        <p:spPr>
          <a:xfrm>
            <a:off x="449274" y="4509445"/>
            <a:ext cx="10349838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une page produit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une page d’aide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une page de contact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1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7387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balise canonique (canonical tag)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18AC14B5-53CB-09D9-1171-918E47645CB6}"/>
              </a:ext>
            </a:extLst>
          </p:cNvPr>
          <p:cNvSpPr txBox="1">
            <a:spLocks/>
          </p:cNvSpPr>
          <p:nvPr/>
        </p:nvSpPr>
        <p:spPr>
          <a:xfrm>
            <a:off x="304307" y="2985633"/>
            <a:ext cx="10349838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la balise canonique est un élément du code HTML qui permet de signaler aux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crawlers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qu’on propose du contenu dupliqué, repris d'une autre page.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il faut alors indiquer à Google quelle est la page origine en insérant le code suivant :   </a:t>
            </a: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rel=”canonical” 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dans le header de la page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il existe plusieurs plugins qui permettent de le faire automatiquement</a:t>
            </a:r>
          </a:p>
          <a:p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lvl="1"/>
            <a:endParaRPr lang="fr-FR" sz="1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9C620881-67EB-419D-76E1-8EC31973574C}"/>
              </a:ext>
            </a:extLst>
          </p:cNvPr>
          <p:cNvSpPr/>
          <p:nvPr/>
        </p:nvSpPr>
        <p:spPr>
          <a:xfrm>
            <a:off x="1182748" y="3350624"/>
            <a:ext cx="2424545" cy="15932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2">
                    <a:lumMod val="25000"/>
                  </a:schemeClr>
                </a:solidFill>
              </a:rPr>
              <a:t>page produit A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F7738F0B-B05C-F35E-3CCE-1E3F67EAEC56}"/>
              </a:ext>
            </a:extLst>
          </p:cNvPr>
          <p:cNvSpPr/>
          <p:nvPr/>
        </p:nvSpPr>
        <p:spPr>
          <a:xfrm>
            <a:off x="4628350" y="3346332"/>
            <a:ext cx="2424545" cy="15932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2">
                    <a:lumMod val="25000"/>
                  </a:schemeClr>
                </a:solidFill>
              </a:rPr>
              <a:t>page produit A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B64479C7-6B0E-CEE9-1F9D-A2849416E647}"/>
              </a:ext>
            </a:extLst>
          </p:cNvPr>
          <p:cNvSpPr/>
          <p:nvPr/>
        </p:nvSpPr>
        <p:spPr>
          <a:xfrm>
            <a:off x="8257823" y="3373484"/>
            <a:ext cx="2424545" cy="15932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2">
                    <a:lumMod val="25000"/>
                  </a:schemeClr>
                </a:solidFill>
              </a:rPr>
              <a:t>page produit A</a:t>
            </a:r>
          </a:p>
        </p:txBody>
      </p:sp>
      <p:sp>
        <p:nvSpPr>
          <p:cNvPr id="19" name="Titre 1">
            <a:extLst>
              <a:ext uri="{FF2B5EF4-FFF2-40B4-BE49-F238E27FC236}">
                <a16:creationId xmlns:a16="http://schemas.microsoft.com/office/drawing/2014/main" id="{FBA9FF3F-8F12-7DBB-C080-7D471C88EB94}"/>
              </a:ext>
            </a:extLst>
          </p:cNvPr>
          <p:cNvSpPr txBox="1">
            <a:spLocks/>
          </p:cNvSpPr>
          <p:nvPr/>
        </p:nvSpPr>
        <p:spPr>
          <a:xfrm>
            <a:off x="1217150" y="4987683"/>
            <a:ext cx="3425777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rgbClr val="303030"/>
                </a:solidFill>
                <a:latin typeface="Poppins" panose="00000500000000000000" pitchFamily="2" charset="0"/>
              </a:rPr>
              <a:t>/homme/mode/</a:t>
            </a:r>
            <a:r>
              <a:rPr lang="fr-FR" sz="1400" dirty="0" err="1">
                <a:solidFill>
                  <a:srgbClr val="303030"/>
                </a:solidFill>
                <a:latin typeface="Poppins" panose="00000500000000000000" pitchFamily="2" charset="0"/>
              </a:rPr>
              <a:t>produitA</a:t>
            </a:r>
            <a:endParaRPr lang="fr-FR" sz="14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0E82D897-134C-0D5C-FB84-5763F2201F63}"/>
              </a:ext>
            </a:extLst>
          </p:cNvPr>
          <p:cNvSpPr txBox="1">
            <a:spLocks/>
          </p:cNvSpPr>
          <p:nvPr/>
        </p:nvSpPr>
        <p:spPr>
          <a:xfrm>
            <a:off x="4747718" y="5020033"/>
            <a:ext cx="3425777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rgbClr val="303030"/>
                </a:solidFill>
                <a:latin typeface="Poppins" panose="00000500000000000000" pitchFamily="2" charset="0"/>
              </a:rPr>
              <a:t>/promotions/</a:t>
            </a:r>
            <a:r>
              <a:rPr lang="fr-FR" sz="1400" dirty="0" err="1">
                <a:solidFill>
                  <a:srgbClr val="303030"/>
                </a:solidFill>
                <a:latin typeface="Poppins" panose="00000500000000000000" pitchFamily="2" charset="0"/>
              </a:rPr>
              <a:t>produitA</a:t>
            </a:r>
            <a:endParaRPr lang="fr-FR" sz="14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21" name="Titre 1">
            <a:extLst>
              <a:ext uri="{FF2B5EF4-FFF2-40B4-BE49-F238E27FC236}">
                <a16:creationId xmlns:a16="http://schemas.microsoft.com/office/drawing/2014/main" id="{3C42FF66-F322-D9DD-524A-43040A462FAF}"/>
              </a:ext>
            </a:extLst>
          </p:cNvPr>
          <p:cNvSpPr txBox="1">
            <a:spLocks/>
          </p:cNvSpPr>
          <p:nvPr/>
        </p:nvSpPr>
        <p:spPr>
          <a:xfrm>
            <a:off x="8461916" y="5160698"/>
            <a:ext cx="3425777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rgbClr val="303030"/>
                </a:solidFill>
                <a:latin typeface="Poppins" panose="00000500000000000000" pitchFamily="2" charset="0"/>
              </a:rPr>
              <a:t>/nouveautés/collection-hiver/</a:t>
            </a:r>
            <a:r>
              <a:rPr lang="fr-FR" sz="1400" dirty="0" err="1">
                <a:solidFill>
                  <a:srgbClr val="303030"/>
                </a:solidFill>
                <a:latin typeface="Poppins" panose="00000500000000000000" pitchFamily="2" charset="0"/>
              </a:rPr>
              <a:t>produitA</a:t>
            </a:r>
            <a:r>
              <a:rPr lang="fr-FR" sz="1400" dirty="0">
                <a:solidFill>
                  <a:srgbClr val="303030"/>
                </a:solidFill>
                <a:latin typeface="Poppins" panose="00000500000000000000" pitchFamily="2" charset="0"/>
              </a:rPr>
              <a:t> </a:t>
            </a:r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AE208398-5A10-AF49-535C-3A0DFB253F32}"/>
              </a:ext>
            </a:extLst>
          </p:cNvPr>
          <p:cNvCxnSpPr/>
          <p:nvPr/>
        </p:nvCxnSpPr>
        <p:spPr>
          <a:xfrm>
            <a:off x="3017702" y="5551943"/>
            <a:ext cx="872836" cy="49644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29801B4E-C714-1B51-FF2A-E0161B79DBE2}"/>
              </a:ext>
            </a:extLst>
          </p:cNvPr>
          <p:cNvCxnSpPr>
            <a:cxnSpLocks/>
          </p:cNvCxnSpPr>
          <p:nvPr/>
        </p:nvCxnSpPr>
        <p:spPr>
          <a:xfrm>
            <a:off x="5695162" y="5409646"/>
            <a:ext cx="0" cy="72044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0DFCB580-1390-DF1C-747E-050418D07A68}"/>
              </a:ext>
            </a:extLst>
          </p:cNvPr>
          <p:cNvCxnSpPr>
            <a:cxnSpLocks/>
          </p:cNvCxnSpPr>
          <p:nvPr/>
        </p:nvCxnSpPr>
        <p:spPr>
          <a:xfrm flipH="1">
            <a:off x="7068374" y="5584629"/>
            <a:ext cx="1152982" cy="50801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itre 1">
            <a:extLst>
              <a:ext uri="{FF2B5EF4-FFF2-40B4-BE49-F238E27FC236}">
                <a16:creationId xmlns:a16="http://schemas.microsoft.com/office/drawing/2014/main" id="{735A7973-4ADC-32AC-EC68-F21B8CF3E3D5}"/>
              </a:ext>
            </a:extLst>
          </p:cNvPr>
          <p:cNvSpPr txBox="1">
            <a:spLocks/>
          </p:cNvSpPr>
          <p:nvPr/>
        </p:nvSpPr>
        <p:spPr>
          <a:xfrm>
            <a:off x="2460396" y="6092643"/>
            <a:ext cx="7624366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rgbClr val="303030"/>
                </a:solidFill>
                <a:latin typeface="Poppins" panose="00000500000000000000" pitchFamily="2" charset="0"/>
              </a:rPr>
              <a:t>&lt;</a:t>
            </a:r>
            <a:r>
              <a:rPr lang="fr-FR" sz="1400" dirty="0" err="1">
                <a:solidFill>
                  <a:srgbClr val="303030"/>
                </a:solidFill>
                <a:latin typeface="Poppins" panose="00000500000000000000" pitchFamily="2" charset="0"/>
              </a:rPr>
              <a:t>link</a:t>
            </a:r>
            <a:r>
              <a:rPr lang="fr-FR" sz="1400" dirty="0">
                <a:solidFill>
                  <a:srgbClr val="303030"/>
                </a:solidFill>
                <a:latin typeface="Poppins" panose="00000500000000000000" pitchFamily="2" charset="0"/>
              </a:rPr>
              <a:t> rel=</a:t>
            </a:r>
            <a:r>
              <a:rPr lang="fr-FR" sz="1400" i="1" dirty="0">
                <a:solidFill>
                  <a:srgbClr val="303030"/>
                </a:solidFill>
                <a:latin typeface="Poppins" panose="00000500000000000000" pitchFamily="2" charset="0"/>
              </a:rPr>
              <a:t>”canonical” href =”https://exemple.com</a:t>
            </a:r>
            <a:r>
              <a:rPr lang="fr-FR" sz="1400" dirty="0">
                <a:solidFill>
                  <a:srgbClr val="303030"/>
                </a:solidFill>
                <a:latin typeface="Poppins" panose="00000500000000000000" pitchFamily="2" charset="0"/>
              </a:rPr>
              <a:t>/homme/mode/</a:t>
            </a:r>
            <a:r>
              <a:rPr lang="fr-FR" sz="1400" dirty="0" err="1">
                <a:solidFill>
                  <a:srgbClr val="303030"/>
                </a:solidFill>
                <a:latin typeface="Poppins" panose="00000500000000000000" pitchFamily="2" charset="0"/>
              </a:rPr>
              <a:t>produitA</a:t>
            </a:r>
            <a:endParaRPr lang="fr-FR" sz="14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3352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balise canonique (canonical tag)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18AC14B5-53CB-09D9-1171-918E47645CB6}"/>
              </a:ext>
            </a:extLst>
          </p:cNvPr>
          <p:cNvSpPr txBox="1">
            <a:spLocks/>
          </p:cNvSpPr>
          <p:nvPr/>
        </p:nvSpPr>
        <p:spPr>
          <a:xfrm>
            <a:off x="304307" y="2985633"/>
            <a:ext cx="10349838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la balise canonique est un élément du code HTML qui permet de signaler aux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crawlers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qu’une propose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propose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du contenu dupliqué, repris d'une autre page.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il faut alors indiquer à Google quelle est la page origine en insérant le code suivant :   </a:t>
            </a: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rel=”canonical” 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dans le header de la page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il existe plusieurs plugins qui permettent de le faire automatiquement</a:t>
            </a:r>
          </a:p>
          <a:p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lvl="1"/>
            <a:endParaRPr lang="fr-FR" sz="1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9C620881-67EB-419D-76E1-8EC31973574C}"/>
              </a:ext>
            </a:extLst>
          </p:cNvPr>
          <p:cNvSpPr/>
          <p:nvPr/>
        </p:nvSpPr>
        <p:spPr>
          <a:xfrm>
            <a:off x="1182748" y="3350624"/>
            <a:ext cx="2424545" cy="15932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2">
                    <a:lumMod val="25000"/>
                  </a:schemeClr>
                </a:solidFill>
              </a:rPr>
              <a:t>page produit A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F7738F0B-B05C-F35E-3CCE-1E3F67EAEC56}"/>
              </a:ext>
            </a:extLst>
          </p:cNvPr>
          <p:cNvSpPr/>
          <p:nvPr/>
        </p:nvSpPr>
        <p:spPr>
          <a:xfrm>
            <a:off x="4628350" y="3346332"/>
            <a:ext cx="2424545" cy="15932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2">
                    <a:lumMod val="25000"/>
                  </a:schemeClr>
                </a:solidFill>
              </a:rPr>
              <a:t>page produit A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B64479C7-6B0E-CEE9-1F9D-A2849416E647}"/>
              </a:ext>
            </a:extLst>
          </p:cNvPr>
          <p:cNvSpPr/>
          <p:nvPr/>
        </p:nvSpPr>
        <p:spPr>
          <a:xfrm>
            <a:off x="8257823" y="3373484"/>
            <a:ext cx="2424545" cy="15932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2">
                    <a:lumMod val="25000"/>
                  </a:schemeClr>
                </a:solidFill>
              </a:rPr>
              <a:t>page produit A</a:t>
            </a:r>
          </a:p>
        </p:txBody>
      </p:sp>
      <p:sp>
        <p:nvSpPr>
          <p:cNvPr id="19" name="Titre 1">
            <a:extLst>
              <a:ext uri="{FF2B5EF4-FFF2-40B4-BE49-F238E27FC236}">
                <a16:creationId xmlns:a16="http://schemas.microsoft.com/office/drawing/2014/main" id="{FBA9FF3F-8F12-7DBB-C080-7D471C88EB94}"/>
              </a:ext>
            </a:extLst>
          </p:cNvPr>
          <p:cNvSpPr txBox="1">
            <a:spLocks/>
          </p:cNvSpPr>
          <p:nvPr/>
        </p:nvSpPr>
        <p:spPr>
          <a:xfrm>
            <a:off x="1217150" y="4987683"/>
            <a:ext cx="3425777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rgbClr val="303030"/>
                </a:solidFill>
                <a:highlight>
                  <a:srgbClr val="FFFF00"/>
                </a:highlight>
                <a:latin typeface="Poppins" panose="00000500000000000000" pitchFamily="2" charset="0"/>
              </a:rPr>
              <a:t>/homme/mode/</a:t>
            </a:r>
            <a:r>
              <a:rPr lang="fr-FR" sz="1400" dirty="0" err="1">
                <a:solidFill>
                  <a:srgbClr val="303030"/>
                </a:solidFill>
                <a:highlight>
                  <a:srgbClr val="FFFF00"/>
                </a:highlight>
                <a:latin typeface="Poppins" panose="00000500000000000000" pitchFamily="2" charset="0"/>
              </a:rPr>
              <a:t>produitA</a:t>
            </a:r>
            <a:endParaRPr lang="fr-FR" sz="1400" dirty="0">
              <a:solidFill>
                <a:srgbClr val="303030"/>
              </a:solidFill>
              <a:highlight>
                <a:srgbClr val="FFFF00"/>
              </a:highlight>
              <a:latin typeface="Poppins" panose="00000500000000000000" pitchFamily="2" charset="0"/>
            </a:endParaRPr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0E82D897-134C-0D5C-FB84-5763F2201F63}"/>
              </a:ext>
            </a:extLst>
          </p:cNvPr>
          <p:cNvSpPr txBox="1">
            <a:spLocks/>
          </p:cNvSpPr>
          <p:nvPr/>
        </p:nvSpPr>
        <p:spPr>
          <a:xfrm>
            <a:off x="4747718" y="5020033"/>
            <a:ext cx="3425777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rgbClr val="303030"/>
                </a:solidFill>
                <a:latin typeface="Poppins" panose="00000500000000000000" pitchFamily="2" charset="0"/>
              </a:rPr>
              <a:t>/promotions/</a:t>
            </a:r>
            <a:r>
              <a:rPr lang="fr-FR" sz="1400" dirty="0" err="1">
                <a:solidFill>
                  <a:srgbClr val="303030"/>
                </a:solidFill>
                <a:latin typeface="Poppins" panose="00000500000000000000" pitchFamily="2" charset="0"/>
              </a:rPr>
              <a:t>produitA</a:t>
            </a:r>
            <a:endParaRPr lang="fr-FR" sz="14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21" name="Titre 1">
            <a:extLst>
              <a:ext uri="{FF2B5EF4-FFF2-40B4-BE49-F238E27FC236}">
                <a16:creationId xmlns:a16="http://schemas.microsoft.com/office/drawing/2014/main" id="{3C42FF66-F322-D9DD-524A-43040A462FAF}"/>
              </a:ext>
            </a:extLst>
          </p:cNvPr>
          <p:cNvSpPr txBox="1">
            <a:spLocks/>
          </p:cNvSpPr>
          <p:nvPr/>
        </p:nvSpPr>
        <p:spPr>
          <a:xfrm>
            <a:off x="8461916" y="5160698"/>
            <a:ext cx="3425777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rgbClr val="303030"/>
                </a:solidFill>
                <a:latin typeface="Poppins" panose="00000500000000000000" pitchFamily="2" charset="0"/>
              </a:rPr>
              <a:t>/nouveautés/collection-hiver/</a:t>
            </a:r>
            <a:r>
              <a:rPr lang="fr-FR" sz="1400" dirty="0" err="1">
                <a:solidFill>
                  <a:srgbClr val="303030"/>
                </a:solidFill>
                <a:latin typeface="Poppins" panose="00000500000000000000" pitchFamily="2" charset="0"/>
              </a:rPr>
              <a:t>produitA</a:t>
            </a:r>
            <a:r>
              <a:rPr lang="fr-FR" sz="1400" dirty="0">
                <a:solidFill>
                  <a:srgbClr val="303030"/>
                </a:solidFill>
                <a:latin typeface="Poppins" panose="00000500000000000000" pitchFamily="2" charset="0"/>
              </a:rPr>
              <a:t> </a:t>
            </a:r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AE208398-5A10-AF49-535C-3A0DFB253F32}"/>
              </a:ext>
            </a:extLst>
          </p:cNvPr>
          <p:cNvCxnSpPr/>
          <p:nvPr/>
        </p:nvCxnSpPr>
        <p:spPr>
          <a:xfrm>
            <a:off x="3017702" y="5551943"/>
            <a:ext cx="872836" cy="49644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29801B4E-C714-1B51-FF2A-E0161B79DBE2}"/>
              </a:ext>
            </a:extLst>
          </p:cNvPr>
          <p:cNvCxnSpPr>
            <a:cxnSpLocks/>
          </p:cNvCxnSpPr>
          <p:nvPr/>
        </p:nvCxnSpPr>
        <p:spPr>
          <a:xfrm>
            <a:off x="5695162" y="5409646"/>
            <a:ext cx="0" cy="72044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0DFCB580-1390-DF1C-747E-050418D07A68}"/>
              </a:ext>
            </a:extLst>
          </p:cNvPr>
          <p:cNvCxnSpPr>
            <a:cxnSpLocks/>
          </p:cNvCxnSpPr>
          <p:nvPr/>
        </p:nvCxnSpPr>
        <p:spPr>
          <a:xfrm flipH="1">
            <a:off x="7068374" y="5584629"/>
            <a:ext cx="1152982" cy="50801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itre 1">
            <a:extLst>
              <a:ext uri="{FF2B5EF4-FFF2-40B4-BE49-F238E27FC236}">
                <a16:creationId xmlns:a16="http://schemas.microsoft.com/office/drawing/2014/main" id="{735A7973-4ADC-32AC-EC68-F21B8CF3E3D5}"/>
              </a:ext>
            </a:extLst>
          </p:cNvPr>
          <p:cNvSpPr txBox="1">
            <a:spLocks/>
          </p:cNvSpPr>
          <p:nvPr/>
        </p:nvSpPr>
        <p:spPr>
          <a:xfrm>
            <a:off x="2460396" y="6092643"/>
            <a:ext cx="7624366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rgbClr val="303030"/>
                </a:solidFill>
                <a:latin typeface="Poppins" panose="00000500000000000000" pitchFamily="2" charset="0"/>
              </a:rPr>
              <a:t>&lt;</a:t>
            </a:r>
            <a:r>
              <a:rPr lang="fr-FR" sz="1400" dirty="0" err="1">
                <a:solidFill>
                  <a:srgbClr val="303030"/>
                </a:solidFill>
                <a:latin typeface="Poppins" panose="00000500000000000000" pitchFamily="2" charset="0"/>
              </a:rPr>
              <a:t>link</a:t>
            </a:r>
            <a:r>
              <a:rPr lang="fr-FR" sz="1400" dirty="0">
                <a:solidFill>
                  <a:srgbClr val="303030"/>
                </a:solidFill>
                <a:latin typeface="Poppins" panose="00000500000000000000" pitchFamily="2" charset="0"/>
              </a:rPr>
              <a:t> rel=</a:t>
            </a:r>
            <a:r>
              <a:rPr lang="fr-FR" sz="1400" i="1" dirty="0">
                <a:solidFill>
                  <a:srgbClr val="303030"/>
                </a:solidFill>
                <a:latin typeface="Poppins" panose="00000500000000000000" pitchFamily="2" charset="0"/>
              </a:rPr>
              <a:t>”canonical” href =”https://exemple.com</a:t>
            </a:r>
            <a:r>
              <a:rPr lang="fr-FR" sz="1400" dirty="0">
                <a:solidFill>
                  <a:srgbClr val="303030"/>
                </a:solidFill>
                <a:latin typeface="Poppins" panose="00000500000000000000" pitchFamily="2" charset="0"/>
              </a:rPr>
              <a:t>/</a:t>
            </a:r>
            <a:r>
              <a:rPr lang="fr-FR" sz="1400" dirty="0">
                <a:solidFill>
                  <a:srgbClr val="303030"/>
                </a:solidFill>
                <a:highlight>
                  <a:srgbClr val="FFFF00"/>
                </a:highlight>
                <a:latin typeface="Poppins" panose="00000500000000000000" pitchFamily="2" charset="0"/>
              </a:rPr>
              <a:t>homme/mode/</a:t>
            </a:r>
            <a:r>
              <a:rPr lang="fr-FR" sz="1400" dirty="0" err="1">
                <a:solidFill>
                  <a:srgbClr val="303030"/>
                </a:solidFill>
                <a:highlight>
                  <a:srgbClr val="FFFF00"/>
                </a:highlight>
                <a:latin typeface="Poppins" panose="00000500000000000000" pitchFamily="2" charset="0"/>
              </a:rPr>
              <a:t>produitA</a:t>
            </a:r>
            <a:endParaRPr lang="fr-FR" sz="1400" dirty="0">
              <a:solidFill>
                <a:srgbClr val="303030"/>
              </a:solidFill>
              <a:highlight>
                <a:srgbClr val="FFFF00"/>
              </a:highlight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2787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balise canonique (canonical tag)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18AC14B5-53CB-09D9-1171-918E47645CB6}"/>
              </a:ext>
            </a:extLst>
          </p:cNvPr>
          <p:cNvSpPr txBox="1">
            <a:spLocks/>
          </p:cNvSpPr>
          <p:nvPr/>
        </p:nvSpPr>
        <p:spPr>
          <a:xfrm>
            <a:off x="304307" y="2985633"/>
            <a:ext cx="10349838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la balise canonique est un élément du code HTML qui permet de signaler aux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crawlers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qu’une propose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propose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du contenu dupliqué, repris d'une autre page.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il faut alors indiquer à Google quelle est la page origine en insérant le code suivant :   </a:t>
            </a: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rel=”canonical” 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dans le header de la page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il existe plusieurs plugins qui permettent de le faire automatiquement</a:t>
            </a:r>
          </a:p>
          <a:p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lvl="1"/>
            <a:endParaRPr lang="fr-FR" sz="1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9C620881-67EB-419D-76E1-8EC31973574C}"/>
              </a:ext>
            </a:extLst>
          </p:cNvPr>
          <p:cNvSpPr/>
          <p:nvPr/>
        </p:nvSpPr>
        <p:spPr>
          <a:xfrm>
            <a:off x="1182748" y="3350624"/>
            <a:ext cx="2424545" cy="15932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2">
                    <a:lumMod val="25000"/>
                  </a:schemeClr>
                </a:solidFill>
              </a:rPr>
              <a:t>page produit A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F7738F0B-B05C-F35E-3CCE-1E3F67EAEC56}"/>
              </a:ext>
            </a:extLst>
          </p:cNvPr>
          <p:cNvSpPr/>
          <p:nvPr/>
        </p:nvSpPr>
        <p:spPr>
          <a:xfrm>
            <a:off x="4628350" y="3346332"/>
            <a:ext cx="2424545" cy="15932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2">
                    <a:lumMod val="25000"/>
                  </a:schemeClr>
                </a:solidFill>
              </a:rPr>
              <a:t>page produit A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B64479C7-6B0E-CEE9-1F9D-A2849416E647}"/>
              </a:ext>
            </a:extLst>
          </p:cNvPr>
          <p:cNvSpPr/>
          <p:nvPr/>
        </p:nvSpPr>
        <p:spPr>
          <a:xfrm>
            <a:off x="8257823" y="3373484"/>
            <a:ext cx="2424545" cy="15932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2">
                    <a:lumMod val="25000"/>
                  </a:schemeClr>
                </a:solidFill>
              </a:rPr>
              <a:t>page produit A</a:t>
            </a:r>
          </a:p>
        </p:txBody>
      </p:sp>
      <p:sp>
        <p:nvSpPr>
          <p:cNvPr id="19" name="Titre 1">
            <a:extLst>
              <a:ext uri="{FF2B5EF4-FFF2-40B4-BE49-F238E27FC236}">
                <a16:creationId xmlns:a16="http://schemas.microsoft.com/office/drawing/2014/main" id="{FBA9FF3F-8F12-7DBB-C080-7D471C88EB94}"/>
              </a:ext>
            </a:extLst>
          </p:cNvPr>
          <p:cNvSpPr txBox="1">
            <a:spLocks/>
          </p:cNvSpPr>
          <p:nvPr/>
        </p:nvSpPr>
        <p:spPr>
          <a:xfrm>
            <a:off x="1217150" y="4987683"/>
            <a:ext cx="3425777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rgbClr val="303030"/>
                </a:solidFill>
                <a:highlight>
                  <a:srgbClr val="FFFF00"/>
                </a:highlight>
                <a:latin typeface="Poppins" panose="00000500000000000000" pitchFamily="2" charset="0"/>
              </a:rPr>
              <a:t>/homme/mode/</a:t>
            </a:r>
            <a:r>
              <a:rPr lang="fr-FR" sz="1400" dirty="0" err="1">
                <a:solidFill>
                  <a:srgbClr val="303030"/>
                </a:solidFill>
                <a:highlight>
                  <a:srgbClr val="FFFF00"/>
                </a:highlight>
                <a:latin typeface="Poppins" panose="00000500000000000000" pitchFamily="2" charset="0"/>
              </a:rPr>
              <a:t>produitA</a:t>
            </a:r>
            <a:endParaRPr lang="fr-FR" sz="1400" dirty="0">
              <a:solidFill>
                <a:srgbClr val="303030"/>
              </a:solidFill>
              <a:highlight>
                <a:srgbClr val="FFFF00"/>
              </a:highlight>
              <a:latin typeface="Poppins" panose="00000500000000000000" pitchFamily="2" charset="0"/>
            </a:endParaRPr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0E82D897-134C-0D5C-FB84-5763F2201F63}"/>
              </a:ext>
            </a:extLst>
          </p:cNvPr>
          <p:cNvSpPr txBox="1">
            <a:spLocks/>
          </p:cNvSpPr>
          <p:nvPr/>
        </p:nvSpPr>
        <p:spPr>
          <a:xfrm>
            <a:off x="4747718" y="5020033"/>
            <a:ext cx="3425777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rgbClr val="303030"/>
                </a:solidFill>
                <a:latin typeface="Poppins" panose="00000500000000000000" pitchFamily="2" charset="0"/>
              </a:rPr>
              <a:t>/</a:t>
            </a:r>
            <a:r>
              <a:rPr lang="fr-FR" sz="1400" dirty="0">
                <a:solidFill>
                  <a:srgbClr val="303030"/>
                </a:solidFill>
                <a:highlight>
                  <a:srgbClr val="00FF00"/>
                </a:highlight>
                <a:latin typeface="Poppins" panose="00000500000000000000" pitchFamily="2" charset="0"/>
              </a:rPr>
              <a:t>promotions</a:t>
            </a:r>
            <a:r>
              <a:rPr lang="fr-FR" sz="1400" dirty="0">
                <a:solidFill>
                  <a:srgbClr val="303030"/>
                </a:solidFill>
                <a:latin typeface="Poppins" panose="00000500000000000000" pitchFamily="2" charset="0"/>
              </a:rPr>
              <a:t>/</a:t>
            </a:r>
            <a:r>
              <a:rPr lang="fr-FR" sz="1400" dirty="0" err="1">
                <a:solidFill>
                  <a:srgbClr val="303030"/>
                </a:solidFill>
                <a:latin typeface="Poppins" panose="00000500000000000000" pitchFamily="2" charset="0"/>
              </a:rPr>
              <a:t>produitA</a:t>
            </a:r>
            <a:endParaRPr lang="fr-FR" sz="14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21" name="Titre 1">
            <a:extLst>
              <a:ext uri="{FF2B5EF4-FFF2-40B4-BE49-F238E27FC236}">
                <a16:creationId xmlns:a16="http://schemas.microsoft.com/office/drawing/2014/main" id="{3C42FF66-F322-D9DD-524A-43040A462FAF}"/>
              </a:ext>
            </a:extLst>
          </p:cNvPr>
          <p:cNvSpPr txBox="1">
            <a:spLocks/>
          </p:cNvSpPr>
          <p:nvPr/>
        </p:nvSpPr>
        <p:spPr>
          <a:xfrm>
            <a:off x="8461916" y="5160698"/>
            <a:ext cx="3425777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rgbClr val="303030"/>
                </a:solidFill>
                <a:latin typeface="Poppins" panose="00000500000000000000" pitchFamily="2" charset="0"/>
              </a:rPr>
              <a:t>/</a:t>
            </a:r>
            <a:r>
              <a:rPr lang="fr-FR" sz="1400" dirty="0">
                <a:solidFill>
                  <a:srgbClr val="303030"/>
                </a:solidFill>
                <a:highlight>
                  <a:srgbClr val="00FF00"/>
                </a:highlight>
                <a:latin typeface="Poppins" panose="00000500000000000000" pitchFamily="2" charset="0"/>
              </a:rPr>
              <a:t>nouveautés/</a:t>
            </a:r>
            <a:r>
              <a:rPr lang="fr-FR" sz="1400" dirty="0">
                <a:solidFill>
                  <a:srgbClr val="303030"/>
                </a:solidFill>
                <a:latin typeface="Poppins" panose="00000500000000000000" pitchFamily="2" charset="0"/>
              </a:rPr>
              <a:t>collection-hiver/</a:t>
            </a:r>
            <a:r>
              <a:rPr lang="fr-FR" sz="1400" dirty="0" err="1">
                <a:solidFill>
                  <a:srgbClr val="303030"/>
                </a:solidFill>
                <a:latin typeface="Poppins" panose="00000500000000000000" pitchFamily="2" charset="0"/>
              </a:rPr>
              <a:t>produitA</a:t>
            </a:r>
            <a:r>
              <a:rPr lang="fr-FR" sz="1400" dirty="0">
                <a:solidFill>
                  <a:srgbClr val="303030"/>
                </a:solidFill>
                <a:latin typeface="Poppins" panose="00000500000000000000" pitchFamily="2" charset="0"/>
              </a:rPr>
              <a:t> </a:t>
            </a:r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AE208398-5A10-AF49-535C-3A0DFB253F32}"/>
              </a:ext>
            </a:extLst>
          </p:cNvPr>
          <p:cNvCxnSpPr/>
          <p:nvPr/>
        </p:nvCxnSpPr>
        <p:spPr>
          <a:xfrm>
            <a:off x="3017702" y="5551943"/>
            <a:ext cx="872836" cy="49644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29801B4E-C714-1B51-FF2A-E0161B79DBE2}"/>
              </a:ext>
            </a:extLst>
          </p:cNvPr>
          <p:cNvCxnSpPr>
            <a:cxnSpLocks/>
          </p:cNvCxnSpPr>
          <p:nvPr/>
        </p:nvCxnSpPr>
        <p:spPr>
          <a:xfrm>
            <a:off x="5695162" y="5409646"/>
            <a:ext cx="0" cy="72044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0DFCB580-1390-DF1C-747E-050418D07A68}"/>
              </a:ext>
            </a:extLst>
          </p:cNvPr>
          <p:cNvCxnSpPr>
            <a:cxnSpLocks/>
          </p:cNvCxnSpPr>
          <p:nvPr/>
        </p:nvCxnSpPr>
        <p:spPr>
          <a:xfrm flipH="1">
            <a:off x="7068374" y="5584629"/>
            <a:ext cx="1152982" cy="50801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itre 1">
            <a:extLst>
              <a:ext uri="{FF2B5EF4-FFF2-40B4-BE49-F238E27FC236}">
                <a16:creationId xmlns:a16="http://schemas.microsoft.com/office/drawing/2014/main" id="{735A7973-4ADC-32AC-EC68-F21B8CF3E3D5}"/>
              </a:ext>
            </a:extLst>
          </p:cNvPr>
          <p:cNvSpPr txBox="1">
            <a:spLocks/>
          </p:cNvSpPr>
          <p:nvPr/>
        </p:nvSpPr>
        <p:spPr>
          <a:xfrm>
            <a:off x="2460396" y="6092643"/>
            <a:ext cx="7624366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rgbClr val="303030"/>
                </a:solidFill>
                <a:latin typeface="Poppins" panose="00000500000000000000" pitchFamily="2" charset="0"/>
              </a:rPr>
              <a:t>&lt;</a:t>
            </a:r>
            <a:r>
              <a:rPr lang="fr-FR" sz="1400" dirty="0" err="1">
                <a:solidFill>
                  <a:srgbClr val="303030"/>
                </a:solidFill>
                <a:latin typeface="Poppins" panose="00000500000000000000" pitchFamily="2" charset="0"/>
              </a:rPr>
              <a:t>link</a:t>
            </a:r>
            <a:r>
              <a:rPr lang="fr-FR" sz="1400" dirty="0">
                <a:solidFill>
                  <a:srgbClr val="303030"/>
                </a:solidFill>
                <a:latin typeface="Poppins" panose="00000500000000000000" pitchFamily="2" charset="0"/>
              </a:rPr>
              <a:t> rel=</a:t>
            </a:r>
            <a:r>
              <a:rPr lang="fr-FR" sz="1400" i="1" dirty="0">
                <a:solidFill>
                  <a:srgbClr val="303030"/>
                </a:solidFill>
                <a:latin typeface="Poppins" panose="00000500000000000000" pitchFamily="2" charset="0"/>
              </a:rPr>
              <a:t>”canonical” href =”https://exemple.com</a:t>
            </a:r>
            <a:r>
              <a:rPr lang="fr-FR" sz="1400" dirty="0">
                <a:solidFill>
                  <a:srgbClr val="303030"/>
                </a:solidFill>
                <a:latin typeface="Poppins" panose="00000500000000000000" pitchFamily="2" charset="0"/>
              </a:rPr>
              <a:t>/</a:t>
            </a:r>
            <a:r>
              <a:rPr lang="fr-FR" sz="1400" dirty="0">
                <a:solidFill>
                  <a:srgbClr val="303030"/>
                </a:solidFill>
                <a:highlight>
                  <a:srgbClr val="FFFF00"/>
                </a:highlight>
                <a:latin typeface="Poppins" panose="00000500000000000000" pitchFamily="2" charset="0"/>
              </a:rPr>
              <a:t>homme/mode/</a:t>
            </a:r>
            <a:r>
              <a:rPr lang="fr-FR" sz="1400" dirty="0" err="1">
                <a:solidFill>
                  <a:srgbClr val="303030"/>
                </a:solidFill>
                <a:highlight>
                  <a:srgbClr val="FFFF00"/>
                </a:highlight>
                <a:latin typeface="Poppins" panose="00000500000000000000" pitchFamily="2" charset="0"/>
              </a:rPr>
              <a:t>produitA</a:t>
            </a:r>
            <a:endParaRPr lang="fr-FR" sz="1400" dirty="0">
              <a:solidFill>
                <a:srgbClr val="303030"/>
              </a:solidFill>
              <a:highlight>
                <a:srgbClr val="FFFF00"/>
              </a:highlight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18457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balise canonique (canonical tag)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18AC14B5-53CB-09D9-1171-918E47645CB6}"/>
              </a:ext>
            </a:extLst>
          </p:cNvPr>
          <p:cNvSpPr txBox="1">
            <a:spLocks/>
          </p:cNvSpPr>
          <p:nvPr/>
        </p:nvSpPr>
        <p:spPr>
          <a:xfrm>
            <a:off x="304307" y="2985633"/>
            <a:ext cx="10349838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la balise canonique est un élément du code HTML qui permet de signaler aux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crawlers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qu’une propose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propose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du contenu dupliqué, repris d'une autre page.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il faut alors indiquer à Google quelle est la page origine en insérant le code suivant :   </a:t>
            </a: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rel=”canonical” 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dans le header de la page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il existe plusieurs plugins qui permettent de le faire automatiquement</a:t>
            </a:r>
          </a:p>
          <a:p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lvl="1"/>
            <a:endParaRPr lang="fr-FR" sz="1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9C620881-67EB-419D-76E1-8EC31973574C}"/>
              </a:ext>
            </a:extLst>
          </p:cNvPr>
          <p:cNvSpPr/>
          <p:nvPr/>
        </p:nvSpPr>
        <p:spPr>
          <a:xfrm>
            <a:off x="1182748" y="3350624"/>
            <a:ext cx="2424545" cy="15932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2">
                    <a:lumMod val="25000"/>
                  </a:schemeClr>
                </a:solidFill>
              </a:rPr>
              <a:t>catégorie chaussettes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F7738F0B-B05C-F35E-3CCE-1E3F67EAEC56}"/>
              </a:ext>
            </a:extLst>
          </p:cNvPr>
          <p:cNvSpPr/>
          <p:nvPr/>
        </p:nvSpPr>
        <p:spPr>
          <a:xfrm>
            <a:off x="4628350" y="3346332"/>
            <a:ext cx="2424545" cy="15932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2">
                    <a:lumMod val="25000"/>
                  </a:schemeClr>
                </a:solidFill>
              </a:rPr>
              <a:t>catégories chaussettes bleues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B64479C7-6B0E-CEE9-1F9D-A2849416E647}"/>
              </a:ext>
            </a:extLst>
          </p:cNvPr>
          <p:cNvSpPr/>
          <p:nvPr/>
        </p:nvSpPr>
        <p:spPr>
          <a:xfrm>
            <a:off x="8257823" y="3373484"/>
            <a:ext cx="2424545" cy="15932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2">
                    <a:lumMod val="25000"/>
                  </a:schemeClr>
                </a:solidFill>
              </a:rPr>
              <a:t>catégorie chaussettes longues</a:t>
            </a:r>
          </a:p>
        </p:txBody>
      </p:sp>
      <p:sp>
        <p:nvSpPr>
          <p:cNvPr id="19" name="Titre 1">
            <a:extLst>
              <a:ext uri="{FF2B5EF4-FFF2-40B4-BE49-F238E27FC236}">
                <a16:creationId xmlns:a16="http://schemas.microsoft.com/office/drawing/2014/main" id="{FBA9FF3F-8F12-7DBB-C080-7D471C88EB94}"/>
              </a:ext>
            </a:extLst>
          </p:cNvPr>
          <p:cNvSpPr txBox="1">
            <a:spLocks/>
          </p:cNvSpPr>
          <p:nvPr/>
        </p:nvSpPr>
        <p:spPr>
          <a:xfrm>
            <a:off x="1217150" y="4987683"/>
            <a:ext cx="3425777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rgbClr val="303030"/>
                </a:solidFill>
                <a:latin typeface="Poppins" panose="00000500000000000000" pitchFamily="2" charset="0"/>
              </a:rPr>
              <a:t>produits/chaussettes</a:t>
            </a:r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0E82D897-134C-0D5C-FB84-5763F2201F63}"/>
              </a:ext>
            </a:extLst>
          </p:cNvPr>
          <p:cNvSpPr txBox="1">
            <a:spLocks/>
          </p:cNvSpPr>
          <p:nvPr/>
        </p:nvSpPr>
        <p:spPr>
          <a:xfrm>
            <a:off x="4177548" y="4996248"/>
            <a:ext cx="3425777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rgbClr val="303030"/>
                </a:solidFill>
                <a:latin typeface="Poppins" panose="00000500000000000000" pitchFamily="2" charset="0"/>
              </a:rPr>
              <a:t>produits/</a:t>
            </a:r>
            <a:r>
              <a:rPr lang="fr-FR" sz="1400" dirty="0" err="1">
                <a:solidFill>
                  <a:srgbClr val="303030"/>
                </a:solidFill>
                <a:latin typeface="Poppins" panose="00000500000000000000" pitchFamily="2" charset="0"/>
              </a:rPr>
              <a:t>chaussettes?couleur</a:t>
            </a:r>
            <a:r>
              <a:rPr lang="fr-FR" sz="1400" dirty="0">
                <a:solidFill>
                  <a:srgbClr val="303030"/>
                </a:solidFill>
                <a:latin typeface="Poppins" panose="00000500000000000000" pitchFamily="2" charset="0"/>
              </a:rPr>
              <a:t>=bleu</a:t>
            </a:r>
          </a:p>
        </p:txBody>
      </p:sp>
      <p:sp>
        <p:nvSpPr>
          <p:cNvPr id="21" name="Titre 1">
            <a:extLst>
              <a:ext uri="{FF2B5EF4-FFF2-40B4-BE49-F238E27FC236}">
                <a16:creationId xmlns:a16="http://schemas.microsoft.com/office/drawing/2014/main" id="{3C42FF66-F322-D9DD-524A-43040A462FAF}"/>
              </a:ext>
            </a:extLst>
          </p:cNvPr>
          <p:cNvSpPr txBox="1">
            <a:spLocks/>
          </p:cNvSpPr>
          <p:nvPr/>
        </p:nvSpPr>
        <p:spPr>
          <a:xfrm>
            <a:off x="8452996" y="4993545"/>
            <a:ext cx="3425777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rgbClr val="303030"/>
                </a:solidFill>
                <a:latin typeface="Poppins" panose="00000500000000000000" pitchFamily="2" charset="0"/>
              </a:rPr>
              <a:t>produits/</a:t>
            </a:r>
            <a:r>
              <a:rPr lang="fr-FR" sz="1400" dirty="0" err="1">
                <a:solidFill>
                  <a:srgbClr val="303030"/>
                </a:solidFill>
                <a:latin typeface="Poppins" panose="00000500000000000000" pitchFamily="2" charset="0"/>
              </a:rPr>
              <a:t>chaussettes?type</a:t>
            </a:r>
            <a:r>
              <a:rPr lang="fr-FR" sz="1400" dirty="0">
                <a:solidFill>
                  <a:srgbClr val="303030"/>
                </a:solidFill>
                <a:latin typeface="Poppins" panose="00000500000000000000" pitchFamily="2" charset="0"/>
              </a:rPr>
              <a:t>=longues</a:t>
            </a:r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AE208398-5A10-AF49-535C-3A0DFB253F32}"/>
              </a:ext>
            </a:extLst>
          </p:cNvPr>
          <p:cNvCxnSpPr/>
          <p:nvPr/>
        </p:nvCxnSpPr>
        <p:spPr>
          <a:xfrm>
            <a:off x="3017702" y="5551943"/>
            <a:ext cx="872836" cy="49644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29801B4E-C714-1B51-FF2A-E0161B79DBE2}"/>
              </a:ext>
            </a:extLst>
          </p:cNvPr>
          <p:cNvCxnSpPr>
            <a:cxnSpLocks/>
          </p:cNvCxnSpPr>
          <p:nvPr/>
        </p:nvCxnSpPr>
        <p:spPr>
          <a:xfrm>
            <a:off x="5695162" y="5409646"/>
            <a:ext cx="0" cy="72044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0DFCB580-1390-DF1C-747E-050418D07A68}"/>
              </a:ext>
            </a:extLst>
          </p:cNvPr>
          <p:cNvCxnSpPr>
            <a:cxnSpLocks/>
          </p:cNvCxnSpPr>
          <p:nvPr/>
        </p:nvCxnSpPr>
        <p:spPr>
          <a:xfrm flipH="1">
            <a:off x="7068374" y="5584629"/>
            <a:ext cx="1152982" cy="50801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itre 1">
            <a:extLst>
              <a:ext uri="{FF2B5EF4-FFF2-40B4-BE49-F238E27FC236}">
                <a16:creationId xmlns:a16="http://schemas.microsoft.com/office/drawing/2014/main" id="{735A7973-4ADC-32AC-EC68-F21B8CF3E3D5}"/>
              </a:ext>
            </a:extLst>
          </p:cNvPr>
          <p:cNvSpPr txBox="1">
            <a:spLocks/>
          </p:cNvSpPr>
          <p:nvPr/>
        </p:nvSpPr>
        <p:spPr>
          <a:xfrm>
            <a:off x="2460396" y="6092643"/>
            <a:ext cx="7624366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rgbClr val="303030"/>
                </a:solidFill>
                <a:latin typeface="Poppins" panose="00000500000000000000" pitchFamily="2" charset="0"/>
              </a:rPr>
              <a:t>&lt;</a:t>
            </a:r>
            <a:r>
              <a:rPr lang="fr-FR" sz="1400" dirty="0" err="1">
                <a:solidFill>
                  <a:srgbClr val="303030"/>
                </a:solidFill>
                <a:latin typeface="Poppins" panose="00000500000000000000" pitchFamily="2" charset="0"/>
              </a:rPr>
              <a:t>link</a:t>
            </a:r>
            <a:r>
              <a:rPr lang="fr-FR" sz="1400" dirty="0">
                <a:solidFill>
                  <a:srgbClr val="303030"/>
                </a:solidFill>
                <a:latin typeface="Poppins" panose="00000500000000000000" pitchFamily="2" charset="0"/>
              </a:rPr>
              <a:t> rel=</a:t>
            </a:r>
            <a:r>
              <a:rPr lang="fr-FR" sz="1400" i="1" dirty="0">
                <a:solidFill>
                  <a:srgbClr val="303030"/>
                </a:solidFill>
                <a:latin typeface="Poppins" panose="00000500000000000000" pitchFamily="2" charset="0"/>
              </a:rPr>
              <a:t>”canonical” href =”https://exemple.com</a:t>
            </a:r>
            <a:r>
              <a:rPr lang="fr-FR" sz="1400" dirty="0">
                <a:solidFill>
                  <a:srgbClr val="303030"/>
                </a:solidFill>
                <a:latin typeface="Poppins" panose="00000500000000000000" pitchFamily="2" charset="0"/>
              </a:rPr>
              <a:t>/produits/chaussettes</a:t>
            </a:r>
          </a:p>
        </p:txBody>
      </p:sp>
    </p:spTree>
    <p:extLst>
      <p:ext uri="{BB962C8B-B14F-4D97-AF65-F5344CB8AC3E}">
        <p14:creationId xmlns:p14="http://schemas.microsoft.com/office/powerpoint/2010/main" val="32468985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balise canonique (canonical tag)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18AC14B5-53CB-09D9-1171-918E47645CB6}"/>
              </a:ext>
            </a:extLst>
          </p:cNvPr>
          <p:cNvSpPr txBox="1">
            <a:spLocks/>
          </p:cNvSpPr>
          <p:nvPr/>
        </p:nvSpPr>
        <p:spPr>
          <a:xfrm>
            <a:off x="304307" y="2985633"/>
            <a:ext cx="10349838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la balise canonique est un élément du code HTML qui permet de signaler aux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crawlers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qu’une propose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propose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du contenu dupliqué, repris d'une autre page.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il faut alors indiquer à Google quelle est la page origine en insérant le code suivant :   </a:t>
            </a: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rel=”canonical” 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dans le header de la page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il existe plusieurs plugins qui permettent de le faire automatiquement</a:t>
            </a:r>
          </a:p>
          <a:p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lvl="1"/>
            <a:endParaRPr lang="fr-FR" sz="1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9C620881-67EB-419D-76E1-8EC31973574C}"/>
              </a:ext>
            </a:extLst>
          </p:cNvPr>
          <p:cNvSpPr/>
          <p:nvPr/>
        </p:nvSpPr>
        <p:spPr>
          <a:xfrm>
            <a:off x="1182748" y="3350624"/>
            <a:ext cx="2424545" cy="15932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2">
                    <a:lumMod val="25000"/>
                  </a:schemeClr>
                </a:solidFill>
              </a:rPr>
              <a:t>catégorie chaussettes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F7738F0B-B05C-F35E-3CCE-1E3F67EAEC56}"/>
              </a:ext>
            </a:extLst>
          </p:cNvPr>
          <p:cNvSpPr/>
          <p:nvPr/>
        </p:nvSpPr>
        <p:spPr>
          <a:xfrm>
            <a:off x="4628350" y="3346332"/>
            <a:ext cx="2424545" cy="15932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2">
                    <a:lumMod val="25000"/>
                  </a:schemeClr>
                </a:solidFill>
              </a:rPr>
              <a:t>catégories chaussettes bleues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B64479C7-6B0E-CEE9-1F9D-A2849416E647}"/>
              </a:ext>
            </a:extLst>
          </p:cNvPr>
          <p:cNvSpPr/>
          <p:nvPr/>
        </p:nvSpPr>
        <p:spPr>
          <a:xfrm>
            <a:off x="8257823" y="3373484"/>
            <a:ext cx="2424545" cy="15932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2">
                    <a:lumMod val="25000"/>
                  </a:schemeClr>
                </a:solidFill>
              </a:rPr>
              <a:t>catégorie chaussettes longues</a:t>
            </a:r>
          </a:p>
        </p:txBody>
      </p:sp>
      <p:sp>
        <p:nvSpPr>
          <p:cNvPr id="19" name="Titre 1">
            <a:extLst>
              <a:ext uri="{FF2B5EF4-FFF2-40B4-BE49-F238E27FC236}">
                <a16:creationId xmlns:a16="http://schemas.microsoft.com/office/drawing/2014/main" id="{FBA9FF3F-8F12-7DBB-C080-7D471C88EB94}"/>
              </a:ext>
            </a:extLst>
          </p:cNvPr>
          <p:cNvSpPr txBox="1">
            <a:spLocks/>
          </p:cNvSpPr>
          <p:nvPr/>
        </p:nvSpPr>
        <p:spPr>
          <a:xfrm>
            <a:off x="1217150" y="4987683"/>
            <a:ext cx="3425777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rgbClr val="303030"/>
                </a:solidFill>
                <a:highlight>
                  <a:srgbClr val="FFFF00"/>
                </a:highlight>
                <a:latin typeface="Poppins" panose="00000500000000000000" pitchFamily="2" charset="0"/>
              </a:rPr>
              <a:t>produits/chaussettes</a:t>
            </a:r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0E82D897-134C-0D5C-FB84-5763F2201F63}"/>
              </a:ext>
            </a:extLst>
          </p:cNvPr>
          <p:cNvSpPr txBox="1">
            <a:spLocks/>
          </p:cNvSpPr>
          <p:nvPr/>
        </p:nvSpPr>
        <p:spPr>
          <a:xfrm>
            <a:off x="4177548" y="4996248"/>
            <a:ext cx="3425777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rgbClr val="303030"/>
                </a:solidFill>
                <a:latin typeface="Poppins" panose="00000500000000000000" pitchFamily="2" charset="0"/>
              </a:rPr>
              <a:t>produits/</a:t>
            </a:r>
            <a:r>
              <a:rPr lang="fr-FR" sz="1400" dirty="0" err="1">
                <a:solidFill>
                  <a:srgbClr val="303030"/>
                </a:solidFill>
                <a:latin typeface="Poppins" panose="00000500000000000000" pitchFamily="2" charset="0"/>
              </a:rPr>
              <a:t>chaussettes?couleur</a:t>
            </a:r>
            <a:r>
              <a:rPr lang="fr-FR" sz="1400" dirty="0">
                <a:solidFill>
                  <a:srgbClr val="303030"/>
                </a:solidFill>
                <a:latin typeface="Poppins" panose="00000500000000000000" pitchFamily="2" charset="0"/>
              </a:rPr>
              <a:t>=bleu</a:t>
            </a:r>
          </a:p>
        </p:txBody>
      </p:sp>
      <p:sp>
        <p:nvSpPr>
          <p:cNvPr id="21" name="Titre 1">
            <a:extLst>
              <a:ext uri="{FF2B5EF4-FFF2-40B4-BE49-F238E27FC236}">
                <a16:creationId xmlns:a16="http://schemas.microsoft.com/office/drawing/2014/main" id="{3C42FF66-F322-D9DD-524A-43040A462FAF}"/>
              </a:ext>
            </a:extLst>
          </p:cNvPr>
          <p:cNvSpPr txBox="1">
            <a:spLocks/>
          </p:cNvSpPr>
          <p:nvPr/>
        </p:nvSpPr>
        <p:spPr>
          <a:xfrm>
            <a:off x="8452996" y="4993545"/>
            <a:ext cx="3425777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rgbClr val="303030"/>
                </a:solidFill>
                <a:latin typeface="Poppins" panose="00000500000000000000" pitchFamily="2" charset="0"/>
              </a:rPr>
              <a:t>produits/</a:t>
            </a:r>
            <a:r>
              <a:rPr lang="fr-FR" sz="1400" dirty="0" err="1">
                <a:solidFill>
                  <a:srgbClr val="303030"/>
                </a:solidFill>
                <a:latin typeface="Poppins" panose="00000500000000000000" pitchFamily="2" charset="0"/>
              </a:rPr>
              <a:t>chaussettes?type</a:t>
            </a:r>
            <a:r>
              <a:rPr lang="fr-FR" sz="1400" dirty="0">
                <a:solidFill>
                  <a:srgbClr val="303030"/>
                </a:solidFill>
                <a:latin typeface="Poppins" panose="00000500000000000000" pitchFamily="2" charset="0"/>
              </a:rPr>
              <a:t>=longues</a:t>
            </a:r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AE208398-5A10-AF49-535C-3A0DFB253F32}"/>
              </a:ext>
            </a:extLst>
          </p:cNvPr>
          <p:cNvCxnSpPr/>
          <p:nvPr/>
        </p:nvCxnSpPr>
        <p:spPr>
          <a:xfrm>
            <a:off x="3017702" y="5551943"/>
            <a:ext cx="872836" cy="49644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29801B4E-C714-1B51-FF2A-E0161B79DBE2}"/>
              </a:ext>
            </a:extLst>
          </p:cNvPr>
          <p:cNvCxnSpPr>
            <a:cxnSpLocks/>
          </p:cNvCxnSpPr>
          <p:nvPr/>
        </p:nvCxnSpPr>
        <p:spPr>
          <a:xfrm>
            <a:off x="5695162" y="5409646"/>
            <a:ext cx="0" cy="72044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0DFCB580-1390-DF1C-747E-050418D07A68}"/>
              </a:ext>
            </a:extLst>
          </p:cNvPr>
          <p:cNvCxnSpPr>
            <a:cxnSpLocks/>
          </p:cNvCxnSpPr>
          <p:nvPr/>
        </p:nvCxnSpPr>
        <p:spPr>
          <a:xfrm flipH="1">
            <a:off x="7068374" y="5584629"/>
            <a:ext cx="1152982" cy="50801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itre 1">
            <a:extLst>
              <a:ext uri="{FF2B5EF4-FFF2-40B4-BE49-F238E27FC236}">
                <a16:creationId xmlns:a16="http://schemas.microsoft.com/office/drawing/2014/main" id="{735A7973-4ADC-32AC-EC68-F21B8CF3E3D5}"/>
              </a:ext>
            </a:extLst>
          </p:cNvPr>
          <p:cNvSpPr txBox="1">
            <a:spLocks/>
          </p:cNvSpPr>
          <p:nvPr/>
        </p:nvSpPr>
        <p:spPr>
          <a:xfrm>
            <a:off x="2460396" y="6092643"/>
            <a:ext cx="7624366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rgbClr val="303030"/>
                </a:solidFill>
                <a:latin typeface="Poppins" panose="00000500000000000000" pitchFamily="2" charset="0"/>
              </a:rPr>
              <a:t>&lt;</a:t>
            </a:r>
            <a:r>
              <a:rPr lang="fr-FR" sz="1400" dirty="0" err="1">
                <a:solidFill>
                  <a:srgbClr val="303030"/>
                </a:solidFill>
                <a:latin typeface="Poppins" panose="00000500000000000000" pitchFamily="2" charset="0"/>
              </a:rPr>
              <a:t>link</a:t>
            </a:r>
            <a:r>
              <a:rPr lang="fr-FR" sz="1400" dirty="0">
                <a:solidFill>
                  <a:srgbClr val="303030"/>
                </a:solidFill>
                <a:latin typeface="Poppins" panose="00000500000000000000" pitchFamily="2" charset="0"/>
              </a:rPr>
              <a:t> rel=</a:t>
            </a:r>
            <a:r>
              <a:rPr lang="fr-FR" sz="1400" i="1" dirty="0">
                <a:solidFill>
                  <a:srgbClr val="303030"/>
                </a:solidFill>
                <a:latin typeface="Poppins" panose="00000500000000000000" pitchFamily="2" charset="0"/>
              </a:rPr>
              <a:t>”canonical” href =”https://exemple.com</a:t>
            </a:r>
            <a:r>
              <a:rPr lang="fr-FR" sz="1400" dirty="0">
                <a:solidFill>
                  <a:srgbClr val="303030"/>
                </a:solidFill>
                <a:latin typeface="Poppins" panose="00000500000000000000" pitchFamily="2" charset="0"/>
              </a:rPr>
              <a:t>/</a:t>
            </a:r>
            <a:r>
              <a:rPr lang="fr-FR" sz="1400" dirty="0">
                <a:solidFill>
                  <a:srgbClr val="303030"/>
                </a:solidFill>
                <a:highlight>
                  <a:srgbClr val="FFFF00"/>
                </a:highlight>
                <a:latin typeface="Poppins" panose="00000500000000000000" pitchFamily="2" charset="0"/>
              </a:rPr>
              <a:t>produits/chaussettes</a:t>
            </a:r>
          </a:p>
        </p:txBody>
      </p:sp>
    </p:spTree>
    <p:extLst>
      <p:ext uri="{BB962C8B-B14F-4D97-AF65-F5344CB8AC3E}">
        <p14:creationId xmlns:p14="http://schemas.microsoft.com/office/powerpoint/2010/main" val="16608343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77B545-5F50-BDB4-49D9-8882882167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HTTPS STATUS CODE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18AC14B5-53CB-09D9-1171-918E47645CB6}"/>
              </a:ext>
            </a:extLst>
          </p:cNvPr>
          <p:cNvSpPr txBox="1">
            <a:spLocks/>
          </p:cNvSpPr>
          <p:nvPr/>
        </p:nvSpPr>
        <p:spPr>
          <a:xfrm>
            <a:off x="207325" y="6312187"/>
            <a:ext cx="7869875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vous pouvez consulter l’état d’un serveur sur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  <a:hlinkClick r:id="rId2"/>
              </a:rPr>
              <a:t>httpstatus</a:t>
            </a:r>
            <a:endParaRPr lang="fr-FR" sz="1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449B60F-CF65-96FA-B88D-DBB7A3418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0"/>
            <a:ext cx="31654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EB7DE234-0993-1395-5D19-981DB389E637}"/>
              </a:ext>
            </a:extLst>
          </p:cNvPr>
          <p:cNvSpPr txBox="1">
            <a:spLocks/>
          </p:cNvSpPr>
          <p:nvPr/>
        </p:nvSpPr>
        <p:spPr>
          <a:xfrm>
            <a:off x="304307" y="1483862"/>
            <a:ext cx="7869875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00" dirty="0">
                <a:solidFill>
                  <a:srgbClr val="303030"/>
                </a:solidFill>
                <a:latin typeface="Poppins" panose="00000500000000000000" pitchFamily="2" charset="0"/>
              </a:rPr>
              <a:t>les 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CF3D5249-457C-C70A-D417-73ADAC5879FB}"/>
              </a:ext>
            </a:extLst>
          </p:cNvPr>
          <p:cNvSpPr txBox="1">
            <a:spLocks/>
          </p:cNvSpPr>
          <p:nvPr/>
        </p:nvSpPr>
        <p:spPr>
          <a:xfrm>
            <a:off x="304307" y="4174243"/>
            <a:ext cx="7869875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les https statuts code sont des indicateurs de santé de votre site.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Les codes 3xx servent à rediriger vos liens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Les codes 4xx indiquent un conflit au sein même du site.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parfois, les pages 404 sont intentionnelles et font partie d’un tunnel de vente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les erreurs 5xx viennent du serveur</a:t>
            </a:r>
            <a:endParaRPr lang="fr-FR" sz="1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523B1DDF-203C-4D09-A0EF-C9749B02EDB5}"/>
              </a:ext>
            </a:extLst>
          </p:cNvPr>
          <p:cNvSpPr txBox="1">
            <a:spLocks/>
          </p:cNvSpPr>
          <p:nvPr/>
        </p:nvSpPr>
        <p:spPr>
          <a:xfrm>
            <a:off x="304306" y="5152454"/>
            <a:ext cx="7869875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les redirections font perdre du jus, il faut alors les minimiser.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52B254F-E2AF-6E7F-436F-E3E537D815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911" y="5317578"/>
            <a:ext cx="3345270" cy="813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5043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77B545-5F50-BDB4-49D9-8882882167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HTTPS STATUS CODE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18AC14B5-53CB-09D9-1171-918E47645CB6}"/>
              </a:ext>
            </a:extLst>
          </p:cNvPr>
          <p:cNvSpPr txBox="1">
            <a:spLocks/>
          </p:cNvSpPr>
          <p:nvPr/>
        </p:nvSpPr>
        <p:spPr>
          <a:xfrm>
            <a:off x="207325" y="6312187"/>
            <a:ext cx="7869875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vous pouvez consulter l’état d’un serveur sur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  <a:hlinkClick r:id="rId2"/>
              </a:rPr>
              <a:t>httpstatus</a:t>
            </a:r>
            <a:endParaRPr lang="fr-FR" sz="1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449B60F-CF65-96FA-B88D-DBB7A3418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0"/>
            <a:ext cx="31654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EB7DE234-0993-1395-5D19-981DB389E637}"/>
              </a:ext>
            </a:extLst>
          </p:cNvPr>
          <p:cNvSpPr txBox="1">
            <a:spLocks/>
          </p:cNvSpPr>
          <p:nvPr/>
        </p:nvSpPr>
        <p:spPr>
          <a:xfrm>
            <a:off x="304307" y="1483862"/>
            <a:ext cx="7869875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00" dirty="0">
                <a:solidFill>
                  <a:srgbClr val="303030"/>
                </a:solidFill>
                <a:latin typeface="Poppins" panose="00000500000000000000" pitchFamily="2" charset="0"/>
              </a:rPr>
              <a:t>les 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CF3D5249-457C-C70A-D417-73ADAC5879FB}"/>
              </a:ext>
            </a:extLst>
          </p:cNvPr>
          <p:cNvSpPr txBox="1">
            <a:spLocks/>
          </p:cNvSpPr>
          <p:nvPr/>
        </p:nvSpPr>
        <p:spPr>
          <a:xfrm>
            <a:off x="304307" y="4174243"/>
            <a:ext cx="7869875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00" dirty="0">
                <a:solidFill>
                  <a:srgbClr val="303030"/>
                </a:solidFill>
                <a:latin typeface="Poppins" panose="00000500000000000000" pitchFamily="2" charset="0"/>
              </a:rPr>
              <a:t>Vous pou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523B1DDF-203C-4D09-A0EF-C9749B02EDB5}"/>
              </a:ext>
            </a:extLst>
          </p:cNvPr>
          <p:cNvSpPr txBox="1">
            <a:spLocks/>
          </p:cNvSpPr>
          <p:nvPr/>
        </p:nvSpPr>
        <p:spPr>
          <a:xfrm>
            <a:off x="207324" y="1992622"/>
            <a:ext cx="7869875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Vous pouvez utiliser Link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Redirect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Trace pour vérifier les pages d’un site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331447C-6EE9-62A7-A08B-09D186F1F8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3660" y="3306621"/>
            <a:ext cx="3345270" cy="813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9269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77B545-5F50-BDB4-49D9-8882882167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sitemap</a:t>
            </a:r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xml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EB7DE234-0993-1395-5D19-981DB389E637}"/>
              </a:ext>
            </a:extLst>
          </p:cNvPr>
          <p:cNvSpPr txBox="1">
            <a:spLocks/>
          </p:cNvSpPr>
          <p:nvPr/>
        </p:nvSpPr>
        <p:spPr>
          <a:xfrm>
            <a:off x="304307" y="1483862"/>
            <a:ext cx="7869875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00" dirty="0">
                <a:solidFill>
                  <a:srgbClr val="303030"/>
                </a:solidFill>
                <a:latin typeface="Poppins" panose="00000500000000000000" pitchFamily="2" charset="0"/>
              </a:rPr>
              <a:t>les 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CF3D5249-457C-C70A-D417-73ADAC5879FB}"/>
              </a:ext>
            </a:extLst>
          </p:cNvPr>
          <p:cNvSpPr txBox="1">
            <a:spLocks/>
          </p:cNvSpPr>
          <p:nvPr/>
        </p:nvSpPr>
        <p:spPr>
          <a:xfrm>
            <a:off x="304307" y="1971323"/>
            <a:ext cx="11444350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un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sitemap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est un fichier .xml listant les URLs d’un site que l'on souhaite faire crawler.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il facilite la navigation pour les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crawlers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et améliore le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réferencement</a:t>
            </a:r>
            <a:endParaRPr lang="fr-FR" sz="1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523B1DDF-203C-4D09-A0EF-C9749B02EDB5}"/>
              </a:ext>
            </a:extLst>
          </p:cNvPr>
          <p:cNvSpPr txBox="1">
            <a:spLocks/>
          </p:cNvSpPr>
          <p:nvPr/>
        </p:nvSpPr>
        <p:spPr>
          <a:xfrm>
            <a:off x="304308" y="3787711"/>
            <a:ext cx="6047282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il est possible de créer le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sitemap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à la main mais la plupart des CMS proposent des plugins ou des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sitemap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déjà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integrés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automatiquement, comme sur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Shopify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, par exemple.</a:t>
            </a:r>
          </a:p>
        </p:txBody>
      </p:sp>
      <p:pic>
        <p:nvPicPr>
          <p:cNvPr id="4098" name="Picture 2" descr="How to Use XML Sitemaps to Boost SEO">
            <a:extLst>
              <a:ext uri="{FF2B5EF4-FFF2-40B4-BE49-F238E27FC236}">
                <a16:creationId xmlns:a16="http://schemas.microsoft.com/office/drawing/2014/main" id="{F085C7A7-C82E-9F08-0A32-613D59D5D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552" y="2741434"/>
            <a:ext cx="5391140" cy="3948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510DAE2D-D7B7-51CC-0858-AD7E2F667624}"/>
              </a:ext>
            </a:extLst>
          </p:cNvPr>
          <p:cNvSpPr txBox="1">
            <a:spLocks/>
          </p:cNvSpPr>
          <p:nvPr/>
        </p:nvSpPr>
        <p:spPr>
          <a:xfrm>
            <a:off x="304307" y="5186666"/>
            <a:ext cx="5391140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pour consulter le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sitemap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d’un site il suffit d’ajouter « /</a:t>
            </a: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sitemap.xml 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» à la fin de son URL.</a:t>
            </a:r>
          </a:p>
        </p:txBody>
      </p:sp>
    </p:spTree>
    <p:extLst>
      <p:ext uri="{BB962C8B-B14F-4D97-AF65-F5344CB8AC3E}">
        <p14:creationId xmlns:p14="http://schemas.microsoft.com/office/powerpoint/2010/main" val="37506653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77B545-5F50-BDB4-49D9-888288216769}"/>
              </a:ext>
            </a:extLst>
          </p:cNvPr>
          <p:cNvSpPr/>
          <p:nvPr/>
        </p:nvSpPr>
        <p:spPr>
          <a:xfrm>
            <a:off x="0" y="6435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ROBOTS.TXT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EB7DE234-0993-1395-5D19-981DB389E637}"/>
              </a:ext>
            </a:extLst>
          </p:cNvPr>
          <p:cNvSpPr txBox="1">
            <a:spLocks/>
          </p:cNvSpPr>
          <p:nvPr/>
        </p:nvSpPr>
        <p:spPr>
          <a:xfrm>
            <a:off x="304307" y="1483862"/>
            <a:ext cx="7869875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00" dirty="0">
                <a:solidFill>
                  <a:srgbClr val="303030"/>
                </a:solidFill>
                <a:latin typeface="Poppins" panose="00000500000000000000" pitchFamily="2" charset="0"/>
              </a:rPr>
              <a:t>les 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CF3D5249-457C-C70A-D417-73ADAC5879FB}"/>
              </a:ext>
            </a:extLst>
          </p:cNvPr>
          <p:cNvSpPr txBox="1">
            <a:spLocks/>
          </p:cNvSpPr>
          <p:nvPr/>
        </p:nvSpPr>
        <p:spPr>
          <a:xfrm>
            <a:off x="304307" y="1492942"/>
            <a:ext cx="11444350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1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523B1DDF-203C-4D09-A0EF-C9749B02EDB5}"/>
              </a:ext>
            </a:extLst>
          </p:cNvPr>
          <p:cNvSpPr txBox="1">
            <a:spLocks/>
          </p:cNvSpPr>
          <p:nvPr/>
        </p:nvSpPr>
        <p:spPr>
          <a:xfrm>
            <a:off x="155119" y="1506241"/>
            <a:ext cx="11742726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ce fichier permet de dire aux robots de Google quelles pages crawler ou ignorer.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10DAE2D-D7B7-51CC-0858-AD7E2F667624}"/>
              </a:ext>
            </a:extLst>
          </p:cNvPr>
          <p:cNvSpPr txBox="1">
            <a:spLocks/>
          </p:cNvSpPr>
          <p:nvPr/>
        </p:nvSpPr>
        <p:spPr>
          <a:xfrm>
            <a:off x="155119" y="4244954"/>
            <a:ext cx="6979972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sur WordPress et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Shopify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, le fichier est déjà créé pour vous.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il n’est pas obligatoire mais vivement recommandé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il est également conseiller de rajouter l’URL du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sitemap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à la fin du fichier robots.txt</a:t>
            </a:r>
          </a:p>
          <a:p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pic>
        <p:nvPicPr>
          <p:cNvPr id="11" name="Picture 4" descr="Le guide du robots.txt | Agence 90">
            <a:extLst>
              <a:ext uri="{FF2B5EF4-FFF2-40B4-BE49-F238E27FC236}">
                <a16:creationId xmlns:a16="http://schemas.microsoft.com/office/drawing/2014/main" id="{EF21088C-76F4-CA96-4F52-D7BE748328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E5F3FF"/>
              </a:clrFrom>
              <a:clrTo>
                <a:srgbClr val="E5F3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5558" y="1580687"/>
            <a:ext cx="7052473" cy="5328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09652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77B545-5F50-BDB4-49D9-888288216769}"/>
              </a:ext>
            </a:extLst>
          </p:cNvPr>
          <p:cNvSpPr/>
          <p:nvPr/>
        </p:nvSpPr>
        <p:spPr>
          <a:xfrm>
            <a:off x="0" y="6435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ROBOTS.TXT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EB7DE234-0993-1395-5D19-981DB389E637}"/>
              </a:ext>
            </a:extLst>
          </p:cNvPr>
          <p:cNvSpPr txBox="1">
            <a:spLocks/>
          </p:cNvSpPr>
          <p:nvPr/>
        </p:nvSpPr>
        <p:spPr>
          <a:xfrm>
            <a:off x="304307" y="1483862"/>
            <a:ext cx="7869875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00" dirty="0">
                <a:solidFill>
                  <a:srgbClr val="303030"/>
                </a:solidFill>
                <a:latin typeface="Poppins" panose="00000500000000000000" pitchFamily="2" charset="0"/>
              </a:rPr>
              <a:t>les 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CF3D5249-457C-C70A-D417-73ADAC5879FB}"/>
              </a:ext>
            </a:extLst>
          </p:cNvPr>
          <p:cNvSpPr txBox="1">
            <a:spLocks/>
          </p:cNvSpPr>
          <p:nvPr/>
        </p:nvSpPr>
        <p:spPr>
          <a:xfrm>
            <a:off x="304307" y="1492942"/>
            <a:ext cx="11444350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1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523B1DDF-203C-4D09-A0EF-C9749B02EDB5}"/>
              </a:ext>
            </a:extLst>
          </p:cNvPr>
          <p:cNvSpPr txBox="1">
            <a:spLocks/>
          </p:cNvSpPr>
          <p:nvPr/>
        </p:nvSpPr>
        <p:spPr>
          <a:xfrm>
            <a:off x="155119" y="1506241"/>
            <a:ext cx="11742726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ce fichier permet de dire aux robots de Google quelles pages crawler ou ignorer.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10DAE2D-D7B7-51CC-0858-AD7E2F667624}"/>
              </a:ext>
            </a:extLst>
          </p:cNvPr>
          <p:cNvSpPr txBox="1">
            <a:spLocks/>
          </p:cNvSpPr>
          <p:nvPr/>
        </p:nvSpPr>
        <p:spPr>
          <a:xfrm>
            <a:off x="155119" y="2565495"/>
            <a:ext cx="11222675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sur WordPress et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Shopify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, le fichier est déjà créé pour vous.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il n’est pas obligatoire mais vivement recommandé </a:t>
            </a:r>
          </a:p>
        </p:txBody>
      </p:sp>
      <p:pic>
        <p:nvPicPr>
          <p:cNvPr id="5" name="Picture 2" descr="robots.txt File - GeeksforGeeks">
            <a:extLst>
              <a:ext uri="{FF2B5EF4-FFF2-40B4-BE49-F238E27FC236}">
                <a16:creationId xmlns:a16="http://schemas.microsoft.com/office/drawing/2014/main" id="{7B2E6E0D-B488-4B8E-1219-E0572197B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9137" y="2464989"/>
            <a:ext cx="5590743" cy="2894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D5412519-8533-B38D-33A6-8DBA855BA05A}"/>
              </a:ext>
            </a:extLst>
          </p:cNvPr>
          <p:cNvSpPr txBox="1">
            <a:spLocks/>
          </p:cNvSpPr>
          <p:nvPr/>
        </p:nvSpPr>
        <p:spPr>
          <a:xfrm>
            <a:off x="380261" y="3218582"/>
            <a:ext cx="3014362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exemple 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51A1D1CD-4598-BB99-2CB2-A86E7A5B6AF3}"/>
              </a:ext>
            </a:extLst>
          </p:cNvPr>
          <p:cNvSpPr txBox="1">
            <a:spLocks/>
          </p:cNvSpPr>
          <p:nvPr/>
        </p:nvSpPr>
        <p:spPr>
          <a:xfrm>
            <a:off x="214006" y="4806100"/>
            <a:ext cx="5391140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bloquer l’accès à des pages qui font perdre du jus SEO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bloquer l’accès à un contenu sensible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8816B81-78BE-C2F8-0967-307C0A08AAB5}"/>
              </a:ext>
            </a:extLst>
          </p:cNvPr>
          <p:cNvSpPr txBox="1"/>
          <p:nvPr/>
        </p:nvSpPr>
        <p:spPr>
          <a:xfrm>
            <a:off x="138052" y="6116211"/>
            <a:ext cx="61375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800" i="1" dirty="0">
                <a:solidFill>
                  <a:srgbClr val="303030"/>
                </a:solidFill>
                <a:latin typeface="Poppins" panose="00000500000000000000" pitchFamily="2" charset="0"/>
              </a:rPr>
              <a:t>pour consulter le fichier robots d’un site il suffit d’ajouter « </a:t>
            </a:r>
            <a:r>
              <a:rPr lang="fr-FR" i="1" dirty="0">
                <a:solidFill>
                  <a:srgbClr val="303030"/>
                </a:solidFill>
                <a:latin typeface="Poppins" panose="00000500000000000000" pitchFamily="2" charset="0"/>
              </a:rPr>
              <a:t>robots</a:t>
            </a:r>
            <a:r>
              <a:rPr lang="fr-FR" sz="1800" i="1" dirty="0">
                <a:solidFill>
                  <a:srgbClr val="303030"/>
                </a:solidFill>
                <a:latin typeface="Poppins" panose="00000500000000000000" pitchFamily="2" charset="0"/>
              </a:rPr>
              <a:t>.txt » à la fin de son URL.</a:t>
            </a:r>
          </a:p>
        </p:txBody>
      </p:sp>
    </p:spTree>
    <p:extLst>
      <p:ext uri="{BB962C8B-B14F-4D97-AF65-F5344CB8AC3E}">
        <p14:creationId xmlns:p14="http://schemas.microsoft.com/office/powerpoint/2010/main" val="2898704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77B545-5F50-BDB4-49D9-8882882167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COMMENT LIRE LE FICHIER ROBOTS.TXT ?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EB7DE234-0993-1395-5D19-981DB389E637}"/>
              </a:ext>
            </a:extLst>
          </p:cNvPr>
          <p:cNvSpPr txBox="1">
            <a:spLocks/>
          </p:cNvSpPr>
          <p:nvPr/>
        </p:nvSpPr>
        <p:spPr>
          <a:xfrm>
            <a:off x="304307" y="1483862"/>
            <a:ext cx="7869875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00" dirty="0">
                <a:solidFill>
                  <a:srgbClr val="303030"/>
                </a:solidFill>
                <a:latin typeface="Poppins" panose="00000500000000000000" pitchFamily="2" charset="0"/>
              </a:rPr>
              <a:t>les 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CF3D5249-457C-C70A-D417-73ADAC5879FB}"/>
              </a:ext>
            </a:extLst>
          </p:cNvPr>
          <p:cNvSpPr txBox="1">
            <a:spLocks/>
          </p:cNvSpPr>
          <p:nvPr/>
        </p:nvSpPr>
        <p:spPr>
          <a:xfrm>
            <a:off x="304307" y="1492942"/>
            <a:ext cx="11444350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1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AF568AB1-51BE-8B82-03A6-66910C1D2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0" y="2294497"/>
            <a:ext cx="12317439" cy="3388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5831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77B545-5F50-BDB4-49D9-888288216769}"/>
              </a:ext>
            </a:extLst>
          </p:cNvPr>
          <p:cNvSpPr/>
          <p:nvPr/>
        </p:nvSpPr>
        <p:spPr>
          <a:xfrm>
            <a:off x="0" y="6435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disallow</a:t>
            </a:r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ou no index ?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EB7DE234-0993-1395-5D19-981DB389E637}"/>
              </a:ext>
            </a:extLst>
          </p:cNvPr>
          <p:cNvSpPr txBox="1">
            <a:spLocks/>
          </p:cNvSpPr>
          <p:nvPr/>
        </p:nvSpPr>
        <p:spPr>
          <a:xfrm>
            <a:off x="304307" y="1483862"/>
            <a:ext cx="7869875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00" dirty="0">
                <a:solidFill>
                  <a:srgbClr val="303030"/>
                </a:solidFill>
                <a:latin typeface="Poppins" panose="00000500000000000000" pitchFamily="2" charset="0"/>
              </a:rPr>
              <a:t>les 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CF3D5249-457C-C70A-D417-73ADAC5879FB}"/>
              </a:ext>
            </a:extLst>
          </p:cNvPr>
          <p:cNvSpPr txBox="1">
            <a:spLocks/>
          </p:cNvSpPr>
          <p:nvPr/>
        </p:nvSpPr>
        <p:spPr>
          <a:xfrm>
            <a:off x="304307" y="1492942"/>
            <a:ext cx="11444350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1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58D829E9-1E25-176B-3878-4C465C16D1D6}"/>
              </a:ext>
            </a:extLst>
          </p:cNvPr>
          <p:cNvSpPr txBox="1">
            <a:spLocks/>
          </p:cNvSpPr>
          <p:nvPr/>
        </p:nvSpPr>
        <p:spPr>
          <a:xfrm>
            <a:off x="110836" y="2364128"/>
            <a:ext cx="11222675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lorsqu’une page est marquée en « </a:t>
            </a:r>
            <a:r>
              <a:rPr lang="fr-FR" sz="2000" i="1" dirty="0" err="1">
                <a:solidFill>
                  <a:srgbClr val="303030"/>
                </a:solidFill>
                <a:latin typeface="Poppins" panose="00000500000000000000" pitchFamily="2" charset="0"/>
              </a:rPr>
              <a:t>Disallow</a:t>
            </a: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 : 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» sur le fichier Robots.txt, celle-ci ne reçoit plus de jus SEO.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si l’on souhaite qu’une page ne soit pas indexée sur la SERP mais reçoive quand même du jus SEO, il faut utiliser le </a:t>
            </a:r>
            <a:r>
              <a:rPr lang="fr-FR" sz="2000" b="1" dirty="0">
                <a:solidFill>
                  <a:srgbClr val="303030"/>
                </a:solidFill>
                <a:latin typeface="Poppins" panose="00000500000000000000" pitchFamily="2" charset="0"/>
              </a:rPr>
              <a:t>no index tag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75ECC12-714B-FC4A-A94F-763CD2444982}"/>
              </a:ext>
            </a:extLst>
          </p:cNvPr>
          <p:cNvSpPr txBox="1"/>
          <p:nvPr/>
        </p:nvSpPr>
        <p:spPr>
          <a:xfrm>
            <a:off x="373070" y="4903393"/>
            <a:ext cx="631867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i="1" dirty="0">
                <a:solidFill>
                  <a:srgbClr val="303030"/>
                </a:solidFill>
                <a:latin typeface="Poppins" panose="00000500000000000000" pitchFamily="2" charset="0"/>
              </a:rPr>
              <a:t>il se peut que l’on ne souhaite pas crawler une page qui reçoit du jus de lien externes.</a:t>
            </a:r>
          </a:p>
          <a:p>
            <a:endParaRPr lang="fr-FR" i="1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r>
              <a:rPr lang="fr-FR" i="1" dirty="0">
                <a:solidFill>
                  <a:srgbClr val="303030"/>
                </a:solidFill>
                <a:latin typeface="Poppins" panose="00000500000000000000" pitchFamily="2" charset="0"/>
              </a:rPr>
              <a:t>il serait dommage de lui attribuer un « </a:t>
            </a:r>
            <a:r>
              <a:rPr lang="fr-FR" i="1" dirty="0" err="1">
                <a:solidFill>
                  <a:srgbClr val="303030"/>
                </a:solidFill>
                <a:latin typeface="Poppins" panose="00000500000000000000" pitchFamily="2" charset="0"/>
              </a:rPr>
              <a:t>Disallow</a:t>
            </a:r>
            <a:r>
              <a:rPr lang="fr-FR" i="1" dirty="0">
                <a:solidFill>
                  <a:srgbClr val="303030"/>
                </a:solidFill>
                <a:latin typeface="Poppins" panose="00000500000000000000" pitchFamily="2" charset="0"/>
              </a:rPr>
              <a:t> » sur le fichier robots.txt et perdre le jus SEO qu’elle renvoi vers les autres pages.</a:t>
            </a:r>
            <a:endParaRPr lang="fr-FR" sz="1800" i="1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15" name="Titre 1">
            <a:extLst>
              <a:ext uri="{FF2B5EF4-FFF2-40B4-BE49-F238E27FC236}">
                <a16:creationId xmlns:a16="http://schemas.microsoft.com/office/drawing/2014/main" id="{D15673B2-D37D-2424-9FFE-F55A0C9414AB}"/>
              </a:ext>
            </a:extLst>
          </p:cNvPr>
          <p:cNvSpPr txBox="1">
            <a:spLocks/>
          </p:cNvSpPr>
          <p:nvPr/>
        </p:nvSpPr>
        <p:spPr>
          <a:xfrm>
            <a:off x="304307" y="3871728"/>
            <a:ext cx="4586348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pourquoi faire ça ? </a:t>
            </a:r>
          </a:p>
        </p:txBody>
      </p:sp>
      <p:pic>
        <p:nvPicPr>
          <p:cNvPr id="2050" name="Picture 2" descr="Noindex Attribute - What Is It? Definition - Delante SEO/SEM Glossary">
            <a:extLst>
              <a:ext uri="{FF2B5EF4-FFF2-40B4-BE49-F238E27FC236}">
                <a16:creationId xmlns:a16="http://schemas.microsoft.com/office/drawing/2014/main" id="{D32C52D3-B934-EE4C-897C-F136D6C0F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527" y="3739110"/>
            <a:ext cx="3657983" cy="2339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0029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77B545-5F50-BDB4-49D9-888288216769}"/>
              </a:ext>
            </a:extLst>
          </p:cNvPr>
          <p:cNvSpPr/>
          <p:nvPr/>
        </p:nvSpPr>
        <p:spPr>
          <a:xfrm>
            <a:off x="0" y="6435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no index tag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EB7DE234-0993-1395-5D19-981DB389E637}"/>
              </a:ext>
            </a:extLst>
          </p:cNvPr>
          <p:cNvSpPr txBox="1">
            <a:spLocks/>
          </p:cNvSpPr>
          <p:nvPr/>
        </p:nvSpPr>
        <p:spPr>
          <a:xfrm>
            <a:off x="304307" y="1483862"/>
            <a:ext cx="7869875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00" dirty="0">
                <a:solidFill>
                  <a:srgbClr val="303030"/>
                </a:solidFill>
                <a:latin typeface="Poppins" panose="00000500000000000000" pitchFamily="2" charset="0"/>
              </a:rPr>
              <a:t>les 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CF3D5249-457C-C70A-D417-73ADAC5879FB}"/>
              </a:ext>
            </a:extLst>
          </p:cNvPr>
          <p:cNvSpPr txBox="1">
            <a:spLocks/>
          </p:cNvSpPr>
          <p:nvPr/>
        </p:nvSpPr>
        <p:spPr>
          <a:xfrm>
            <a:off x="304307" y="1492942"/>
            <a:ext cx="11444350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1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10DAE2D-D7B7-51CC-0858-AD7E2F667624}"/>
              </a:ext>
            </a:extLst>
          </p:cNvPr>
          <p:cNvSpPr txBox="1">
            <a:spLocks/>
          </p:cNvSpPr>
          <p:nvPr/>
        </p:nvSpPr>
        <p:spPr>
          <a:xfrm>
            <a:off x="138052" y="3028000"/>
            <a:ext cx="11222675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la balise « </a:t>
            </a:r>
            <a:r>
              <a:rPr lang="fr-FR" sz="2000" i="1" dirty="0" err="1">
                <a:solidFill>
                  <a:srgbClr val="303030"/>
                </a:solidFill>
                <a:latin typeface="Poppins" panose="00000500000000000000" pitchFamily="2" charset="0"/>
              </a:rPr>
              <a:t>noindex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» permet de dire à Google de ne pas indexer une page mais de la laisser transmettre le jus SEO qu’elle reçoit au reste du site.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chose qui n’est pas possible si la page est « </a:t>
            </a:r>
            <a:r>
              <a:rPr lang="fr-FR" sz="2000" i="1" dirty="0" err="1">
                <a:solidFill>
                  <a:srgbClr val="303030"/>
                </a:solidFill>
                <a:latin typeface="Poppins" panose="00000500000000000000" pitchFamily="2" charset="0"/>
              </a:rPr>
              <a:t>Disallow</a:t>
            </a: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: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 » sur le fichier robots.txt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pour réaliser cette opération, il faut insérer le code 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&lt;META NAME=”robots” CONTENT=”</a:t>
            </a:r>
            <a:r>
              <a:rPr lang="fr-FR" sz="2000" i="1" dirty="0" err="1">
                <a:solidFill>
                  <a:srgbClr val="303030"/>
                </a:solidFill>
                <a:latin typeface="Poppins" panose="00000500000000000000" pitchFamily="2" charset="0"/>
              </a:rPr>
              <a:t>noindex</a:t>
            </a: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”&gt; 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dans le header de la page en question </a:t>
            </a:r>
          </a:p>
        </p:txBody>
      </p:sp>
      <p:pic>
        <p:nvPicPr>
          <p:cNvPr id="2050" name="Picture 2" descr="Définition de NoIndex - Définitions SEO">
            <a:extLst>
              <a:ext uri="{FF2B5EF4-FFF2-40B4-BE49-F238E27FC236}">
                <a16:creationId xmlns:a16="http://schemas.microsoft.com/office/drawing/2014/main" id="{81E2AE26-4641-A109-5EAF-19F3904381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8618" y="3694461"/>
            <a:ext cx="5583382" cy="3179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24908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77B545-5F50-BDB4-49D9-888288216769}"/>
              </a:ext>
            </a:extLst>
          </p:cNvPr>
          <p:cNvSpPr/>
          <p:nvPr/>
        </p:nvSpPr>
        <p:spPr>
          <a:xfrm>
            <a:off x="0" y="6435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meta</a:t>
            </a:r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nofollow</a:t>
            </a:r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et rel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nofollow</a:t>
            </a: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EB7DE234-0993-1395-5D19-981DB389E637}"/>
              </a:ext>
            </a:extLst>
          </p:cNvPr>
          <p:cNvSpPr txBox="1">
            <a:spLocks/>
          </p:cNvSpPr>
          <p:nvPr/>
        </p:nvSpPr>
        <p:spPr>
          <a:xfrm>
            <a:off x="304307" y="1483862"/>
            <a:ext cx="7869875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00" dirty="0">
                <a:solidFill>
                  <a:srgbClr val="303030"/>
                </a:solidFill>
                <a:latin typeface="Poppins" panose="00000500000000000000" pitchFamily="2" charset="0"/>
              </a:rPr>
              <a:t>les 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CF3D5249-457C-C70A-D417-73ADAC5879FB}"/>
              </a:ext>
            </a:extLst>
          </p:cNvPr>
          <p:cNvSpPr txBox="1">
            <a:spLocks/>
          </p:cNvSpPr>
          <p:nvPr/>
        </p:nvSpPr>
        <p:spPr>
          <a:xfrm>
            <a:off x="304307" y="1492942"/>
            <a:ext cx="11444350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1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10DAE2D-D7B7-51CC-0858-AD7E2F667624}"/>
              </a:ext>
            </a:extLst>
          </p:cNvPr>
          <p:cNvSpPr txBox="1">
            <a:spLocks/>
          </p:cNvSpPr>
          <p:nvPr/>
        </p:nvSpPr>
        <p:spPr>
          <a:xfrm>
            <a:off x="415144" y="2311059"/>
            <a:ext cx="11222675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la balise « 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nofollow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 » permet de bloquer un ou de plusieurs liens externes</a:t>
            </a:r>
          </a:p>
          <a:p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il existe 2 types de balises </a:t>
            </a:r>
            <a:r>
              <a:rPr lang="fr-FR" sz="2000" i="1" dirty="0" err="1">
                <a:solidFill>
                  <a:srgbClr val="303030"/>
                </a:solidFill>
                <a:latin typeface="Poppins" panose="00000500000000000000" pitchFamily="2" charset="0"/>
              </a:rPr>
              <a:t>nofollow</a:t>
            </a: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 : </a:t>
            </a:r>
          </a:p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1. Meta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nofollow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: dit à Google de ne suivre AUCUN lien sur la page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50CD9A47-1076-6056-E214-46218A158D32}"/>
              </a:ext>
            </a:extLst>
          </p:cNvPr>
          <p:cNvSpPr txBox="1">
            <a:spLocks/>
          </p:cNvSpPr>
          <p:nvPr/>
        </p:nvSpPr>
        <p:spPr>
          <a:xfrm>
            <a:off x="484662" y="3257461"/>
            <a:ext cx="11222675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le code à </a:t>
            </a:r>
            <a:r>
              <a:rPr lang="fr-FR" sz="2000" b="1" dirty="0">
                <a:solidFill>
                  <a:srgbClr val="303030"/>
                </a:solidFill>
                <a:latin typeface="Poppins" panose="00000500000000000000" pitchFamily="2" charset="0"/>
              </a:rPr>
              <a:t>insérer dans le header 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de la page pour la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meta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</a:t>
            </a:r>
            <a:r>
              <a:rPr lang="fr-FR" sz="2000" i="1" dirty="0" err="1">
                <a:solidFill>
                  <a:srgbClr val="303030"/>
                </a:solidFill>
                <a:latin typeface="Poppins" panose="00000500000000000000" pitchFamily="2" charset="0"/>
              </a:rPr>
              <a:t>nofollow</a:t>
            </a: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 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: </a:t>
            </a:r>
          </a:p>
          <a:p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&lt;META NAME=”robots” CONTENT=”</a:t>
            </a:r>
            <a:r>
              <a:rPr lang="fr-FR" sz="2000" i="1" dirty="0" err="1">
                <a:solidFill>
                  <a:srgbClr val="303030"/>
                </a:solidFill>
                <a:latin typeface="Poppins" panose="00000500000000000000" pitchFamily="2" charset="0"/>
              </a:rPr>
              <a:t>nofollow</a:t>
            </a: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”&gt;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B07E463E-4D4A-BAD0-0312-EB4D0BA43859}"/>
              </a:ext>
            </a:extLst>
          </p:cNvPr>
          <p:cNvSpPr txBox="1">
            <a:spLocks/>
          </p:cNvSpPr>
          <p:nvPr/>
        </p:nvSpPr>
        <p:spPr>
          <a:xfrm>
            <a:off x="304307" y="3991312"/>
            <a:ext cx="4586348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pourquoi faire ça ? 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87B76719-B005-29A7-5A59-F9664F1DA7CB}"/>
              </a:ext>
            </a:extLst>
          </p:cNvPr>
          <p:cNvSpPr txBox="1">
            <a:spLocks/>
          </p:cNvSpPr>
          <p:nvPr/>
        </p:nvSpPr>
        <p:spPr>
          <a:xfrm>
            <a:off x="415144" y="5206190"/>
            <a:ext cx="11222675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lorsqu’une page dispose de plusieurs liens en commentaires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un texte qui contient de l’affiliation</a:t>
            </a:r>
          </a:p>
        </p:txBody>
      </p:sp>
    </p:spTree>
    <p:extLst>
      <p:ext uri="{BB962C8B-B14F-4D97-AF65-F5344CB8AC3E}">
        <p14:creationId xmlns:p14="http://schemas.microsoft.com/office/powerpoint/2010/main" val="4117984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77B545-5F50-BDB4-49D9-888288216769}"/>
              </a:ext>
            </a:extLst>
          </p:cNvPr>
          <p:cNvSpPr/>
          <p:nvPr/>
        </p:nvSpPr>
        <p:spPr>
          <a:xfrm>
            <a:off x="0" y="6435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meta</a:t>
            </a:r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nofollow</a:t>
            </a:r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et rel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nofollow</a:t>
            </a: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EB7DE234-0993-1395-5D19-981DB389E637}"/>
              </a:ext>
            </a:extLst>
          </p:cNvPr>
          <p:cNvSpPr txBox="1">
            <a:spLocks/>
          </p:cNvSpPr>
          <p:nvPr/>
        </p:nvSpPr>
        <p:spPr>
          <a:xfrm>
            <a:off x="304307" y="1483862"/>
            <a:ext cx="7869875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00" dirty="0">
                <a:solidFill>
                  <a:srgbClr val="303030"/>
                </a:solidFill>
                <a:latin typeface="Poppins" panose="00000500000000000000" pitchFamily="2" charset="0"/>
              </a:rPr>
              <a:t>les 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CF3D5249-457C-C70A-D417-73ADAC5879FB}"/>
              </a:ext>
            </a:extLst>
          </p:cNvPr>
          <p:cNvSpPr txBox="1">
            <a:spLocks/>
          </p:cNvSpPr>
          <p:nvPr/>
        </p:nvSpPr>
        <p:spPr>
          <a:xfrm>
            <a:off x="304307" y="1492942"/>
            <a:ext cx="11444350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1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10DAE2D-D7B7-51CC-0858-AD7E2F667624}"/>
              </a:ext>
            </a:extLst>
          </p:cNvPr>
          <p:cNvSpPr txBox="1">
            <a:spLocks/>
          </p:cNvSpPr>
          <p:nvPr/>
        </p:nvSpPr>
        <p:spPr>
          <a:xfrm>
            <a:off x="415143" y="1463547"/>
            <a:ext cx="11222675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Rel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nofollow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: dit à Google de ne pas suivre un lien en particulier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50CD9A47-1076-6056-E214-46218A158D32}"/>
              </a:ext>
            </a:extLst>
          </p:cNvPr>
          <p:cNvSpPr txBox="1">
            <a:spLocks/>
          </p:cNvSpPr>
          <p:nvPr/>
        </p:nvSpPr>
        <p:spPr>
          <a:xfrm>
            <a:off x="304307" y="2196020"/>
            <a:ext cx="11222675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le code à </a:t>
            </a:r>
            <a:r>
              <a:rPr lang="fr-FR" sz="2000" b="1" dirty="0">
                <a:solidFill>
                  <a:srgbClr val="303030"/>
                </a:solidFill>
                <a:latin typeface="Poppins" panose="00000500000000000000" pitchFamily="2" charset="0"/>
              </a:rPr>
              <a:t>insérer dans le  lien 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de la page pour la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meta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</a:t>
            </a:r>
            <a:r>
              <a:rPr lang="fr-FR" sz="2000" i="1" dirty="0" err="1">
                <a:solidFill>
                  <a:srgbClr val="303030"/>
                </a:solidFill>
                <a:latin typeface="Poppins" panose="00000500000000000000" pitchFamily="2" charset="0"/>
              </a:rPr>
              <a:t>nofollow</a:t>
            </a: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 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: </a:t>
            </a:r>
          </a:p>
          <a:p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&lt;a href=”https://lienquifautpassuivre.com” rel=”</a:t>
            </a:r>
            <a:r>
              <a:rPr lang="fr-FR" sz="2000" i="1" dirty="0" err="1">
                <a:solidFill>
                  <a:srgbClr val="303030"/>
                </a:solidFill>
                <a:latin typeface="Poppins" panose="00000500000000000000" pitchFamily="2" charset="0"/>
              </a:rPr>
              <a:t>nofollow</a:t>
            </a: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”&gt;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blue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text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&lt;/a&gt;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87B76719-B005-29A7-5A59-F9664F1DA7CB}"/>
              </a:ext>
            </a:extLst>
          </p:cNvPr>
          <p:cNvSpPr txBox="1">
            <a:spLocks/>
          </p:cNvSpPr>
          <p:nvPr/>
        </p:nvSpPr>
        <p:spPr>
          <a:xfrm>
            <a:off x="304307" y="4194029"/>
            <a:ext cx="11222675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lorsqu’une page dispose de plusieurs liens en commentaires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un texte qui contient de l’affiliation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15E7AE54-E9D5-713F-5D1A-6C3A0C2A0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0" y="3269673"/>
            <a:ext cx="12197910" cy="357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2983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77B545-5F50-BDB4-49D9-8882882167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Améliorer la vitesse du site 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EB7DE234-0993-1395-5D19-981DB389E637}"/>
              </a:ext>
            </a:extLst>
          </p:cNvPr>
          <p:cNvSpPr txBox="1">
            <a:spLocks/>
          </p:cNvSpPr>
          <p:nvPr/>
        </p:nvSpPr>
        <p:spPr>
          <a:xfrm>
            <a:off x="304307" y="1483862"/>
            <a:ext cx="7869875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00" dirty="0">
                <a:solidFill>
                  <a:srgbClr val="303030"/>
                </a:solidFill>
                <a:latin typeface="Poppins" panose="00000500000000000000" pitchFamily="2" charset="0"/>
              </a:rPr>
              <a:t>les 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CF3D5249-457C-C70A-D417-73ADAC5879FB}"/>
              </a:ext>
            </a:extLst>
          </p:cNvPr>
          <p:cNvSpPr txBox="1">
            <a:spLocks/>
          </p:cNvSpPr>
          <p:nvPr/>
        </p:nvSpPr>
        <p:spPr>
          <a:xfrm>
            <a:off x="304307" y="1492942"/>
            <a:ext cx="11444350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1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10DAE2D-D7B7-51CC-0858-AD7E2F667624}"/>
              </a:ext>
            </a:extLst>
          </p:cNvPr>
          <p:cNvSpPr txBox="1">
            <a:spLocks/>
          </p:cNvSpPr>
          <p:nvPr/>
        </p:nvSpPr>
        <p:spPr>
          <a:xfrm>
            <a:off x="304307" y="3059370"/>
            <a:ext cx="10275500" cy="75213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optimiser les images : format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webp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, compression à 100ko maximum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mettre les images à l’échelle : redimensionner l’image à la taille qui est utilisée sur votre page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browser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caching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: permet de sauvegarder une version de votre site de façon à ce que l‘utilisateur y accède plus rapidement lorsqu’il revient sur votre site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minifier le javascript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css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: optimise le code en supprimant les espace et les commentaires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concaténer (regrouper) les fichiers CSS, qui sont nombreux en général.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90A10757-E64D-35AD-D0E2-88C875F743E9}"/>
              </a:ext>
            </a:extLst>
          </p:cNvPr>
          <p:cNvSpPr txBox="1">
            <a:spLocks/>
          </p:cNvSpPr>
          <p:nvPr/>
        </p:nvSpPr>
        <p:spPr>
          <a:xfrm>
            <a:off x="304307" y="4627411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utilisez des plugins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51FA515-D62F-AA42-4FA5-4DDC4A839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039" y="5822369"/>
            <a:ext cx="4543425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2653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77B545-5F50-BDB4-49D9-888288216769}"/>
              </a:ext>
            </a:extLst>
          </p:cNvPr>
          <p:cNvSpPr/>
          <p:nvPr/>
        </p:nvSpPr>
        <p:spPr>
          <a:xfrm>
            <a:off x="0" y="-167864"/>
            <a:ext cx="12192000" cy="70258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les serveurs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cdn</a:t>
            </a: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EB7DE234-0993-1395-5D19-981DB389E637}"/>
              </a:ext>
            </a:extLst>
          </p:cNvPr>
          <p:cNvSpPr txBox="1">
            <a:spLocks/>
          </p:cNvSpPr>
          <p:nvPr/>
        </p:nvSpPr>
        <p:spPr>
          <a:xfrm>
            <a:off x="304307" y="1483862"/>
            <a:ext cx="7869875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00" dirty="0">
                <a:solidFill>
                  <a:srgbClr val="303030"/>
                </a:solidFill>
                <a:latin typeface="Poppins" panose="00000500000000000000" pitchFamily="2" charset="0"/>
              </a:rPr>
              <a:t>les 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CF3D5249-457C-C70A-D417-73ADAC5879FB}"/>
              </a:ext>
            </a:extLst>
          </p:cNvPr>
          <p:cNvSpPr txBox="1">
            <a:spLocks/>
          </p:cNvSpPr>
          <p:nvPr/>
        </p:nvSpPr>
        <p:spPr>
          <a:xfrm>
            <a:off x="304307" y="1492942"/>
            <a:ext cx="11444350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1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10DAE2D-D7B7-51CC-0858-AD7E2F667624}"/>
              </a:ext>
            </a:extLst>
          </p:cNvPr>
          <p:cNvSpPr txBox="1">
            <a:spLocks/>
          </p:cNvSpPr>
          <p:nvPr/>
        </p:nvSpPr>
        <p:spPr>
          <a:xfrm>
            <a:off x="0" y="1329480"/>
            <a:ext cx="10275500" cy="75213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les serveurs CDN permettent de déployer une version de votre site sur différents serveurs positionnés stratégiquement dans le monde. </a:t>
            </a:r>
          </a:p>
        </p:txBody>
      </p:sp>
      <p:pic>
        <p:nvPicPr>
          <p:cNvPr id="4098" name="Picture 2" descr="Know About CDN, its Benefits &amp; working of CDN">
            <a:extLst>
              <a:ext uri="{FF2B5EF4-FFF2-40B4-BE49-F238E27FC236}">
                <a16:creationId xmlns:a16="http://schemas.microsoft.com/office/drawing/2014/main" id="{CA99C882-C8D9-371A-8BB0-067A886B52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7964" y="2436553"/>
            <a:ext cx="6664036" cy="4430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163DC488-1B14-3F65-81A7-80528A3C8645}"/>
              </a:ext>
            </a:extLst>
          </p:cNvPr>
          <p:cNvSpPr txBox="1">
            <a:spLocks/>
          </p:cNvSpPr>
          <p:nvPr/>
        </p:nvSpPr>
        <p:spPr>
          <a:xfrm>
            <a:off x="233241" y="3394928"/>
            <a:ext cx="4904509" cy="75213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permet de gagner beaucoup de vitesse</a:t>
            </a:r>
          </a:p>
        </p:txBody>
      </p:sp>
    </p:spTree>
    <p:extLst>
      <p:ext uri="{BB962C8B-B14F-4D97-AF65-F5344CB8AC3E}">
        <p14:creationId xmlns:p14="http://schemas.microsoft.com/office/powerpoint/2010/main" val="33438009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77B545-5F50-BDB4-49D9-888288216769}"/>
              </a:ext>
            </a:extLst>
          </p:cNvPr>
          <p:cNvSpPr/>
          <p:nvPr/>
        </p:nvSpPr>
        <p:spPr>
          <a:xfrm>
            <a:off x="0" y="6435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structured</a:t>
            </a:r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data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EB7DE234-0993-1395-5D19-981DB389E637}"/>
              </a:ext>
            </a:extLst>
          </p:cNvPr>
          <p:cNvSpPr txBox="1">
            <a:spLocks/>
          </p:cNvSpPr>
          <p:nvPr/>
        </p:nvSpPr>
        <p:spPr>
          <a:xfrm>
            <a:off x="304307" y="1483862"/>
            <a:ext cx="7869875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00" dirty="0">
                <a:solidFill>
                  <a:srgbClr val="303030"/>
                </a:solidFill>
                <a:latin typeface="Poppins" panose="00000500000000000000" pitchFamily="2" charset="0"/>
              </a:rPr>
              <a:t>les 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CF3D5249-457C-C70A-D417-73ADAC5879FB}"/>
              </a:ext>
            </a:extLst>
          </p:cNvPr>
          <p:cNvSpPr txBox="1">
            <a:spLocks/>
          </p:cNvSpPr>
          <p:nvPr/>
        </p:nvSpPr>
        <p:spPr>
          <a:xfrm>
            <a:off x="304307" y="1492942"/>
            <a:ext cx="11444350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1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10DAE2D-D7B7-51CC-0858-AD7E2F667624}"/>
              </a:ext>
            </a:extLst>
          </p:cNvPr>
          <p:cNvSpPr txBox="1">
            <a:spLocks/>
          </p:cNvSpPr>
          <p:nvPr/>
        </p:nvSpPr>
        <p:spPr>
          <a:xfrm>
            <a:off x="304308" y="1910478"/>
            <a:ext cx="6243697" cy="75213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la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structured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data sont des éléments de code à insérer pour augmenter les chances que Google présente le lien avec des « </a:t>
            </a:r>
            <a:r>
              <a:rPr lang="fr-FR" sz="2000" i="1" dirty="0" err="1">
                <a:solidFill>
                  <a:srgbClr val="303030"/>
                </a:solidFill>
                <a:latin typeface="Poppins" panose="00000500000000000000" pitchFamily="2" charset="0"/>
              </a:rPr>
              <a:t>rich</a:t>
            </a: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 </a:t>
            </a:r>
            <a:r>
              <a:rPr lang="fr-FR" sz="2000" i="1" dirty="0" err="1">
                <a:solidFill>
                  <a:srgbClr val="303030"/>
                </a:solidFill>
                <a:latin typeface="Poppins" panose="00000500000000000000" pitchFamily="2" charset="0"/>
              </a:rPr>
              <a:t>snippets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 »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C5D9A40F-ECBE-10E9-D095-BAE1C1F5F40A}"/>
              </a:ext>
            </a:extLst>
          </p:cNvPr>
          <p:cNvSpPr txBox="1">
            <a:spLocks/>
          </p:cNvSpPr>
          <p:nvPr/>
        </p:nvSpPr>
        <p:spPr>
          <a:xfrm>
            <a:off x="6958572" y="1351297"/>
            <a:ext cx="1607620" cy="5591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exemple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67D59901-B3E3-B4D7-7D82-4F384490B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1348" y="2025735"/>
            <a:ext cx="5200650" cy="4838700"/>
          </a:xfrm>
          <a:prstGeom prst="rect">
            <a:avLst/>
          </a:prstGeom>
        </p:spPr>
      </p:pic>
      <p:pic>
        <p:nvPicPr>
          <p:cNvPr id="13" name="Picture 2" descr="What Are The Benefits Of Rich Snippets?">
            <a:extLst>
              <a:ext uri="{FF2B5EF4-FFF2-40B4-BE49-F238E27FC236}">
                <a16:creationId xmlns:a16="http://schemas.microsoft.com/office/drawing/2014/main" id="{B91C70BA-7541-D60E-B89B-C4E30093E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35015"/>
            <a:ext cx="6067425" cy="323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itre 1">
            <a:extLst>
              <a:ext uri="{FF2B5EF4-FFF2-40B4-BE49-F238E27FC236}">
                <a16:creationId xmlns:a16="http://schemas.microsoft.com/office/drawing/2014/main" id="{6D506AF3-088A-632D-88A0-D6D9BDF0BFAF}"/>
              </a:ext>
            </a:extLst>
          </p:cNvPr>
          <p:cNvSpPr txBox="1">
            <a:spLocks/>
          </p:cNvSpPr>
          <p:nvPr/>
        </p:nvSpPr>
        <p:spPr>
          <a:xfrm>
            <a:off x="373826" y="2966246"/>
            <a:ext cx="6243697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800" i="1" dirty="0">
                <a:solidFill>
                  <a:srgbClr val="303030"/>
                </a:solidFill>
                <a:latin typeface="Poppins" panose="00000500000000000000" pitchFamily="2" charset="0"/>
              </a:rPr>
              <a:t>moins de 10% des sites sur internet utilisent des </a:t>
            </a:r>
            <a:r>
              <a:rPr lang="fr-FR" sz="1800" i="1" dirty="0" err="1">
                <a:solidFill>
                  <a:srgbClr val="303030"/>
                </a:solidFill>
                <a:latin typeface="Poppins" panose="00000500000000000000" pitchFamily="2" charset="0"/>
              </a:rPr>
              <a:t>structured</a:t>
            </a:r>
            <a:r>
              <a:rPr lang="fr-FR" sz="1800" i="1" dirty="0">
                <a:solidFill>
                  <a:srgbClr val="303030"/>
                </a:solidFill>
                <a:latin typeface="Poppins" panose="00000500000000000000" pitchFamily="2" charset="0"/>
              </a:rPr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3481139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77B545-5F50-BDB4-49D9-888288216769}"/>
              </a:ext>
            </a:extLst>
          </p:cNvPr>
          <p:cNvSpPr/>
          <p:nvPr/>
        </p:nvSpPr>
        <p:spPr>
          <a:xfrm>
            <a:off x="0" y="-563409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Utiliser les </a:t>
            </a:r>
            <a:r>
              <a:rPr lang="fr-FR" sz="5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structured</a:t>
            </a:r>
            <a:r>
              <a:rPr lang="fr-FR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data avec schema.org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EB7DE234-0993-1395-5D19-981DB389E637}"/>
              </a:ext>
            </a:extLst>
          </p:cNvPr>
          <p:cNvSpPr txBox="1">
            <a:spLocks/>
          </p:cNvSpPr>
          <p:nvPr/>
        </p:nvSpPr>
        <p:spPr>
          <a:xfrm>
            <a:off x="304307" y="1483862"/>
            <a:ext cx="7869875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00" dirty="0">
                <a:solidFill>
                  <a:srgbClr val="303030"/>
                </a:solidFill>
                <a:latin typeface="Poppins" panose="00000500000000000000" pitchFamily="2" charset="0"/>
              </a:rPr>
              <a:t>les 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CF3D5249-457C-C70A-D417-73ADAC5879FB}"/>
              </a:ext>
            </a:extLst>
          </p:cNvPr>
          <p:cNvSpPr txBox="1">
            <a:spLocks/>
          </p:cNvSpPr>
          <p:nvPr/>
        </p:nvSpPr>
        <p:spPr>
          <a:xfrm>
            <a:off x="304307" y="1492942"/>
            <a:ext cx="11444350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1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10DAE2D-D7B7-51CC-0858-AD7E2F667624}"/>
              </a:ext>
            </a:extLst>
          </p:cNvPr>
          <p:cNvSpPr txBox="1">
            <a:spLocks/>
          </p:cNvSpPr>
          <p:nvPr/>
        </p:nvSpPr>
        <p:spPr>
          <a:xfrm>
            <a:off x="304308" y="1910478"/>
            <a:ext cx="6243697" cy="75213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6D506AF3-088A-632D-88A0-D6D9BDF0BFAF}"/>
              </a:ext>
            </a:extLst>
          </p:cNvPr>
          <p:cNvSpPr txBox="1">
            <a:spLocks/>
          </p:cNvSpPr>
          <p:nvPr/>
        </p:nvSpPr>
        <p:spPr>
          <a:xfrm>
            <a:off x="304308" y="1577269"/>
            <a:ext cx="6243697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800" dirty="0">
                <a:solidFill>
                  <a:srgbClr val="303030"/>
                </a:solidFill>
                <a:latin typeface="Poppins" panose="00000500000000000000" pitchFamily="2" charset="0"/>
              </a:rPr>
              <a:t>1. Schéma de Note/Revue</a:t>
            </a:r>
          </a:p>
        </p:txBody>
      </p:sp>
      <p:pic>
        <p:nvPicPr>
          <p:cNvPr id="3074" name="Picture 2" descr="Schéma de notation et de revue">
            <a:extLst>
              <a:ext uri="{FF2B5EF4-FFF2-40B4-BE49-F238E27FC236}">
                <a16:creationId xmlns:a16="http://schemas.microsoft.com/office/drawing/2014/main" id="{C315C8D6-ACC0-6260-123E-3CC81F721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8543" y="3098440"/>
            <a:ext cx="5924550" cy="147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35855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77B545-5F50-BDB4-49D9-888288216769}"/>
              </a:ext>
            </a:extLst>
          </p:cNvPr>
          <p:cNvSpPr/>
          <p:nvPr/>
        </p:nvSpPr>
        <p:spPr>
          <a:xfrm>
            <a:off x="0" y="-563409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Utiliser les </a:t>
            </a:r>
            <a:r>
              <a:rPr lang="fr-FR" sz="5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structured</a:t>
            </a:r>
            <a:r>
              <a:rPr lang="fr-FR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data avec schema.org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EB7DE234-0993-1395-5D19-981DB389E637}"/>
              </a:ext>
            </a:extLst>
          </p:cNvPr>
          <p:cNvSpPr txBox="1">
            <a:spLocks/>
          </p:cNvSpPr>
          <p:nvPr/>
        </p:nvSpPr>
        <p:spPr>
          <a:xfrm>
            <a:off x="304307" y="1483862"/>
            <a:ext cx="7869875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00" dirty="0">
                <a:solidFill>
                  <a:srgbClr val="303030"/>
                </a:solidFill>
                <a:latin typeface="Poppins" panose="00000500000000000000" pitchFamily="2" charset="0"/>
              </a:rPr>
              <a:t>les 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CF3D5249-457C-C70A-D417-73ADAC5879FB}"/>
              </a:ext>
            </a:extLst>
          </p:cNvPr>
          <p:cNvSpPr txBox="1">
            <a:spLocks/>
          </p:cNvSpPr>
          <p:nvPr/>
        </p:nvSpPr>
        <p:spPr>
          <a:xfrm>
            <a:off x="304307" y="1492942"/>
            <a:ext cx="11444350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1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10DAE2D-D7B7-51CC-0858-AD7E2F667624}"/>
              </a:ext>
            </a:extLst>
          </p:cNvPr>
          <p:cNvSpPr txBox="1">
            <a:spLocks/>
          </p:cNvSpPr>
          <p:nvPr/>
        </p:nvSpPr>
        <p:spPr>
          <a:xfrm>
            <a:off x="304308" y="1910478"/>
            <a:ext cx="6243697" cy="75213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6D506AF3-088A-632D-88A0-D6D9BDF0BFAF}"/>
              </a:ext>
            </a:extLst>
          </p:cNvPr>
          <p:cNvSpPr txBox="1">
            <a:spLocks/>
          </p:cNvSpPr>
          <p:nvPr/>
        </p:nvSpPr>
        <p:spPr>
          <a:xfrm>
            <a:off x="304308" y="1577269"/>
            <a:ext cx="6243697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800" dirty="0">
                <a:solidFill>
                  <a:srgbClr val="303030"/>
                </a:solidFill>
                <a:latin typeface="Poppins" panose="00000500000000000000" pitchFamily="2" charset="0"/>
              </a:rPr>
              <a:t>2. Schéma d’organisation</a:t>
            </a:r>
          </a:p>
        </p:txBody>
      </p:sp>
      <p:pic>
        <p:nvPicPr>
          <p:cNvPr id="4098" name="Picture 2" descr="Page Hostinger optimisée avec le balisage du schéma d'organisation">
            <a:extLst>
              <a:ext uri="{FF2B5EF4-FFF2-40B4-BE49-F238E27FC236}">
                <a16:creationId xmlns:a16="http://schemas.microsoft.com/office/drawing/2014/main" id="{7A42BA01-B386-58EA-0C21-BFBF57C448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2312" y="1798952"/>
            <a:ext cx="4371975" cy="417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07342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77B545-5F50-BDB4-49D9-888288216769}"/>
              </a:ext>
            </a:extLst>
          </p:cNvPr>
          <p:cNvSpPr/>
          <p:nvPr/>
        </p:nvSpPr>
        <p:spPr>
          <a:xfrm>
            <a:off x="0" y="-563409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Utiliser les </a:t>
            </a:r>
            <a:r>
              <a:rPr lang="fr-FR" sz="5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structured</a:t>
            </a:r>
            <a:r>
              <a:rPr lang="fr-FR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data avec schema.org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EB7DE234-0993-1395-5D19-981DB389E637}"/>
              </a:ext>
            </a:extLst>
          </p:cNvPr>
          <p:cNvSpPr txBox="1">
            <a:spLocks/>
          </p:cNvSpPr>
          <p:nvPr/>
        </p:nvSpPr>
        <p:spPr>
          <a:xfrm>
            <a:off x="304307" y="1483862"/>
            <a:ext cx="7869875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00" dirty="0">
                <a:solidFill>
                  <a:srgbClr val="303030"/>
                </a:solidFill>
                <a:latin typeface="Poppins" panose="00000500000000000000" pitchFamily="2" charset="0"/>
              </a:rPr>
              <a:t>les 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CF3D5249-457C-C70A-D417-73ADAC5879FB}"/>
              </a:ext>
            </a:extLst>
          </p:cNvPr>
          <p:cNvSpPr txBox="1">
            <a:spLocks/>
          </p:cNvSpPr>
          <p:nvPr/>
        </p:nvSpPr>
        <p:spPr>
          <a:xfrm>
            <a:off x="304307" y="1492942"/>
            <a:ext cx="11444350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1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10DAE2D-D7B7-51CC-0858-AD7E2F667624}"/>
              </a:ext>
            </a:extLst>
          </p:cNvPr>
          <p:cNvSpPr txBox="1">
            <a:spLocks/>
          </p:cNvSpPr>
          <p:nvPr/>
        </p:nvSpPr>
        <p:spPr>
          <a:xfrm>
            <a:off x="304308" y="1910478"/>
            <a:ext cx="6243697" cy="75213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6D506AF3-088A-632D-88A0-D6D9BDF0BFAF}"/>
              </a:ext>
            </a:extLst>
          </p:cNvPr>
          <p:cNvSpPr txBox="1">
            <a:spLocks/>
          </p:cNvSpPr>
          <p:nvPr/>
        </p:nvSpPr>
        <p:spPr>
          <a:xfrm>
            <a:off x="304308" y="1843176"/>
            <a:ext cx="6243697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800" dirty="0">
                <a:solidFill>
                  <a:srgbClr val="303030"/>
                </a:solidFill>
                <a:latin typeface="Poppins" panose="00000500000000000000" pitchFamily="2" charset="0"/>
              </a:rPr>
              <a:t>3. Balisage du schéma pour les personnes</a:t>
            </a:r>
          </a:p>
        </p:txBody>
      </p:sp>
      <p:pic>
        <p:nvPicPr>
          <p:cNvPr id="5122" name="Picture 2" descr="Le profil de Bill Gates fourni avec le balisage schéma des personnes">
            <a:extLst>
              <a:ext uri="{FF2B5EF4-FFF2-40B4-BE49-F238E27FC236}">
                <a16:creationId xmlns:a16="http://schemas.microsoft.com/office/drawing/2014/main" id="{5EA65C27-8873-A422-13C1-566F17135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5054" y="1798952"/>
            <a:ext cx="2991128" cy="3970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09574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77B545-5F50-BDB4-49D9-888288216769}"/>
              </a:ext>
            </a:extLst>
          </p:cNvPr>
          <p:cNvSpPr/>
          <p:nvPr/>
        </p:nvSpPr>
        <p:spPr>
          <a:xfrm>
            <a:off x="0" y="-563409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Utiliser les </a:t>
            </a:r>
            <a:r>
              <a:rPr lang="fr-FR" sz="5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structured</a:t>
            </a:r>
            <a:r>
              <a:rPr lang="fr-FR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data avec schema.org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EB7DE234-0993-1395-5D19-981DB389E637}"/>
              </a:ext>
            </a:extLst>
          </p:cNvPr>
          <p:cNvSpPr txBox="1">
            <a:spLocks/>
          </p:cNvSpPr>
          <p:nvPr/>
        </p:nvSpPr>
        <p:spPr>
          <a:xfrm>
            <a:off x="304307" y="1483862"/>
            <a:ext cx="7869875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00" dirty="0">
                <a:solidFill>
                  <a:srgbClr val="303030"/>
                </a:solidFill>
                <a:latin typeface="Poppins" panose="00000500000000000000" pitchFamily="2" charset="0"/>
              </a:rPr>
              <a:t>les 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CF3D5249-457C-C70A-D417-73ADAC5879FB}"/>
              </a:ext>
            </a:extLst>
          </p:cNvPr>
          <p:cNvSpPr txBox="1">
            <a:spLocks/>
          </p:cNvSpPr>
          <p:nvPr/>
        </p:nvSpPr>
        <p:spPr>
          <a:xfrm>
            <a:off x="304307" y="1492942"/>
            <a:ext cx="11444350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1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10DAE2D-D7B7-51CC-0858-AD7E2F667624}"/>
              </a:ext>
            </a:extLst>
          </p:cNvPr>
          <p:cNvSpPr txBox="1">
            <a:spLocks/>
          </p:cNvSpPr>
          <p:nvPr/>
        </p:nvSpPr>
        <p:spPr>
          <a:xfrm>
            <a:off x="304308" y="1910478"/>
            <a:ext cx="6243697" cy="75213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6D506AF3-088A-632D-88A0-D6D9BDF0BFAF}"/>
              </a:ext>
            </a:extLst>
          </p:cNvPr>
          <p:cNvSpPr txBox="1">
            <a:spLocks/>
          </p:cNvSpPr>
          <p:nvPr/>
        </p:nvSpPr>
        <p:spPr>
          <a:xfrm>
            <a:off x="304308" y="1843176"/>
            <a:ext cx="6243697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800" dirty="0">
                <a:solidFill>
                  <a:srgbClr val="303030"/>
                </a:solidFill>
                <a:latin typeface="Poppins" panose="00000500000000000000" pitchFamily="2" charset="0"/>
              </a:rPr>
              <a:t>4. Schéma vidéo</a:t>
            </a:r>
          </a:p>
        </p:txBody>
      </p:sp>
      <p:pic>
        <p:nvPicPr>
          <p:cNvPr id="5124" name="Picture 4" descr="SERP avec balisage du schéma vidéo en action">
            <a:extLst>
              <a:ext uri="{FF2B5EF4-FFF2-40B4-BE49-F238E27FC236}">
                <a16:creationId xmlns:a16="http://schemas.microsoft.com/office/drawing/2014/main" id="{D3475466-981B-3C16-6EFB-D388AA1B14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6207" y="2484369"/>
            <a:ext cx="569595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56860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77B545-5F50-BDB4-49D9-888288216769}"/>
              </a:ext>
            </a:extLst>
          </p:cNvPr>
          <p:cNvSpPr/>
          <p:nvPr/>
        </p:nvSpPr>
        <p:spPr>
          <a:xfrm>
            <a:off x="0" y="6435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structured</a:t>
            </a:r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data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EB7DE234-0993-1395-5D19-981DB389E637}"/>
              </a:ext>
            </a:extLst>
          </p:cNvPr>
          <p:cNvSpPr txBox="1">
            <a:spLocks/>
          </p:cNvSpPr>
          <p:nvPr/>
        </p:nvSpPr>
        <p:spPr>
          <a:xfrm>
            <a:off x="304307" y="1483862"/>
            <a:ext cx="7869875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00" dirty="0">
                <a:solidFill>
                  <a:srgbClr val="303030"/>
                </a:solidFill>
                <a:latin typeface="Poppins" panose="00000500000000000000" pitchFamily="2" charset="0"/>
              </a:rPr>
              <a:t>les 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CF3D5249-457C-C70A-D417-73ADAC5879FB}"/>
              </a:ext>
            </a:extLst>
          </p:cNvPr>
          <p:cNvSpPr txBox="1">
            <a:spLocks/>
          </p:cNvSpPr>
          <p:nvPr/>
        </p:nvSpPr>
        <p:spPr>
          <a:xfrm>
            <a:off x="304307" y="1492942"/>
            <a:ext cx="11444350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1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10DAE2D-D7B7-51CC-0858-AD7E2F667624}"/>
              </a:ext>
            </a:extLst>
          </p:cNvPr>
          <p:cNvSpPr txBox="1">
            <a:spLocks/>
          </p:cNvSpPr>
          <p:nvPr/>
        </p:nvSpPr>
        <p:spPr>
          <a:xfrm>
            <a:off x="304307" y="4445085"/>
            <a:ext cx="6243697" cy="75213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internet a besoin de données structurées pour exister. </a:t>
            </a:r>
          </a:p>
          <a:p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Pour que toutes les machines qui le composent puissent communiquer entre elles, tous les protocoles et langages (HTTP, TCP, TLS/SSL, PHP, Javascript, etc.) ont une certaine structure</a:t>
            </a:r>
          </a:p>
          <a:p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Concernant les informations sur un site internet :  </a:t>
            </a:r>
            <a:r>
              <a:rPr lang="fr-FR" sz="2000" b="1" dirty="0">
                <a:solidFill>
                  <a:srgbClr val="303030"/>
                </a:solidFill>
                <a:latin typeface="Poppins" panose="00000500000000000000" pitchFamily="2" charset="0"/>
              </a:rPr>
              <a:t>Il n’existe aucune règle régissant la présentation de ces données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C5D9A40F-ECBE-10E9-D095-BAE1C1F5F40A}"/>
              </a:ext>
            </a:extLst>
          </p:cNvPr>
          <p:cNvSpPr txBox="1">
            <a:spLocks/>
          </p:cNvSpPr>
          <p:nvPr/>
        </p:nvSpPr>
        <p:spPr>
          <a:xfrm>
            <a:off x="6958572" y="1351297"/>
            <a:ext cx="1607620" cy="5591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exemple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67D59901-B3E3-B4D7-7D82-4F384490B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1348" y="2025735"/>
            <a:ext cx="5200650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266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77B545-5F50-BDB4-49D9-888288216769}"/>
              </a:ext>
            </a:extLst>
          </p:cNvPr>
          <p:cNvSpPr/>
          <p:nvPr/>
        </p:nvSpPr>
        <p:spPr>
          <a:xfrm>
            <a:off x="0" y="6435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structured</a:t>
            </a:r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data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EB7DE234-0993-1395-5D19-981DB389E637}"/>
              </a:ext>
            </a:extLst>
          </p:cNvPr>
          <p:cNvSpPr txBox="1">
            <a:spLocks/>
          </p:cNvSpPr>
          <p:nvPr/>
        </p:nvSpPr>
        <p:spPr>
          <a:xfrm>
            <a:off x="304307" y="1483862"/>
            <a:ext cx="7869875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00" dirty="0">
                <a:solidFill>
                  <a:srgbClr val="303030"/>
                </a:solidFill>
                <a:latin typeface="Poppins" panose="00000500000000000000" pitchFamily="2" charset="0"/>
              </a:rPr>
              <a:t>les 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CF3D5249-457C-C70A-D417-73ADAC5879FB}"/>
              </a:ext>
            </a:extLst>
          </p:cNvPr>
          <p:cNvSpPr txBox="1">
            <a:spLocks/>
          </p:cNvSpPr>
          <p:nvPr/>
        </p:nvSpPr>
        <p:spPr>
          <a:xfrm>
            <a:off x="304307" y="1492942"/>
            <a:ext cx="11444350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1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10DAE2D-D7B7-51CC-0858-AD7E2F667624}"/>
              </a:ext>
            </a:extLst>
          </p:cNvPr>
          <p:cNvSpPr txBox="1">
            <a:spLocks/>
          </p:cNvSpPr>
          <p:nvPr/>
        </p:nvSpPr>
        <p:spPr>
          <a:xfrm>
            <a:off x="304305" y="4518523"/>
            <a:ext cx="6243697" cy="75213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Les données structurées sont constituées par paire avec un nom standardisé, tel que « </a:t>
            </a:r>
            <a:r>
              <a:rPr lang="fr-FR" sz="2000" b="1" i="1" dirty="0" err="1">
                <a:solidFill>
                  <a:srgbClr val="303030"/>
                </a:solidFill>
                <a:latin typeface="Poppins" panose="00000500000000000000" pitchFamily="2" charset="0"/>
              </a:rPr>
              <a:t>streetAddress</a:t>
            </a:r>
            <a:r>
              <a:rPr lang="fr-FR" sz="2000" b="1" i="1" dirty="0">
                <a:solidFill>
                  <a:srgbClr val="303030"/>
                </a:solidFill>
                <a:latin typeface="Poppins" panose="00000500000000000000" pitchFamily="2" charset="0"/>
              </a:rPr>
              <a:t> 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» ainsi que la valeur qui lui est attribuée (dans ce cas « 39, Main Street »)</a:t>
            </a:r>
            <a:endParaRPr lang="fr-FR" sz="2000" b="1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C5D9A40F-ECBE-10E9-D095-BAE1C1F5F40A}"/>
              </a:ext>
            </a:extLst>
          </p:cNvPr>
          <p:cNvSpPr txBox="1">
            <a:spLocks/>
          </p:cNvSpPr>
          <p:nvPr/>
        </p:nvSpPr>
        <p:spPr>
          <a:xfrm>
            <a:off x="6958572" y="1351297"/>
            <a:ext cx="1607620" cy="5591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exemple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67D59901-B3E3-B4D7-7D82-4F384490B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1348" y="2025735"/>
            <a:ext cx="5200650" cy="4838700"/>
          </a:xfrm>
          <a:prstGeom prst="rect">
            <a:avLst/>
          </a:prstGeom>
        </p:spPr>
      </p:pic>
      <p:sp>
        <p:nvSpPr>
          <p:cNvPr id="10" name="Titre 1">
            <a:extLst>
              <a:ext uri="{FF2B5EF4-FFF2-40B4-BE49-F238E27FC236}">
                <a16:creationId xmlns:a16="http://schemas.microsoft.com/office/drawing/2014/main" id="{289D38C0-967D-D6C1-6A49-125F1CCCCE87}"/>
              </a:ext>
            </a:extLst>
          </p:cNvPr>
          <p:cNvSpPr txBox="1">
            <a:spLocks/>
          </p:cNvSpPr>
          <p:nvPr/>
        </p:nvSpPr>
        <p:spPr>
          <a:xfrm>
            <a:off x="304305" y="1298078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exemple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FBBF0738-5E23-4F3F-B400-E6068B58535C}"/>
              </a:ext>
            </a:extLst>
          </p:cNvPr>
          <p:cNvSpPr txBox="1">
            <a:spLocks/>
          </p:cNvSpPr>
          <p:nvPr/>
        </p:nvSpPr>
        <p:spPr>
          <a:xfrm>
            <a:off x="304305" y="2097719"/>
            <a:ext cx="6243697" cy="75213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b="1" dirty="0">
                <a:solidFill>
                  <a:srgbClr val="303030"/>
                </a:solidFill>
                <a:latin typeface="Poppins" panose="00000500000000000000" pitchFamily="2" charset="0"/>
              </a:rPr>
              <a:t>Une adresse : </a:t>
            </a:r>
            <a:r>
              <a:rPr lang="en-US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Amazing Stuff Inc, 39 Main Street, 34000 Newtown, France</a:t>
            </a: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 </a:t>
            </a:r>
            <a:endParaRPr lang="fr-FR" sz="2000" b="1" i="1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126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77B545-5F50-BDB4-49D9-8882882167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Utiliser les </a:t>
            </a:r>
            <a:r>
              <a:rPr lang="fr-FR" sz="5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structured</a:t>
            </a:r>
            <a:r>
              <a:rPr lang="fr-FR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data avec schema.org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EB7DE234-0993-1395-5D19-981DB389E637}"/>
              </a:ext>
            </a:extLst>
          </p:cNvPr>
          <p:cNvSpPr txBox="1">
            <a:spLocks/>
          </p:cNvSpPr>
          <p:nvPr/>
        </p:nvSpPr>
        <p:spPr>
          <a:xfrm>
            <a:off x="304307" y="1483862"/>
            <a:ext cx="7869875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00" dirty="0">
                <a:solidFill>
                  <a:srgbClr val="303030"/>
                </a:solidFill>
                <a:latin typeface="Poppins" panose="00000500000000000000" pitchFamily="2" charset="0"/>
              </a:rPr>
              <a:t>les 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CF3D5249-457C-C70A-D417-73ADAC5879FB}"/>
              </a:ext>
            </a:extLst>
          </p:cNvPr>
          <p:cNvSpPr txBox="1">
            <a:spLocks/>
          </p:cNvSpPr>
          <p:nvPr/>
        </p:nvSpPr>
        <p:spPr>
          <a:xfrm>
            <a:off x="304307" y="1492942"/>
            <a:ext cx="11444350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1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10DAE2D-D7B7-51CC-0858-AD7E2F667624}"/>
              </a:ext>
            </a:extLst>
          </p:cNvPr>
          <p:cNvSpPr txBox="1">
            <a:spLocks/>
          </p:cNvSpPr>
          <p:nvPr/>
        </p:nvSpPr>
        <p:spPr>
          <a:xfrm>
            <a:off x="304308" y="1910478"/>
            <a:ext cx="6243697" cy="75213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6D506AF3-088A-632D-88A0-D6D9BDF0BFAF}"/>
              </a:ext>
            </a:extLst>
          </p:cNvPr>
          <p:cNvSpPr txBox="1">
            <a:spLocks/>
          </p:cNvSpPr>
          <p:nvPr/>
        </p:nvSpPr>
        <p:spPr>
          <a:xfrm>
            <a:off x="304307" y="3973709"/>
            <a:ext cx="6243697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800" dirty="0">
                <a:solidFill>
                  <a:srgbClr val="303030"/>
                </a:solidFill>
                <a:latin typeface="Poppins" panose="00000500000000000000" pitchFamily="2" charset="0"/>
              </a:rPr>
              <a:t>Schema.org fait partie d’une initiative lancée en 2011 par Google, Bing et Yahoo pour fournir un système de schémas universels permettant de marquer les données structurées sur les sites web.</a:t>
            </a:r>
          </a:p>
        </p:txBody>
      </p:sp>
    </p:spTree>
    <p:extLst>
      <p:ext uri="{BB962C8B-B14F-4D97-AF65-F5344CB8AC3E}">
        <p14:creationId xmlns:p14="http://schemas.microsoft.com/office/powerpoint/2010/main" val="23646603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77B545-5F50-BDB4-49D9-8882882167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Utiliser les </a:t>
            </a:r>
            <a:r>
              <a:rPr lang="fr-FR" sz="5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structured</a:t>
            </a:r>
            <a:r>
              <a:rPr lang="fr-FR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data avec schema.org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EB7DE234-0993-1395-5D19-981DB389E637}"/>
              </a:ext>
            </a:extLst>
          </p:cNvPr>
          <p:cNvSpPr txBox="1">
            <a:spLocks/>
          </p:cNvSpPr>
          <p:nvPr/>
        </p:nvSpPr>
        <p:spPr>
          <a:xfrm>
            <a:off x="304307" y="1483862"/>
            <a:ext cx="7869875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00" dirty="0">
                <a:solidFill>
                  <a:srgbClr val="303030"/>
                </a:solidFill>
                <a:latin typeface="Poppins" panose="00000500000000000000" pitchFamily="2" charset="0"/>
              </a:rPr>
              <a:t>les 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CF3D5249-457C-C70A-D417-73ADAC5879FB}"/>
              </a:ext>
            </a:extLst>
          </p:cNvPr>
          <p:cNvSpPr txBox="1">
            <a:spLocks/>
          </p:cNvSpPr>
          <p:nvPr/>
        </p:nvSpPr>
        <p:spPr>
          <a:xfrm>
            <a:off x="304307" y="1492942"/>
            <a:ext cx="11444350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1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10DAE2D-D7B7-51CC-0858-AD7E2F667624}"/>
              </a:ext>
            </a:extLst>
          </p:cNvPr>
          <p:cNvSpPr txBox="1">
            <a:spLocks/>
          </p:cNvSpPr>
          <p:nvPr/>
        </p:nvSpPr>
        <p:spPr>
          <a:xfrm>
            <a:off x="304308" y="1910478"/>
            <a:ext cx="6243697" cy="75213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6D506AF3-088A-632D-88A0-D6D9BDF0BFAF}"/>
              </a:ext>
            </a:extLst>
          </p:cNvPr>
          <p:cNvSpPr txBox="1">
            <a:spLocks/>
          </p:cNvSpPr>
          <p:nvPr/>
        </p:nvSpPr>
        <p:spPr>
          <a:xfrm>
            <a:off x="281400" y="4175471"/>
            <a:ext cx="6467554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400" dirty="0">
                <a:solidFill>
                  <a:srgbClr val="303030"/>
                </a:solidFill>
                <a:latin typeface="Poppins" panose="00000500000000000000" pitchFamily="2" charset="0"/>
              </a:rPr>
              <a:t>Lorsque les moteurs de recherche voient la ligne « @contexte » : « http://schema.org/« , ils commencent à chercher des paires de données Schema.org qu’ils peuvent reconnaître.</a:t>
            </a:r>
          </a:p>
          <a:p>
            <a:endParaRPr lang="fr-FR" sz="24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r>
              <a:rPr lang="fr-FR" sz="2400" dirty="0">
                <a:solidFill>
                  <a:srgbClr val="303030"/>
                </a:solidFill>
                <a:latin typeface="Poppins" panose="00000500000000000000" pitchFamily="2" charset="0"/>
              </a:rPr>
              <a:t>Nous pouvons insérer des données structurées dans la section &lt;</a:t>
            </a:r>
            <a:r>
              <a:rPr lang="fr-FR" sz="2400" dirty="0" err="1">
                <a:solidFill>
                  <a:srgbClr val="303030"/>
                </a:solidFill>
                <a:latin typeface="Poppins" panose="00000500000000000000" pitchFamily="2" charset="0"/>
              </a:rPr>
              <a:t>head</a:t>
            </a:r>
            <a:r>
              <a:rPr lang="fr-FR" sz="2400" dirty="0">
                <a:solidFill>
                  <a:srgbClr val="303030"/>
                </a:solidFill>
                <a:latin typeface="Poppins" panose="00000500000000000000" pitchFamily="2" charset="0"/>
              </a:rPr>
              <a:t>&gt; de notre html :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7988FEC-96AE-7F7F-0341-889A97BB56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0354" y="2914205"/>
            <a:ext cx="5238750" cy="3952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23190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77B545-5F50-BDB4-49D9-8882882167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Utiliser les </a:t>
            </a:r>
            <a:r>
              <a:rPr lang="fr-FR" sz="5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structured</a:t>
            </a:r>
            <a:r>
              <a:rPr lang="fr-FR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data avec schema.org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EB7DE234-0993-1395-5D19-981DB389E637}"/>
              </a:ext>
            </a:extLst>
          </p:cNvPr>
          <p:cNvSpPr txBox="1">
            <a:spLocks/>
          </p:cNvSpPr>
          <p:nvPr/>
        </p:nvSpPr>
        <p:spPr>
          <a:xfrm>
            <a:off x="304307" y="1483862"/>
            <a:ext cx="7869875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00" dirty="0">
                <a:solidFill>
                  <a:srgbClr val="303030"/>
                </a:solidFill>
                <a:latin typeface="Poppins" panose="00000500000000000000" pitchFamily="2" charset="0"/>
              </a:rPr>
              <a:t>les 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CF3D5249-457C-C70A-D417-73ADAC5879FB}"/>
              </a:ext>
            </a:extLst>
          </p:cNvPr>
          <p:cNvSpPr txBox="1">
            <a:spLocks/>
          </p:cNvSpPr>
          <p:nvPr/>
        </p:nvSpPr>
        <p:spPr>
          <a:xfrm>
            <a:off x="304307" y="1492942"/>
            <a:ext cx="11444350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1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10DAE2D-D7B7-51CC-0858-AD7E2F667624}"/>
              </a:ext>
            </a:extLst>
          </p:cNvPr>
          <p:cNvSpPr txBox="1">
            <a:spLocks/>
          </p:cNvSpPr>
          <p:nvPr/>
        </p:nvSpPr>
        <p:spPr>
          <a:xfrm>
            <a:off x="304308" y="1910478"/>
            <a:ext cx="6243697" cy="75213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6D506AF3-088A-632D-88A0-D6D9BDF0BFAF}"/>
              </a:ext>
            </a:extLst>
          </p:cNvPr>
          <p:cNvSpPr txBox="1">
            <a:spLocks/>
          </p:cNvSpPr>
          <p:nvPr/>
        </p:nvSpPr>
        <p:spPr>
          <a:xfrm>
            <a:off x="304307" y="2931172"/>
            <a:ext cx="4412528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400" dirty="0">
                <a:solidFill>
                  <a:srgbClr val="303030"/>
                </a:solidFill>
                <a:latin typeface="Poppins" panose="00000500000000000000" pitchFamily="2" charset="0"/>
              </a:rPr>
              <a:t>Et c’est comme ça que les moteurs de recherche le voient lorsqu’ils analysent la page :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63E3EF35-2193-B275-D393-4A6201D651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B2B333F1-7156-A79B-127D-53FE373620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49691" y="434380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7174" name="Picture 6">
            <a:extLst>
              <a:ext uri="{FF2B5EF4-FFF2-40B4-BE49-F238E27FC236}">
                <a16:creationId xmlns:a16="http://schemas.microsoft.com/office/drawing/2014/main" id="{E59E179B-FBF1-193B-3F89-4736E23BB9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141" y="2038754"/>
            <a:ext cx="6515100" cy="461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38323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77B545-5F50-BDB4-49D9-8882882167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Un mot sur le format j-son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EB7DE234-0993-1395-5D19-981DB389E637}"/>
              </a:ext>
            </a:extLst>
          </p:cNvPr>
          <p:cNvSpPr txBox="1">
            <a:spLocks/>
          </p:cNvSpPr>
          <p:nvPr/>
        </p:nvSpPr>
        <p:spPr>
          <a:xfrm>
            <a:off x="304307" y="1483862"/>
            <a:ext cx="7869875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00" dirty="0">
                <a:solidFill>
                  <a:srgbClr val="303030"/>
                </a:solidFill>
                <a:latin typeface="Poppins" panose="00000500000000000000" pitchFamily="2" charset="0"/>
              </a:rPr>
              <a:t>les 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CF3D5249-457C-C70A-D417-73ADAC5879FB}"/>
              </a:ext>
            </a:extLst>
          </p:cNvPr>
          <p:cNvSpPr txBox="1">
            <a:spLocks/>
          </p:cNvSpPr>
          <p:nvPr/>
        </p:nvSpPr>
        <p:spPr>
          <a:xfrm>
            <a:off x="304307" y="1492942"/>
            <a:ext cx="11444350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1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10DAE2D-D7B7-51CC-0858-AD7E2F667624}"/>
              </a:ext>
            </a:extLst>
          </p:cNvPr>
          <p:cNvSpPr txBox="1">
            <a:spLocks/>
          </p:cNvSpPr>
          <p:nvPr/>
        </p:nvSpPr>
        <p:spPr>
          <a:xfrm>
            <a:off x="304308" y="1910478"/>
            <a:ext cx="6243697" cy="75213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6D506AF3-088A-632D-88A0-D6D9BDF0BFAF}"/>
              </a:ext>
            </a:extLst>
          </p:cNvPr>
          <p:cNvSpPr txBox="1">
            <a:spLocks/>
          </p:cNvSpPr>
          <p:nvPr/>
        </p:nvSpPr>
        <p:spPr>
          <a:xfrm>
            <a:off x="304307" y="3429000"/>
            <a:ext cx="6243697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400" dirty="0">
                <a:solidFill>
                  <a:srgbClr val="303030"/>
                </a:solidFill>
                <a:latin typeface="Poppins" panose="00000500000000000000" pitchFamily="2" charset="0"/>
              </a:rPr>
              <a:t>JSON (JavaScript Object Notation) est un format de données léger utilisé pour échanger des informations entre les applications. Il est facile à lire et à écrire pour les humains, ainsi qu'à interpréter et à générer pour les machines.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63E3EF35-2193-B275-D393-4A6201D651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B2B333F1-7156-A79B-127D-53FE373620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49691" y="434380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41ADBBBA-5AFC-B375-9F74-6B5D8FF27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312" y="3355822"/>
            <a:ext cx="5495925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607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77B545-5F50-BDB4-49D9-8882882167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 balisage du schéma pour une entreprise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EB7DE234-0993-1395-5D19-981DB389E637}"/>
              </a:ext>
            </a:extLst>
          </p:cNvPr>
          <p:cNvSpPr txBox="1">
            <a:spLocks/>
          </p:cNvSpPr>
          <p:nvPr/>
        </p:nvSpPr>
        <p:spPr>
          <a:xfrm>
            <a:off x="304307" y="1483862"/>
            <a:ext cx="7869875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00" dirty="0">
                <a:solidFill>
                  <a:srgbClr val="303030"/>
                </a:solidFill>
                <a:latin typeface="Poppins" panose="00000500000000000000" pitchFamily="2" charset="0"/>
              </a:rPr>
              <a:t>les 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CF3D5249-457C-C70A-D417-73ADAC5879FB}"/>
              </a:ext>
            </a:extLst>
          </p:cNvPr>
          <p:cNvSpPr txBox="1">
            <a:spLocks/>
          </p:cNvSpPr>
          <p:nvPr/>
        </p:nvSpPr>
        <p:spPr>
          <a:xfrm>
            <a:off x="304307" y="1492942"/>
            <a:ext cx="11444350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1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10DAE2D-D7B7-51CC-0858-AD7E2F667624}"/>
              </a:ext>
            </a:extLst>
          </p:cNvPr>
          <p:cNvSpPr txBox="1">
            <a:spLocks/>
          </p:cNvSpPr>
          <p:nvPr/>
        </p:nvSpPr>
        <p:spPr>
          <a:xfrm>
            <a:off x="304308" y="1910478"/>
            <a:ext cx="6243697" cy="75213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6D506AF3-088A-632D-88A0-D6D9BDF0BFAF}"/>
              </a:ext>
            </a:extLst>
          </p:cNvPr>
          <p:cNvSpPr txBox="1">
            <a:spLocks/>
          </p:cNvSpPr>
          <p:nvPr/>
        </p:nvSpPr>
        <p:spPr>
          <a:xfrm>
            <a:off x="91489" y="2526236"/>
            <a:ext cx="4412528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400" dirty="0">
                <a:solidFill>
                  <a:srgbClr val="303030"/>
                </a:solidFill>
                <a:latin typeface="Poppins" panose="00000500000000000000" pitchFamily="2" charset="0"/>
              </a:rPr>
              <a:t>Tout d’abord, vous devrez définir votre type d’entreprise.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63E3EF35-2193-B275-D393-4A6201D651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B2B333F1-7156-A79B-127D-53FE373620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49691" y="434380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4F2B14FE-0A92-95B3-E238-9656EE4E1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350" y="1441049"/>
            <a:ext cx="4109307" cy="4921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62690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77B545-5F50-BDB4-49D9-8882882167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 balisage du schéma pour une entreprise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EB7DE234-0993-1395-5D19-981DB389E637}"/>
              </a:ext>
            </a:extLst>
          </p:cNvPr>
          <p:cNvSpPr txBox="1">
            <a:spLocks/>
          </p:cNvSpPr>
          <p:nvPr/>
        </p:nvSpPr>
        <p:spPr>
          <a:xfrm>
            <a:off x="304307" y="1483862"/>
            <a:ext cx="7869875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00" dirty="0">
                <a:solidFill>
                  <a:srgbClr val="303030"/>
                </a:solidFill>
                <a:latin typeface="Poppins" panose="00000500000000000000" pitchFamily="2" charset="0"/>
              </a:rPr>
              <a:t>les 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CF3D5249-457C-C70A-D417-73ADAC5879FB}"/>
              </a:ext>
            </a:extLst>
          </p:cNvPr>
          <p:cNvSpPr txBox="1">
            <a:spLocks/>
          </p:cNvSpPr>
          <p:nvPr/>
        </p:nvSpPr>
        <p:spPr>
          <a:xfrm>
            <a:off x="304307" y="1492942"/>
            <a:ext cx="11444350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1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10DAE2D-D7B7-51CC-0858-AD7E2F667624}"/>
              </a:ext>
            </a:extLst>
          </p:cNvPr>
          <p:cNvSpPr txBox="1">
            <a:spLocks/>
          </p:cNvSpPr>
          <p:nvPr/>
        </p:nvSpPr>
        <p:spPr>
          <a:xfrm>
            <a:off x="304308" y="1910478"/>
            <a:ext cx="6243697" cy="75213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6D506AF3-088A-632D-88A0-D6D9BDF0BFAF}"/>
              </a:ext>
            </a:extLst>
          </p:cNvPr>
          <p:cNvSpPr txBox="1">
            <a:spLocks/>
          </p:cNvSpPr>
          <p:nvPr/>
        </p:nvSpPr>
        <p:spPr>
          <a:xfrm>
            <a:off x="304307" y="3812321"/>
            <a:ext cx="4412528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400" dirty="0">
                <a:solidFill>
                  <a:srgbClr val="303030"/>
                </a:solidFill>
                <a:latin typeface="Poppins" panose="00000500000000000000" pitchFamily="2" charset="0"/>
              </a:rPr>
              <a:t>Une fois le type d’entreprise trouvé, votre bloc de schéma devrait ressemble à ça </a:t>
            </a:r>
          </a:p>
          <a:p>
            <a:endParaRPr lang="fr-FR" sz="24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r>
              <a:rPr lang="fr-FR" sz="2400" dirty="0">
                <a:solidFill>
                  <a:srgbClr val="303030"/>
                </a:solidFill>
                <a:latin typeface="Poppins" panose="00000500000000000000" pitchFamily="2" charset="0"/>
              </a:rPr>
              <a:t>Pour éviter les erreurs, vous pouvez utiliser </a:t>
            </a:r>
            <a:r>
              <a:rPr lang="fr-FR" sz="2400" dirty="0">
                <a:solidFill>
                  <a:srgbClr val="303030"/>
                </a:solidFill>
                <a:latin typeface="Poppins" panose="00000500000000000000" pitchFamily="2" charset="0"/>
                <a:hlinkClick r:id="rId2"/>
              </a:rPr>
              <a:t>l’outil de test de Google </a:t>
            </a:r>
            <a:endParaRPr lang="fr-FR" sz="24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63E3EF35-2193-B275-D393-4A6201D651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B2B333F1-7156-A79B-127D-53FE373620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49691" y="434380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0CE9A1EE-8ACC-971B-0F41-BBFE87DF6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9453" y="3139255"/>
            <a:ext cx="4410075" cy="191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1801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77B545-5F50-BDB4-49D9-8882882167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 balisage du schéma pour une personne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EB7DE234-0993-1395-5D19-981DB389E637}"/>
              </a:ext>
            </a:extLst>
          </p:cNvPr>
          <p:cNvSpPr txBox="1">
            <a:spLocks/>
          </p:cNvSpPr>
          <p:nvPr/>
        </p:nvSpPr>
        <p:spPr>
          <a:xfrm>
            <a:off x="304307" y="1483862"/>
            <a:ext cx="7869875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00" dirty="0">
                <a:solidFill>
                  <a:srgbClr val="303030"/>
                </a:solidFill>
                <a:latin typeface="Poppins" panose="00000500000000000000" pitchFamily="2" charset="0"/>
              </a:rPr>
              <a:t>les 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CF3D5249-457C-C70A-D417-73ADAC5879FB}"/>
              </a:ext>
            </a:extLst>
          </p:cNvPr>
          <p:cNvSpPr txBox="1">
            <a:spLocks/>
          </p:cNvSpPr>
          <p:nvPr/>
        </p:nvSpPr>
        <p:spPr>
          <a:xfrm>
            <a:off x="304307" y="1492942"/>
            <a:ext cx="11444350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1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10DAE2D-D7B7-51CC-0858-AD7E2F667624}"/>
              </a:ext>
            </a:extLst>
          </p:cNvPr>
          <p:cNvSpPr txBox="1">
            <a:spLocks/>
          </p:cNvSpPr>
          <p:nvPr/>
        </p:nvSpPr>
        <p:spPr>
          <a:xfrm>
            <a:off x="304308" y="1910478"/>
            <a:ext cx="6243697" cy="75213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6D506AF3-088A-632D-88A0-D6D9BDF0BFAF}"/>
              </a:ext>
            </a:extLst>
          </p:cNvPr>
          <p:cNvSpPr txBox="1">
            <a:spLocks/>
          </p:cNvSpPr>
          <p:nvPr/>
        </p:nvSpPr>
        <p:spPr>
          <a:xfrm>
            <a:off x="304307" y="3590637"/>
            <a:ext cx="3815231" cy="44336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400" dirty="0">
                <a:solidFill>
                  <a:srgbClr val="303030"/>
                </a:solidFill>
                <a:latin typeface="Poppins" panose="00000500000000000000" pitchFamily="2" charset="0"/>
              </a:rPr>
              <a:t>Exemple d’une personne qui travaille chez </a:t>
            </a:r>
            <a:r>
              <a:rPr lang="fr-FR" sz="2400" dirty="0" err="1">
                <a:solidFill>
                  <a:srgbClr val="303030"/>
                </a:solidFill>
                <a:latin typeface="Poppins" panose="00000500000000000000" pitchFamily="2" charset="0"/>
              </a:rPr>
              <a:t>Sunfimmo</a:t>
            </a:r>
            <a:endParaRPr lang="fr-FR" sz="24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63E3EF35-2193-B275-D393-4A6201D651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B2B333F1-7156-A79B-127D-53FE373620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49691" y="434380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2AB7390E-A5C7-25A6-8182-512AF7F7B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9538" y="1483862"/>
            <a:ext cx="8039332" cy="5001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360107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4223</TotalTime>
  <Words>2385</Words>
  <Application>Microsoft Office PowerPoint</Application>
  <PresentationFormat>Grand écran</PresentationFormat>
  <Paragraphs>281</Paragraphs>
  <Slides>53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53</vt:i4>
      </vt:variant>
    </vt:vector>
  </HeadingPairs>
  <TitlesOfParts>
    <vt:vector size="60" baseType="lpstr">
      <vt:lpstr>Arial</vt:lpstr>
      <vt:lpstr>Bebas Neue</vt:lpstr>
      <vt:lpstr>Calibri</vt:lpstr>
      <vt:lpstr>Calibri Light</vt:lpstr>
      <vt:lpstr>Poppins</vt:lpstr>
      <vt:lpstr>Silka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Lading page</dc:title>
  <dc:creator>Fayçal Sellam</dc:creator>
  <cp:lastModifiedBy>Adel Akouche</cp:lastModifiedBy>
  <cp:revision>33</cp:revision>
  <dcterms:created xsi:type="dcterms:W3CDTF">2021-11-16T19:28:52Z</dcterms:created>
  <dcterms:modified xsi:type="dcterms:W3CDTF">2024-08-30T13:58:06Z</dcterms:modified>
</cp:coreProperties>
</file>