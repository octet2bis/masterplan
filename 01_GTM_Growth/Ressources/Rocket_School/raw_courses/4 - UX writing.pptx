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6" r:id="rId6"/>
    <p:sldId id="260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83" r:id="rId15"/>
    <p:sldId id="292" r:id="rId16"/>
    <p:sldId id="284" r:id="rId17"/>
    <p:sldId id="286" r:id="rId18"/>
    <p:sldId id="289" r:id="rId19"/>
    <p:sldId id="293" r:id="rId20"/>
    <p:sldId id="288" r:id="rId21"/>
    <p:sldId id="296" r:id="rId22"/>
    <p:sldId id="29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E57AE-F080-42D0-AE1F-A62DD18B4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4768FD-1381-4E23-B178-C9DF55DBB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D4C1F9-7DDB-4107-AFD6-9D4D8F48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67180-9F70-4436-96CA-2446E85D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25ED77-9B78-4D6C-B7D6-07DFA2CE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49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1B9EE9-17EC-4D2A-AAC0-BCF74CEF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E0A35E-F314-43E1-AF20-8A7E342D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7CEF2-0D59-4DBA-A9D2-8A221813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2684D8-FF92-4FC1-894C-B5125BA2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BC4B2C-0407-43EE-AA76-D91E97AE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75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F5EF5-F8A4-47B3-92BE-A3372393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C6BBCC-E851-415F-BCB2-58E10EF3C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7EB5FC-28A0-47E2-9DF0-E967A70B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5237C4-E1BF-40C8-9B25-36B4C13C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183B8A-C311-4484-A5DA-793DFF70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70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4E9898-D369-48EF-AEB1-7F12CFF7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CF873B-76E0-4EF1-8E85-D791273A7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B48768-4498-4038-B870-115AD93AB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74D9EE-857D-434F-9495-9402D602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E47E03-EE35-4934-BCEF-A3622EAD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7D9A81-C183-4795-A5DD-074E2CE1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4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92FCDF-BA56-4EFC-B44A-5E984BA0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3B9AD5-9231-4253-922B-30C0830C9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43484A-31EF-4AD7-89CC-B4B903096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31345D-3605-499F-9BCD-939700D44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12EE6C-4B8B-4EFA-8F30-E47AD4EB4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795C78-24B4-4828-94FD-7296A52C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1F4635-855B-4DEA-927B-08AC0BA0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CE3352F-5F27-4093-B0E5-4271114C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27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0FE61-8E3B-4C27-914B-3B155BF8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B40D4C-C87B-4706-AE77-13DDB03A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9A0CED-4AA7-453D-AEB3-F9E253F5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D3CBC3-4326-453C-BE6A-2B3E26FB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54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8ECB194-3921-40B0-A4A7-65C1370C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7C5A0B0-7449-479E-ABF4-C7379BC5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C2BA56-87C8-424F-9521-BB5F6DF0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15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539F23-56F8-458D-8442-B712F0B3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F4A7E-67C3-4F7D-AF0F-48B0AC2E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C278E0-3644-4AA6-9D32-72DA5AE45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7EA69F-BEFF-4EFC-9C44-36F04BC1F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B5C8F1-6B65-4EBC-9F6E-F66E5491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7A48BB-2203-4118-AED8-7E229BB3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77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C3368-4554-4673-89E7-B9CF8F6C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88E7D0-633F-4EDA-9F14-23F4869CB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CF42C4-DBDC-473D-8BCB-BDFDBCD1E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D780A0-A5A7-43CA-BCFA-86DDA6F8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9BB408-9D31-49F9-AEC6-73431A2E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81BC34-5CFD-4314-BA94-E2E321E3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81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C4BDA-709C-4498-922F-B75BD4E6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0B6F18-E89C-4D2B-B456-F2A16DA0C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66CC25-AB55-47A4-9971-4007B25F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EBF65-43F0-4E47-AAAE-A10BE82C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641EF2-5804-4843-B2AB-0C298B15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44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F8F2A76-9CDC-4D18-94E5-03451D888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3208B1-B7BE-4A09-A20D-D722CCB5C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A5080C-C812-4E52-8076-B7CCB36E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9DC6A3-4EED-4DC6-BF18-E96C3F4D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760DE9-1EBB-4A05-BE3D-57A57B77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490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00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51C1F22-93B3-4810-B0B1-98385CE4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EFEAB3-888B-4FD2-9651-AC1613C6D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9C304B-A9D0-4907-BA1F-8C8E4BDDA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62D91-0610-4569-AD1E-CCCE7EB134DD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33D0C4-497D-4C21-9900-64C0F3CA8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0F6251-D215-4F89-824D-4EC0F0DE8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19BAB-23FB-4B5E-B974-19AF40AA51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12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giannipolito.f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UX/UI &amp; Landing Page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4 : UX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b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</a:b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3668"/>
            <a:chOff x="574159" y="-896088"/>
            <a:chExt cx="6298362" cy="25736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127050" y="624957"/>
              <a:ext cx="1849263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322379" y="3584518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partie intégrante de l’UI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copywriting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vs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4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6C3A7163-C084-46CE-8077-1699F091BFD0}"/>
              </a:ext>
            </a:extLst>
          </p:cNvPr>
          <p:cNvSpPr txBox="1">
            <a:spLocks/>
          </p:cNvSpPr>
          <p:nvPr/>
        </p:nvSpPr>
        <p:spPr>
          <a:xfrm>
            <a:off x="10013724" y="6390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  <a:hlinkClick r:id="rId2"/>
              </a:rPr>
              <a:t>source : </a:t>
            </a:r>
            <a:r>
              <a:rPr lang="fr-FR" sz="1200" dirty="0" err="1">
                <a:latin typeface="Silka" panose="00000500000000000000" pitchFamily="50" charset="0"/>
                <a:hlinkClick r:id="rId2"/>
              </a:rPr>
              <a:t>gianni</a:t>
            </a:r>
            <a:r>
              <a:rPr lang="fr-FR" sz="1200" dirty="0">
                <a:latin typeface="Silka" panose="00000500000000000000" pitchFamily="50" charset="0"/>
                <a:hlinkClick r:id="rId2"/>
              </a:rPr>
              <a:t> </a:t>
            </a:r>
            <a:r>
              <a:rPr lang="fr-FR" sz="1200" dirty="0" err="1">
                <a:latin typeface="Silka" panose="00000500000000000000" pitchFamily="50" charset="0"/>
                <a:hlinkClick r:id="rId2"/>
              </a:rPr>
              <a:t>polito</a:t>
            </a:r>
            <a:endParaRPr lang="fr-FR" sz="1200" dirty="0">
              <a:latin typeface="Silka" panose="00000500000000000000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006B31-F5F8-4325-AB06-96D56C62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388263-42BB-403B-A17B-9E64D12F3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25" y="2379738"/>
            <a:ext cx="4397455" cy="386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85209" y="4835174"/>
            <a:ext cx="6351526" cy="160075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l’UX </a:t>
            </a:r>
            <a:r>
              <a:rPr lang="fr-FR" sz="2000" b="1" dirty="0" err="1">
                <a:solidFill>
                  <a:srgbClr val="303030"/>
                </a:solidFill>
                <a:latin typeface="Poppins" panose="00000500000000000000" pitchFamily="2" charset="0"/>
              </a:rPr>
              <a:t>writing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s’intéresse à tous les mots et phrases dune interface qui sont en lien direct avec les utilisateurs. Son but est de faciliter la navigation.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85209" y="4064574"/>
            <a:ext cx="71489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 WRITING : C’est quoi ?</a:t>
            </a:r>
          </a:p>
        </p:txBody>
      </p:sp>
      <p:pic>
        <p:nvPicPr>
          <p:cNvPr id="4098" name="Picture 2" descr="Landing page Dropbox">
            <a:extLst>
              <a:ext uri="{FF2B5EF4-FFF2-40B4-BE49-F238E27FC236}">
                <a16:creationId xmlns:a16="http://schemas.microsoft.com/office/drawing/2014/main" id="{869E8B54-9FAE-41D1-A971-2E4CD854A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103" y="366114"/>
            <a:ext cx="6907744" cy="333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29038" y="0"/>
            <a:ext cx="720533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06286" y="1636601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contribue à améliorer l’ergonomie globale de l’interface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6286" y="405127"/>
            <a:ext cx="412048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À quoi ça sert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406286" y="2853077"/>
            <a:ext cx="7479183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i="0" dirty="0">
                <a:solidFill>
                  <a:schemeClr val="accent5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 </a:t>
            </a:r>
          </a:p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son but ultime, c’est aussi la conversion.</a:t>
            </a:r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592AC071-C849-4996-A791-9840B5C2B0F8}"/>
              </a:ext>
            </a:extLst>
          </p:cNvPr>
          <p:cNvSpPr txBox="1">
            <a:spLocks/>
          </p:cNvSpPr>
          <p:nvPr/>
        </p:nvSpPr>
        <p:spPr>
          <a:xfrm>
            <a:off x="479458" y="4687089"/>
            <a:ext cx="6351526" cy="3826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de se différencier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réduit la friction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renforce l’image de marque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apporte de la cohérence </a:t>
            </a:r>
            <a:endParaRPr lang="fr-FR" sz="20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FBFB684-04BD-4426-B45F-BF86B72E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588" y="622467"/>
            <a:ext cx="4616388" cy="23006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EFD986-B81F-4F2F-9819-58725D62B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588" y="3782078"/>
            <a:ext cx="4762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l’écriture conversationnelle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9D53B09-28E0-4345-B0B6-48A0DB3DA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826" y="1696821"/>
            <a:ext cx="3811867" cy="4837050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33934B06-BAB4-4EFE-A55B-1570D5A672A3}"/>
              </a:ext>
            </a:extLst>
          </p:cNvPr>
          <p:cNvSpPr txBox="1">
            <a:spLocks/>
          </p:cNvSpPr>
          <p:nvPr/>
        </p:nvSpPr>
        <p:spPr>
          <a:xfrm>
            <a:off x="304307" y="2077116"/>
            <a:ext cx="6351526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l’écriture conversationnelle 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consiste à considérer l’interaction utilisateur-interface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comme une conversation.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elle apporte un côté agréable et naturel à l’interface </a:t>
            </a:r>
            <a:endParaRPr lang="fr-FR" sz="2000" b="1" dirty="0"/>
          </a:p>
        </p:txBody>
      </p:sp>
      <p:pic>
        <p:nvPicPr>
          <p:cNvPr id="5126" name="Picture 6" descr="mon établissement sur google MB n&amp;#39;existe plus mais sur la recherche il  affiche l&amp;#39;url avec erreur 404 - Communauté Google My Business">
            <a:extLst>
              <a:ext uri="{FF2B5EF4-FFF2-40B4-BE49-F238E27FC236}">
                <a16:creationId xmlns:a16="http://schemas.microsoft.com/office/drawing/2014/main" id="{1D11AE39-22AE-44EE-B620-A90B8B44CC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93" t="26296" r="6340"/>
          <a:stretch/>
        </p:blipFill>
        <p:spPr bwMode="auto">
          <a:xfrm>
            <a:off x="304307" y="3779849"/>
            <a:ext cx="5745470" cy="292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51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TROUVER LE BON TON : se différencier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6</a:t>
            </a:fld>
            <a:endParaRPr lang="fr-FR"/>
          </a:p>
        </p:txBody>
      </p:sp>
      <p:pic>
        <p:nvPicPr>
          <p:cNvPr id="7170" name="Picture 2" descr="A mini oral history of the Mailchimp high five | Inside Design Blog">
            <a:extLst>
              <a:ext uri="{FF2B5EF4-FFF2-40B4-BE49-F238E27FC236}">
                <a16:creationId xmlns:a16="http://schemas.microsoft.com/office/drawing/2014/main" id="{F4983DFE-FFFB-4437-B49F-8C070EF93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516" y="1631104"/>
            <a:ext cx="4782333" cy="478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ailchimp Logo : histoire, signification de l&amp;#39;emblème">
            <a:extLst>
              <a:ext uri="{FF2B5EF4-FFF2-40B4-BE49-F238E27FC236}">
                <a16:creationId xmlns:a16="http://schemas.microsoft.com/office/drawing/2014/main" id="{9EC88CBF-0DC5-43E4-A5B6-B9FD28CFB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758" y="1630392"/>
            <a:ext cx="1598224" cy="89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5C0BFBF-923D-4F40-BCCA-47486C0D3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486" y="1283749"/>
            <a:ext cx="2916627" cy="1756458"/>
          </a:xfrm>
          <a:prstGeom prst="rect">
            <a:avLst/>
          </a:prstGeom>
        </p:spPr>
      </p:pic>
      <p:pic>
        <p:nvPicPr>
          <p:cNvPr id="7174" name="Picture 6" descr="40 Clever 404 Error Pages From Real Websites">
            <a:extLst>
              <a:ext uri="{FF2B5EF4-FFF2-40B4-BE49-F238E27FC236}">
                <a16:creationId xmlns:a16="http://schemas.microsoft.com/office/drawing/2014/main" id="{6A3DA1F7-5F01-4F52-B125-93923FC8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03" y="2761165"/>
            <a:ext cx="5620155" cy="346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TROUVER LE BON TON : se différencier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7</a:t>
            </a:fld>
            <a:endParaRPr lang="fr-FR"/>
          </a:p>
        </p:txBody>
      </p:sp>
      <p:pic>
        <p:nvPicPr>
          <p:cNvPr id="8194" name="Picture 2" descr="UX Writing : 8 clés pour optimiser sa rédaction UX + 3 exemples | SDLV">
            <a:extLst>
              <a:ext uri="{FF2B5EF4-FFF2-40B4-BE49-F238E27FC236}">
                <a16:creationId xmlns:a16="http://schemas.microsoft.com/office/drawing/2014/main" id="{5E55B128-2235-4D2F-9A4D-91E36C1AC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16" y="1599293"/>
            <a:ext cx="10860657" cy="493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0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8</a:t>
            </a:fld>
            <a:endParaRPr lang="fr-FR"/>
          </a:p>
        </p:txBody>
      </p:sp>
      <p:pic>
        <p:nvPicPr>
          <p:cNvPr id="6146" name="Picture 2" descr="GdPicture.NET MRZ - MRTD Document Reading SDK">
            <a:extLst>
              <a:ext uri="{FF2B5EF4-FFF2-40B4-BE49-F238E27FC236}">
                <a16:creationId xmlns:a16="http://schemas.microsoft.com/office/drawing/2014/main" id="{C95D9960-02CE-4CAE-99AD-9BD463CF8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77" y="2204832"/>
            <a:ext cx="5476364" cy="377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58A919-9A85-401C-959A-709660AD5784}"/>
              </a:ext>
            </a:extLst>
          </p:cNvPr>
          <p:cNvSpPr/>
          <p:nvPr/>
        </p:nvSpPr>
        <p:spPr>
          <a:xfrm>
            <a:off x="450853" y="5080959"/>
            <a:ext cx="5098212" cy="543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AB200D5-80D8-449A-B78D-B3CA3FCEB300}"/>
              </a:ext>
            </a:extLst>
          </p:cNvPr>
          <p:cNvSpPr txBox="1"/>
          <p:nvPr/>
        </p:nvSpPr>
        <p:spPr>
          <a:xfrm>
            <a:off x="6646653" y="5168025"/>
            <a:ext cx="3523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Machine-</a:t>
            </a:r>
            <a:r>
              <a:rPr lang="fr-FR" b="0" i="0" dirty="0" err="1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Readable</a:t>
            </a:r>
            <a:r>
              <a:rPr lang="fr-FR" b="0" i="0" dirty="0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 Zone</a:t>
            </a:r>
            <a:endParaRPr lang="fr-FR" dirty="0">
              <a:latin typeface="Silka" panose="00000500000000000000" pitchFamily="50" charset="0"/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35B1AFF-AC8C-465A-BBFD-FD1E5E004052}"/>
              </a:ext>
            </a:extLst>
          </p:cNvPr>
          <p:cNvCxnSpPr/>
          <p:nvPr/>
        </p:nvCxnSpPr>
        <p:spPr>
          <a:xfrm flipH="1">
            <a:off x="5738141" y="5352691"/>
            <a:ext cx="80930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1870687B-9A60-4153-8FDB-B124300BBC98}"/>
              </a:ext>
            </a:extLst>
          </p:cNvPr>
          <p:cNvSpPr txBox="1"/>
          <p:nvPr/>
        </p:nvSpPr>
        <p:spPr>
          <a:xfrm>
            <a:off x="6646653" y="1253533"/>
            <a:ext cx="3523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Comment demanderiez-vous à un utilisateur d’inscrire le MRZ se trouvant sur son passeport ?</a:t>
            </a:r>
            <a:endParaRPr lang="fr-FR" dirty="0">
              <a:latin typeface="Silka" panose="00000500000000000000" pitchFamily="50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49EB8FE-ED77-4A1B-9CDC-1C9AC608BF22}"/>
              </a:ext>
            </a:extLst>
          </p:cNvPr>
          <p:cNvSpPr txBox="1"/>
          <p:nvPr/>
        </p:nvSpPr>
        <p:spPr>
          <a:xfrm>
            <a:off x="6646653" y="3091182"/>
            <a:ext cx="3523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Les deux lignes du bas</a:t>
            </a:r>
            <a:endParaRPr lang="fr-FR" dirty="0">
              <a:latin typeface="Silka" panose="00000500000000000000" pitchFamily="50" charset="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C3108C8-DE8C-4A9E-8CE3-9FB0EE2C796E}"/>
              </a:ext>
            </a:extLst>
          </p:cNvPr>
          <p:cNvSpPr txBox="1">
            <a:spLocks/>
          </p:cNvSpPr>
          <p:nvPr/>
        </p:nvSpPr>
        <p:spPr>
          <a:xfrm>
            <a:off x="323619" y="267565"/>
            <a:ext cx="1168365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TROUVER LE BON mot : faciliter l’utilisation</a:t>
            </a:r>
          </a:p>
        </p:txBody>
      </p:sp>
    </p:spTree>
    <p:extLst>
      <p:ext uri="{BB962C8B-B14F-4D97-AF65-F5344CB8AC3E}">
        <p14:creationId xmlns:p14="http://schemas.microsoft.com/office/powerpoint/2010/main" val="2066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9</a:t>
            </a:fld>
            <a:endParaRPr lang="fr-FR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C3108C8-DE8C-4A9E-8CE3-9FB0EE2C796E}"/>
              </a:ext>
            </a:extLst>
          </p:cNvPr>
          <p:cNvSpPr txBox="1">
            <a:spLocks/>
          </p:cNvSpPr>
          <p:nvPr/>
        </p:nvSpPr>
        <p:spPr>
          <a:xfrm>
            <a:off x="323619" y="267565"/>
            <a:ext cx="1103018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TROUVER LE BON mot : réduire la friction</a:t>
            </a:r>
          </a:p>
        </p:txBody>
      </p:sp>
      <p:pic>
        <p:nvPicPr>
          <p:cNvPr id="9218" name="Picture 2" descr="Un message clair, la source de l’erreur est mentionnée, mais aucune issue n’est proposée.">
            <a:extLst>
              <a:ext uri="{FF2B5EF4-FFF2-40B4-BE49-F238E27FC236}">
                <a16:creationId xmlns:a16="http://schemas.microsoft.com/office/drawing/2014/main" id="{9461B3B3-95AB-46F6-A280-3412FF281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80" y="3026624"/>
            <a:ext cx="4363656" cy="182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ci, la nature et la cause de l’erreur sont mentionnées, une indication pour en sortir également.">
            <a:extLst>
              <a:ext uri="{FF2B5EF4-FFF2-40B4-BE49-F238E27FC236}">
                <a16:creationId xmlns:a16="http://schemas.microsoft.com/office/drawing/2014/main" id="{DE7A3ADC-EE0E-4B82-BD17-795E2C6E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536" y="2657385"/>
            <a:ext cx="46863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4678F25-EF82-4FEC-A529-B036589AA4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37" b="71115"/>
          <a:stretch/>
        </p:blipFill>
        <p:spPr>
          <a:xfrm>
            <a:off x="5085650" y="2527042"/>
            <a:ext cx="636980" cy="78282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EA81E64-C28C-4411-87C6-C4D48ABC0C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567" b="71417"/>
          <a:stretch/>
        </p:blipFill>
        <p:spPr>
          <a:xfrm>
            <a:off x="11138598" y="2423556"/>
            <a:ext cx="572838" cy="702488"/>
          </a:xfrm>
          <a:prstGeom prst="rect">
            <a:avLst/>
          </a:prstGeom>
        </p:spPr>
      </p:pic>
      <p:sp>
        <p:nvSpPr>
          <p:cNvPr id="18" name="Titre 1">
            <a:extLst>
              <a:ext uri="{FF2B5EF4-FFF2-40B4-BE49-F238E27FC236}">
                <a16:creationId xmlns:a16="http://schemas.microsoft.com/office/drawing/2014/main" id="{4C65B555-1A4A-4793-A4E6-F815A548B6D6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proposer une solution</a:t>
            </a:r>
          </a:p>
        </p:txBody>
      </p:sp>
    </p:spTree>
    <p:extLst>
      <p:ext uri="{BB962C8B-B14F-4D97-AF65-F5344CB8AC3E}">
        <p14:creationId xmlns:p14="http://schemas.microsoft.com/office/powerpoint/2010/main" val="204803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10</a:t>
            </a:fld>
            <a:endParaRPr lang="fr-FR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C3108C8-DE8C-4A9E-8CE3-9FB0EE2C796E}"/>
              </a:ext>
            </a:extLst>
          </p:cNvPr>
          <p:cNvSpPr txBox="1">
            <a:spLocks/>
          </p:cNvSpPr>
          <p:nvPr/>
        </p:nvSpPr>
        <p:spPr>
          <a:xfrm>
            <a:off x="323619" y="267565"/>
            <a:ext cx="1103018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TROUVER LE BON mot : réduire la friction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4678F25-EF82-4FEC-A529-B036589AA4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537" b="71115"/>
          <a:stretch/>
        </p:blipFill>
        <p:spPr>
          <a:xfrm>
            <a:off x="5085650" y="2527042"/>
            <a:ext cx="636980" cy="78282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EA81E64-C28C-4411-87C6-C4D48ABC0C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67" b="71417"/>
          <a:stretch/>
        </p:blipFill>
        <p:spPr>
          <a:xfrm>
            <a:off x="11197937" y="2567212"/>
            <a:ext cx="572838" cy="702488"/>
          </a:xfrm>
          <a:prstGeom prst="rect">
            <a:avLst/>
          </a:prstGeom>
        </p:spPr>
      </p:pic>
      <p:sp>
        <p:nvSpPr>
          <p:cNvPr id="18" name="Titre 1">
            <a:extLst>
              <a:ext uri="{FF2B5EF4-FFF2-40B4-BE49-F238E27FC236}">
                <a16:creationId xmlns:a16="http://schemas.microsoft.com/office/drawing/2014/main" id="{4C65B555-1A4A-4793-A4E6-F815A548B6D6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donner une réponse claire</a:t>
            </a:r>
          </a:p>
        </p:txBody>
      </p:sp>
      <p:pic>
        <p:nvPicPr>
          <p:cNvPr id="10242" name="Picture 2" descr="À l’inverse, des informations difficilement lisibles alourdissent le message.">
            <a:extLst>
              <a:ext uri="{FF2B5EF4-FFF2-40B4-BE49-F238E27FC236}">
                <a16:creationId xmlns:a16="http://schemas.microsoft.com/office/drawing/2014/main" id="{E15D78B4-1482-4234-B52C-52FCD2BB9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22" y="3501148"/>
            <a:ext cx="5089018" cy="148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L’origine de l’erreur est mentionnée, une solution est indiquée.">
            <a:extLst>
              <a:ext uri="{FF2B5EF4-FFF2-40B4-BE49-F238E27FC236}">
                <a16:creationId xmlns:a16="http://schemas.microsoft.com/office/drawing/2014/main" id="{5B0E3390-2F79-4A1A-B2A1-6D0FA7610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862" y="3501148"/>
            <a:ext cx="44100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07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11</a:t>
            </a:fld>
            <a:endParaRPr lang="fr-FR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C3108C8-DE8C-4A9E-8CE3-9FB0EE2C796E}"/>
              </a:ext>
            </a:extLst>
          </p:cNvPr>
          <p:cNvSpPr txBox="1">
            <a:spLocks/>
          </p:cNvSpPr>
          <p:nvPr/>
        </p:nvSpPr>
        <p:spPr>
          <a:xfrm>
            <a:off x="323619" y="267565"/>
            <a:ext cx="1103018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TROUVER LE BON mot : réduire la friction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4C65B555-1A4A-4793-A4E6-F815A548B6D6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le cas de </a:t>
            </a:r>
            <a:r>
              <a:rPr lang="fr-FR" sz="6600" dirty="0" err="1">
                <a:solidFill>
                  <a:schemeClr val="bg1"/>
                </a:solidFill>
              </a:rPr>
              <a:t>LegalStart</a:t>
            </a:r>
            <a:endParaRPr lang="fr-FR" sz="6600" dirty="0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8A1A8D2-EBAE-422F-A133-C229642678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79"/>
          <a:stretch/>
        </p:blipFill>
        <p:spPr>
          <a:xfrm>
            <a:off x="1414462" y="2739159"/>
            <a:ext cx="9363075" cy="332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50535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définir un design system : the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tone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of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voice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12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44A250-40BE-4A3E-864C-C7CB3A01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75" y="1967345"/>
            <a:ext cx="5481450" cy="419330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53025C7-9406-4269-9F81-1FAB5E937ED1}"/>
              </a:ext>
            </a:extLst>
          </p:cNvPr>
          <p:cNvSpPr txBox="1"/>
          <p:nvPr/>
        </p:nvSpPr>
        <p:spPr>
          <a:xfrm>
            <a:off x="261777" y="2254319"/>
            <a:ext cx="5157419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détermine l’identité de votre marque </a:t>
            </a:r>
            <a:endParaRPr lang="fr-FR" sz="2000" b="0" i="0" dirty="0">
              <a:solidFill>
                <a:srgbClr val="4D5156"/>
              </a:solidFill>
              <a:effectLst/>
              <a:latin typeface="Silka" panose="00000500000000000000" pitchFamily="50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0" i="0" dirty="0">
                <a:solidFill>
                  <a:srgbClr val="4D5156"/>
                </a:solidFill>
                <a:effectLst/>
                <a:latin typeface="Silka" panose="00000500000000000000" pitchFamily="50" charset="0"/>
              </a:rPr>
              <a:t>renforce la cohérence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permet à n’importe quel rédacteur de créer du contenu pour la marque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permet de gagner du temps 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08D6C3D-D0D8-4737-9D9A-42FB9755702A}"/>
              </a:ext>
            </a:extLst>
          </p:cNvPr>
          <p:cNvSpPr txBox="1">
            <a:spLocks/>
          </p:cNvSpPr>
          <p:nvPr/>
        </p:nvSpPr>
        <p:spPr>
          <a:xfrm>
            <a:off x="261777" y="6142119"/>
            <a:ext cx="5731444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  <a:latin typeface="Poppins" panose="00000500000000000000" pitchFamily="2" charset="0"/>
              </a:rPr>
              <a:t>a la même fonction que la charte graphique, mais pour le contenu textuel</a:t>
            </a:r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2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150535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définir un design system : the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tone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of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voice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13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3025C7-9406-4269-9F81-1FAB5E937ED1}"/>
              </a:ext>
            </a:extLst>
          </p:cNvPr>
          <p:cNvSpPr txBox="1"/>
          <p:nvPr/>
        </p:nvSpPr>
        <p:spPr>
          <a:xfrm>
            <a:off x="261777" y="4651216"/>
            <a:ext cx="5157419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message de la marque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utilisation d’emojis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taille des paragraphes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formules récurrentes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03A933-04F0-4271-978C-C379CD928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1768"/>
            <a:ext cx="12192000" cy="293511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E0F9F2D-4BE1-4F94-9F7B-E4A8A8CB0C36}"/>
              </a:ext>
            </a:extLst>
          </p:cNvPr>
          <p:cNvSpPr txBox="1"/>
          <p:nvPr/>
        </p:nvSpPr>
        <p:spPr>
          <a:xfrm>
            <a:off x="7184432" y="4651216"/>
            <a:ext cx="5157419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format des heures/dates, prix…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usage de l’impératif/infinitif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interlignes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4D5156"/>
                </a:solidFill>
                <a:latin typeface="Silka" panose="00000500000000000000" pitchFamily="50" charset="0"/>
              </a:rPr>
              <a:t>nom des catégories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4D5156"/>
              </a:solidFill>
              <a:latin typeface="Silka" panose="00000500000000000000" pitchFamily="50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4D5156"/>
              </a:solidFill>
              <a:latin typeface="Silk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8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ne pas écrire ce qu’on ne dirait pas à l’oral</a:t>
            </a:r>
            <a:endParaRPr lang="fr-FR" sz="240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1B51235-7B49-4072-A8B1-D711431C3F8A}"/>
              </a:ext>
            </a:extLst>
          </p:cNvPr>
          <p:cNvSpPr/>
          <p:nvPr/>
        </p:nvSpPr>
        <p:spPr>
          <a:xfrm>
            <a:off x="856183" y="3412838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7752483-6C19-458C-8AA9-00643CB6C8FA}"/>
              </a:ext>
            </a:extLst>
          </p:cNvPr>
          <p:cNvSpPr/>
          <p:nvPr/>
        </p:nvSpPr>
        <p:spPr>
          <a:xfrm>
            <a:off x="7266219" y="3412837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66" name="Picture 2" descr="Icône Tique, linéaire Gratuit de SnipIcons Linear">
            <a:extLst>
              <a:ext uri="{FF2B5EF4-FFF2-40B4-BE49-F238E27FC236}">
                <a16:creationId xmlns:a16="http://schemas.microsoft.com/office/drawing/2014/main" id="{333F579D-8A81-4C69-8943-DB40A16D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76" y="2937237"/>
            <a:ext cx="784115" cy="78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cône De Marque Red X Traverser Le Symbole Vecteurs libres de droits et  plus d&amp;#39;images vectorielles de Lettre X - iStock">
            <a:extLst>
              <a:ext uri="{FF2B5EF4-FFF2-40B4-BE49-F238E27FC236}">
                <a16:creationId xmlns:a16="http://schemas.microsoft.com/office/drawing/2014/main" id="{93F4541F-1550-47A4-93AF-A7437F47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77637" y="2986564"/>
            <a:ext cx="852545" cy="85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F40230-DDAC-4589-BF64-1E2ADBFE5DD9}"/>
              </a:ext>
            </a:extLst>
          </p:cNvPr>
          <p:cNvSpPr txBox="1"/>
          <p:nvPr/>
        </p:nvSpPr>
        <p:spPr>
          <a:xfrm>
            <a:off x="7589491" y="4054901"/>
            <a:ext cx="2964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Bebas Neue" panose="020B0606020202050201" pitchFamily="34" charset="0"/>
              </a:rPr>
              <a:t>exporter PDF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E847B1-AFAE-48BA-8D4A-5892C619E9DD}"/>
              </a:ext>
            </a:extLst>
          </p:cNvPr>
          <p:cNvSpPr txBox="1"/>
          <p:nvPr/>
        </p:nvSpPr>
        <p:spPr>
          <a:xfrm>
            <a:off x="1267112" y="3685569"/>
            <a:ext cx="2964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Bebas Neue" panose="020B0606020202050201" pitchFamily="34" charset="0"/>
              </a:rPr>
              <a:t>Téléchargez le </a:t>
            </a:r>
            <a:r>
              <a:rPr lang="fr-FR" sz="4800" dirty="0" err="1">
                <a:latin typeface="Bebas Neue" panose="020B0606020202050201" pitchFamily="34" charset="0"/>
              </a:rPr>
              <a:t>pdf</a:t>
            </a:r>
            <a:endParaRPr lang="fr-FR" sz="4800" dirty="0"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5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écrire à la voie active</a:t>
            </a:r>
            <a:endParaRPr lang="fr-FR" sz="240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1B51235-7B49-4072-A8B1-D711431C3F8A}"/>
              </a:ext>
            </a:extLst>
          </p:cNvPr>
          <p:cNvSpPr/>
          <p:nvPr/>
        </p:nvSpPr>
        <p:spPr>
          <a:xfrm>
            <a:off x="856183" y="3412838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7752483-6C19-458C-8AA9-00643CB6C8FA}"/>
              </a:ext>
            </a:extLst>
          </p:cNvPr>
          <p:cNvSpPr/>
          <p:nvPr/>
        </p:nvSpPr>
        <p:spPr>
          <a:xfrm>
            <a:off x="7266219" y="3412837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66" name="Picture 2" descr="Icône Tique, linéaire Gratuit de SnipIcons Linear">
            <a:extLst>
              <a:ext uri="{FF2B5EF4-FFF2-40B4-BE49-F238E27FC236}">
                <a16:creationId xmlns:a16="http://schemas.microsoft.com/office/drawing/2014/main" id="{333F579D-8A81-4C69-8943-DB40A16D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76" y="2937237"/>
            <a:ext cx="784115" cy="78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cône De Marque Red X Traverser Le Symbole Vecteurs libres de droits et  plus d&amp;#39;images vectorielles de Lettre X - iStock">
            <a:extLst>
              <a:ext uri="{FF2B5EF4-FFF2-40B4-BE49-F238E27FC236}">
                <a16:creationId xmlns:a16="http://schemas.microsoft.com/office/drawing/2014/main" id="{93F4541F-1550-47A4-93AF-A7437F47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77637" y="2986564"/>
            <a:ext cx="852545" cy="85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F40230-DDAC-4589-BF64-1E2ADBFE5DD9}"/>
              </a:ext>
            </a:extLst>
          </p:cNvPr>
          <p:cNvSpPr txBox="1"/>
          <p:nvPr/>
        </p:nvSpPr>
        <p:spPr>
          <a:xfrm>
            <a:off x="7593109" y="3588972"/>
            <a:ext cx="2964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ebas Neue" panose="020B0606020202050201" pitchFamily="34" charset="0"/>
              </a:rPr>
              <a:t>votre demande est en cours de traitement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E847B1-AFAE-48BA-8D4A-5892C619E9DD}"/>
              </a:ext>
            </a:extLst>
          </p:cNvPr>
          <p:cNvSpPr txBox="1"/>
          <p:nvPr/>
        </p:nvSpPr>
        <p:spPr>
          <a:xfrm>
            <a:off x="1179455" y="3721352"/>
            <a:ext cx="29648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nous traitons votre demande</a:t>
            </a:r>
          </a:p>
        </p:txBody>
      </p:sp>
    </p:spTree>
    <p:extLst>
      <p:ext uri="{BB962C8B-B14F-4D97-AF65-F5344CB8AC3E}">
        <p14:creationId xmlns:p14="http://schemas.microsoft.com/office/powerpoint/2010/main" val="30209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privilégier toujours la valeur et le résultat</a:t>
            </a:r>
            <a:endParaRPr lang="fr-FR" sz="240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1B51235-7B49-4072-A8B1-D711431C3F8A}"/>
              </a:ext>
            </a:extLst>
          </p:cNvPr>
          <p:cNvSpPr/>
          <p:nvPr/>
        </p:nvSpPr>
        <p:spPr>
          <a:xfrm>
            <a:off x="856183" y="3412838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7752483-6C19-458C-8AA9-00643CB6C8FA}"/>
              </a:ext>
            </a:extLst>
          </p:cNvPr>
          <p:cNvSpPr/>
          <p:nvPr/>
        </p:nvSpPr>
        <p:spPr>
          <a:xfrm>
            <a:off x="7266219" y="3412837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66" name="Picture 2" descr="Icône Tique, linéaire Gratuit de SnipIcons Linear">
            <a:extLst>
              <a:ext uri="{FF2B5EF4-FFF2-40B4-BE49-F238E27FC236}">
                <a16:creationId xmlns:a16="http://schemas.microsoft.com/office/drawing/2014/main" id="{333F579D-8A81-4C69-8943-DB40A16D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76" y="2937237"/>
            <a:ext cx="784115" cy="78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cône De Marque Red X Traverser Le Symbole Vecteurs libres de droits et  plus d&amp;#39;images vectorielles de Lettre X - iStock">
            <a:extLst>
              <a:ext uri="{FF2B5EF4-FFF2-40B4-BE49-F238E27FC236}">
                <a16:creationId xmlns:a16="http://schemas.microsoft.com/office/drawing/2014/main" id="{93F4541F-1550-47A4-93AF-A7437F47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77637" y="2986564"/>
            <a:ext cx="852545" cy="85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F40230-DDAC-4589-BF64-1E2ADBFE5DD9}"/>
              </a:ext>
            </a:extLst>
          </p:cNvPr>
          <p:cNvSpPr txBox="1"/>
          <p:nvPr/>
        </p:nvSpPr>
        <p:spPr>
          <a:xfrm>
            <a:off x="7524712" y="3747124"/>
            <a:ext cx="3190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ouvrir le tableau de bord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E847B1-AFAE-48BA-8D4A-5892C619E9DD}"/>
              </a:ext>
            </a:extLst>
          </p:cNvPr>
          <p:cNvSpPr txBox="1"/>
          <p:nvPr/>
        </p:nvSpPr>
        <p:spPr>
          <a:xfrm>
            <a:off x="1267112" y="3685569"/>
            <a:ext cx="2964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Bebas Neue" panose="020B0606020202050201" pitchFamily="34" charset="0"/>
              </a:rPr>
              <a:t>gérer mes </a:t>
            </a:r>
          </a:p>
          <a:p>
            <a:r>
              <a:rPr lang="fr-FR" sz="4800" dirty="0">
                <a:latin typeface="Bebas Neue" panose="020B0606020202050201" pitchFamily="34" charset="0"/>
              </a:rPr>
              <a:t>commandes</a:t>
            </a:r>
          </a:p>
        </p:txBody>
      </p:sp>
    </p:spTree>
    <p:extLst>
      <p:ext uri="{BB962C8B-B14F-4D97-AF65-F5344CB8AC3E}">
        <p14:creationId xmlns:p14="http://schemas.microsoft.com/office/powerpoint/2010/main" val="47152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éviter les acronymes</a:t>
            </a:r>
            <a:endParaRPr lang="fr-FR" sz="240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1B51235-7B49-4072-A8B1-D711431C3F8A}"/>
              </a:ext>
            </a:extLst>
          </p:cNvPr>
          <p:cNvSpPr/>
          <p:nvPr/>
        </p:nvSpPr>
        <p:spPr>
          <a:xfrm>
            <a:off x="856183" y="3412838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7752483-6C19-458C-8AA9-00643CB6C8FA}"/>
              </a:ext>
            </a:extLst>
          </p:cNvPr>
          <p:cNvSpPr/>
          <p:nvPr/>
        </p:nvSpPr>
        <p:spPr>
          <a:xfrm>
            <a:off x="7266219" y="3412837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66" name="Picture 2" descr="Icône Tique, linéaire Gratuit de SnipIcons Linear">
            <a:extLst>
              <a:ext uri="{FF2B5EF4-FFF2-40B4-BE49-F238E27FC236}">
                <a16:creationId xmlns:a16="http://schemas.microsoft.com/office/drawing/2014/main" id="{333F579D-8A81-4C69-8943-DB40A16D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76" y="2937237"/>
            <a:ext cx="784115" cy="78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cône De Marque Red X Traverser Le Symbole Vecteurs libres de droits et  plus d&amp;#39;images vectorielles de Lettre X - iStock">
            <a:extLst>
              <a:ext uri="{FF2B5EF4-FFF2-40B4-BE49-F238E27FC236}">
                <a16:creationId xmlns:a16="http://schemas.microsoft.com/office/drawing/2014/main" id="{93F4541F-1550-47A4-93AF-A7437F47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77637" y="2986564"/>
            <a:ext cx="852545" cy="85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F40230-DDAC-4589-BF64-1E2ADBFE5DD9}"/>
              </a:ext>
            </a:extLst>
          </p:cNvPr>
          <p:cNvSpPr txBox="1"/>
          <p:nvPr/>
        </p:nvSpPr>
        <p:spPr>
          <a:xfrm>
            <a:off x="8688494" y="4085677"/>
            <a:ext cx="3190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FAQ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E847B1-AFAE-48BA-8D4A-5892C619E9DD}"/>
              </a:ext>
            </a:extLst>
          </p:cNvPr>
          <p:cNvSpPr txBox="1"/>
          <p:nvPr/>
        </p:nvSpPr>
        <p:spPr>
          <a:xfrm>
            <a:off x="1110602" y="4054900"/>
            <a:ext cx="3170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Bebas Neue" panose="020B0606020202050201" pitchFamily="34" charset="0"/>
              </a:rPr>
              <a:t>besoin d’aide ?</a:t>
            </a:r>
          </a:p>
        </p:txBody>
      </p:sp>
    </p:spTree>
    <p:extLst>
      <p:ext uri="{BB962C8B-B14F-4D97-AF65-F5344CB8AC3E}">
        <p14:creationId xmlns:p14="http://schemas.microsoft.com/office/powerpoint/2010/main" val="156233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rester cohérent</a:t>
            </a:r>
            <a:endParaRPr lang="fr-FR" sz="2400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1B51235-7B49-4072-A8B1-D711431C3F8A}"/>
              </a:ext>
            </a:extLst>
          </p:cNvPr>
          <p:cNvSpPr/>
          <p:nvPr/>
        </p:nvSpPr>
        <p:spPr>
          <a:xfrm>
            <a:off x="798840" y="2153705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7752483-6C19-458C-8AA9-00643CB6C8FA}"/>
              </a:ext>
            </a:extLst>
          </p:cNvPr>
          <p:cNvSpPr/>
          <p:nvPr/>
        </p:nvSpPr>
        <p:spPr>
          <a:xfrm>
            <a:off x="7208876" y="2153704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266" name="Picture 2" descr="Icône Tique, linéaire Gratuit de SnipIcons Linear">
            <a:extLst>
              <a:ext uri="{FF2B5EF4-FFF2-40B4-BE49-F238E27FC236}">
                <a16:creationId xmlns:a16="http://schemas.microsoft.com/office/drawing/2014/main" id="{333F579D-8A81-4C69-8943-DB40A16D4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333" y="1678104"/>
            <a:ext cx="784115" cy="78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cône De Marque Red X Traverser Le Symbole Vecteurs libres de droits et  plus d&amp;#39;images vectorielles de Lettre X - iStock">
            <a:extLst>
              <a:ext uri="{FF2B5EF4-FFF2-40B4-BE49-F238E27FC236}">
                <a16:creationId xmlns:a16="http://schemas.microsoft.com/office/drawing/2014/main" id="{93F4541F-1550-47A4-93AF-A7437F47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20294" y="1727431"/>
            <a:ext cx="852545" cy="85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F40230-DDAC-4589-BF64-1E2ADBFE5DD9}"/>
              </a:ext>
            </a:extLst>
          </p:cNvPr>
          <p:cNvSpPr txBox="1"/>
          <p:nvPr/>
        </p:nvSpPr>
        <p:spPr>
          <a:xfrm>
            <a:off x="7572887" y="2465023"/>
            <a:ext cx="3190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changer votre mot de passe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E847B1-AFAE-48BA-8D4A-5892C619E9DD}"/>
              </a:ext>
            </a:extLst>
          </p:cNvPr>
          <p:cNvSpPr txBox="1"/>
          <p:nvPr/>
        </p:nvSpPr>
        <p:spPr>
          <a:xfrm>
            <a:off x="1191099" y="2417819"/>
            <a:ext cx="31708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changer mon mot de passe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E91A49A-1E34-4318-8569-B52E50D23814}"/>
              </a:ext>
            </a:extLst>
          </p:cNvPr>
          <p:cNvSpPr/>
          <p:nvPr/>
        </p:nvSpPr>
        <p:spPr>
          <a:xfrm>
            <a:off x="798840" y="4456738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3E35FC8-328C-49C9-8168-46BA8C011857}"/>
              </a:ext>
            </a:extLst>
          </p:cNvPr>
          <p:cNvSpPr/>
          <p:nvPr/>
        </p:nvSpPr>
        <p:spPr>
          <a:xfrm>
            <a:off x="7208876" y="4456737"/>
            <a:ext cx="3611418" cy="21151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3C8D97B-EF51-4A9C-BCD2-0F60278177E3}"/>
              </a:ext>
            </a:extLst>
          </p:cNvPr>
          <p:cNvSpPr txBox="1"/>
          <p:nvPr/>
        </p:nvSpPr>
        <p:spPr>
          <a:xfrm>
            <a:off x="1191099" y="5182614"/>
            <a:ext cx="3170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mon compte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D5EB77E-E0A2-4DD4-947A-A4A5D6D34E7A}"/>
              </a:ext>
            </a:extLst>
          </p:cNvPr>
          <p:cNvSpPr txBox="1"/>
          <p:nvPr/>
        </p:nvSpPr>
        <p:spPr>
          <a:xfrm>
            <a:off x="7830029" y="5129579"/>
            <a:ext cx="3170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ebas Neue" panose="020B0606020202050201" pitchFamily="34" charset="0"/>
              </a:rPr>
              <a:t>mon compte</a:t>
            </a:r>
          </a:p>
        </p:txBody>
      </p:sp>
    </p:spTree>
    <p:extLst>
      <p:ext uri="{BB962C8B-B14F-4D97-AF65-F5344CB8AC3E}">
        <p14:creationId xmlns:p14="http://schemas.microsoft.com/office/powerpoint/2010/main" val="37333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la démarche content first</a:t>
            </a:r>
            <a:endParaRPr lang="fr-FR" sz="2400" dirty="0"/>
          </a:p>
        </p:txBody>
      </p:sp>
      <p:pic>
        <p:nvPicPr>
          <p:cNvPr id="15362" name="Picture 2" descr="Content first : le contenu d&amp;#39;abord ! - Blog Concept Image">
            <a:extLst>
              <a:ext uri="{FF2B5EF4-FFF2-40B4-BE49-F238E27FC236}">
                <a16:creationId xmlns:a16="http://schemas.microsoft.com/office/drawing/2014/main" id="{114B5EA2-306C-423B-842E-164D85168B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429" y="2591576"/>
            <a:ext cx="7909142" cy="348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825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bonnes pratiques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writing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inclure l’UX </a:t>
            </a:r>
            <a:r>
              <a:rPr lang="fr-FR" sz="2400" dirty="0" err="1">
                <a:solidFill>
                  <a:srgbClr val="303030"/>
                </a:solidFill>
              </a:rPr>
              <a:t>writing</a:t>
            </a:r>
            <a:r>
              <a:rPr lang="fr-FR" sz="2400" dirty="0">
                <a:solidFill>
                  <a:srgbClr val="303030"/>
                </a:solidFill>
              </a:rPr>
              <a:t> dès le début de la phase de conception</a:t>
            </a:r>
            <a:endParaRPr lang="fr-FR" sz="2400" dirty="0"/>
          </a:p>
        </p:txBody>
      </p:sp>
      <p:pic>
        <p:nvPicPr>
          <p:cNvPr id="12290" name="Picture 2" descr="The great content conundrum - UXM">
            <a:extLst>
              <a:ext uri="{FF2B5EF4-FFF2-40B4-BE49-F238E27FC236}">
                <a16:creationId xmlns:a16="http://schemas.microsoft.com/office/drawing/2014/main" id="{7FD2CFD0-255A-4C09-80B6-2E5CFB0CF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269" y="2159958"/>
            <a:ext cx="4920336" cy="451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378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cas de back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market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4027339-215D-467E-B753-0B3B1379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200" y="1821785"/>
            <a:ext cx="4000347" cy="477852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D864A99-39BD-4AB4-A811-99177AAF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53" y="1821785"/>
            <a:ext cx="3917057" cy="477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1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3829414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Poppins" panose="00000500000000000000" pitchFamily="2" charset="0"/>
              </a:rPr>
              <a:t>processus de prototypage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Poppins" panose="00000500000000000000" pitchFamily="2" charset="0"/>
              </a:rPr>
              <a:t>wireframe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E1C059-12D6-45B8-AF6B-8266F86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646436-9056-4EE3-A6CD-0EE5846C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418</Words>
  <Application>Microsoft Office PowerPoint</Application>
  <PresentationFormat>Grand écran</PresentationFormat>
  <Paragraphs>91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9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Fayçal Sellam</dc:creator>
  <cp:lastModifiedBy>AKOUCHE Adel</cp:lastModifiedBy>
  <cp:revision>6</cp:revision>
  <dcterms:created xsi:type="dcterms:W3CDTF">2021-11-18T01:12:42Z</dcterms:created>
  <dcterms:modified xsi:type="dcterms:W3CDTF">2023-04-04T12:53:41Z</dcterms:modified>
</cp:coreProperties>
</file>