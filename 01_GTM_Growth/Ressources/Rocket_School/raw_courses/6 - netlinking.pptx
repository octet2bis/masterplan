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35" r:id="rId3"/>
    <p:sldId id="330" r:id="rId4"/>
    <p:sldId id="331" r:id="rId5"/>
    <p:sldId id="336" r:id="rId6"/>
    <p:sldId id="332"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8" r:id="rId38"/>
    <p:sldId id="369" r:id="rId39"/>
    <p:sldId id="367" r:id="rId40"/>
    <p:sldId id="370" r:id="rId41"/>
    <p:sldId id="371" r:id="rId42"/>
    <p:sldId id="372" r:id="rId43"/>
    <p:sldId id="373" r:id="rId44"/>
    <p:sldId id="374" r:id="rId45"/>
    <p:sldId id="265" r:id="rId46"/>
    <p:sldId id="321"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9E"/>
    <a:srgbClr val="1871A9"/>
    <a:srgbClr val="BEC2E8"/>
    <a:srgbClr val="B4C7E7"/>
    <a:srgbClr val="1F4E79"/>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BC1DB-F904-4ED4-91EC-ED869F3FE908}" type="datetimeFigureOut">
              <a:rPr lang="fr-FR" smtClean="0"/>
              <a:t>01/12/2023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77C7D-0C16-438B-AA37-6324CDB8250F}" type="slidenum">
              <a:rPr lang="fr-FR" smtClean="0"/>
              <a:t>‹N°›</a:t>
            </a:fld>
            <a:endParaRPr lang="fr-FR"/>
          </a:p>
        </p:txBody>
      </p:sp>
    </p:spTree>
    <p:extLst>
      <p:ext uri="{BB962C8B-B14F-4D97-AF65-F5344CB8AC3E}">
        <p14:creationId xmlns:p14="http://schemas.microsoft.com/office/powerpoint/2010/main" val="967296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29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A1499D-1446-4E04-AAE9-0F53FA0E42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834F14D-AFF3-470D-9806-087CEC0715A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EE0A6ED-3CC6-4D50-9CFE-05B3EBC501A5}"/>
              </a:ext>
            </a:extLst>
          </p:cNvPr>
          <p:cNvSpPr>
            <a:spLocks noGrp="1"/>
          </p:cNvSpPr>
          <p:nvPr>
            <p:ph type="dt" sz="half" idx="10"/>
          </p:nvPr>
        </p:nvSpPr>
        <p:spPr/>
        <p:txBody>
          <a:bodyPr/>
          <a:lstStyle/>
          <a:p>
            <a:fld id="{17E85E6A-7D02-4E43-8ACA-C8662A82C9C4}" type="datetime1">
              <a:rPr lang="fr-FR" smtClean="0"/>
              <a:t>01/12/2023</a:t>
            </a:fld>
            <a:endParaRPr lang="fr-FR"/>
          </a:p>
        </p:txBody>
      </p:sp>
      <p:sp>
        <p:nvSpPr>
          <p:cNvPr id="5" name="Espace réservé du pied de page 4">
            <a:extLst>
              <a:ext uri="{FF2B5EF4-FFF2-40B4-BE49-F238E27FC236}">
                <a16:creationId xmlns:a16="http://schemas.microsoft.com/office/drawing/2014/main" id="{4F890BC0-0958-4CAE-95AE-5D71BF12E1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D66F5F-8328-4338-AC3F-32239B5C7C3D}"/>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4156198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48302-A599-4833-AFC0-1323DBCA671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F26B1E1-2F99-4DEF-9452-DD20A9E987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D01FB8-A82C-49BF-9B46-6E439F44A7D4}"/>
              </a:ext>
            </a:extLst>
          </p:cNvPr>
          <p:cNvSpPr>
            <a:spLocks noGrp="1"/>
          </p:cNvSpPr>
          <p:nvPr>
            <p:ph type="dt" sz="half" idx="10"/>
          </p:nvPr>
        </p:nvSpPr>
        <p:spPr/>
        <p:txBody>
          <a:bodyPr/>
          <a:lstStyle/>
          <a:p>
            <a:fld id="{38C07CDB-0744-4C76-93AB-E8B7EE07BA7F}" type="datetime1">
              <a:rPr lang="fr-FR" smtClean="0"/>
              <a:t>01/12/2023</a:t>
            </a:fld>
            <a:endParaRPr lang="fr-FR"/>
          </a:p>
        </p:txBody>
      </p:sp>
      <p:sp>
        <p:nvSpPr>
          <p:cNvPr id="5" name="Espace réservé du pied de page 4">
            <a:extLst>
              <a:ext uri="{FF2B5EF4-FFF2-40B4-BE49-F238E27FC236}">
                <a16:creationId xmlns:a16="http://schemas.microsoft.com/office/drawing/2014/main" id="{59B381A4-F05D-4CF1-BBFA-7932ECE608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891D034-9C23-435C-991A-F06A33900533}"/>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3967327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74BE04-6C9D-4EAD-BE8B-D94772788A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35BF750-F6A3-4EE1-B9AA-1BAFCDAA230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1EDE41D-71C0-45B1-8D96-ECBA40957B4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B619CCB-53F4-46FD-9ED6-652BDF61706A}"/>
              </a:ext>
            </a:extLst>
          </p:cNvPr>
          <p:cNvSpPr>
            <a:spLocks noGrp="1"/>
          </p:cNvSpPr>
          <p:nvPr>
            <p:ph type="dt" sz="half" idx="10"/>
          </p:nvPr>
        </p:nvSpPr>
        <p:spPr/>
        <p:txBody>
          <a:bodyPr/>
          <a:lstStyle/>
          <a:p>
            <a:fld id="{36F20AA8-DB14-44C6-956E-F6E0EEAD56F9}" type="datetime1">
              <a:rPr lang="fr-FR" smtClean="0"/>
              <a:t>01/12/2023</a:t>
            </a:fld>
            <a:endParaRPr lang="fr-FR"/>
          </a:p>
        </p:txBody>
      </p:sp>
      <p:sp>
        <p:nvSpPr>
          <p:cNvPr id="6" name="Espace réservé du pied de page 5">
            <a:extLst>
              <a:ext uri="{FF2B5EF4-FFF2-40B4-BE49-F238E27FC236}">
                <a16:creationId xmlns:a16="http://schemas.microsoft.com/office/drawing/2014/main" id="{8F918141-0A9D-4E94-8BF9-58166F39F99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5443D87-8997-4BC2-A259-8FD4500D3B83}"/>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3796089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C3BF19-4476-4566-9CEC-3E2E626D3FD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69F6A3E-7141-4F74-BDA1-96690C7526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E641606-4939-4363-A8A2-26AFCBDA34C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676DEDB-0060-4A12-88A2-CFA6C3E00F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9DA22D7-639D-4375-948A-DD772BA06A9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FE85279-70F7-4898-BABF-33CAF59F2C88}"/>
              </a:ext>
            </a:extLst>
          </p:cNvPr>
          <p:cNvSpPr>
            <a:spLocks noGrp="1"/>
          </p:cNvSpPr>
          <p:nvPr>
            <p:ph type="dt" sz="half" idx="10"/>
          </p:nvPr>
        </p:nvSpPr>
        <p:spPr/>
        <p:txBody>
          <a:bodyPr/>
          <a:lstStyle/>
          <a:p>
            <a:fld id="{A084878F-7FAE-40E5-87E0-15E2E5B585C8}" type="datetime1">
              <a:rPr lang="fr-FR" smtClean="0"/>
              <a:t>01/12/2023</a:t>
            </a:fld>
            <a:endParaRPr lang="fr-FR"/>
          </a:p>
        </p:txBody>
      </p:sp>
      <p:sp>
        <p:nvSpPr>
          <p:cNvPr id="8" name="Espace réservé du pied de page 7">
            <a:extLst>
              <a:ext uri="{FF2B5EF4-FFF2-40B4-BE49-F238E27FC236}">
                <a16:creationId xmlns:a16="http://schemas.microsoft.com/office/drawing/2014/main" id="{3ED99652-4A05-49D9-9BEC-E92BDF55CF8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CBAE0A0-FCC4-4F4C-8F90-12132C83F8E6}"/>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25364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005936-6A3A-4300-ACFE-EEDFBC97087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68909AB-093A-4BCB-9825-82200B0AD5C6}"/>
              </a:ext>
            </a:extLst>
          </p:cNvPr>
          <p:cNvSpPr>
            <a:spLocks noGrp="1"/>
          </p:cNvSpPr>
          <p:nvPr>
            <p:ph type="dt" sz="half" idx="10"/>
          </p:nvPr>
        </p:nvSpPr>
        <p:spPr/>
        <p:txBody>
          <a:bodyPr/>
          <a:lstStyle/>
          <a:p>
            <a:fld id="{27AE2122-D94C-419B-8AC0-48C98DAE3707}" type="datetime1">
              <a:rPr lang="fr-FR" smtClean="0"/>
              <a:t>01/12/2023</a:t>
            </a:fld>
            <a:endParaRPr lang="fr-FR"/>
          </a:p>
        </p:txBody>
      </p:sp>
      <p:sp>
        <p:nvSpPr>
          <p:cNvPr id="4" name="Espace réservé du pied de page 3">
            <a:extLst>
              <a:ext uri="{FF2B5EF4-FFF2-40B4-BE49-F238E27FC236}">
                <a16:creationId xmlns:a16="http://schemas.microsoft.com/office/drawing/2014/main" id="{E1D1FF6E-F117-4151-9947-B6E031BBDA4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EFBC609-8C3A-4465-A7A9-2F6436572849}"/>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82311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AFA2BCE-5BE9-4F89-9981-DCBA0F851A59}"/>
              </a:ext>
            </a:extLst>
          </p:cNvPr>
          <p:cNvSpPr>
            <a:spLocks noGrp="1"/>
          </p:cNvSpPr>
          <p:nvPr>
            <p:ph type="dt" sz="half" idx="10"/>
          </p:nvPr>
        </p:nvSpPr>
        <p:spPr/>
        <p:txBody>
          <a:bodyPr/>
          <a:lstStyle/>
          <a:p>
            <a:fld id="{0FADC048-C528-4723-899C-F8862751532C}" type="datetime1">
              <a:rPr lang="fr-FR" smtClean="0"/>
              <a:t>01/12/2023</a:t>
            </a:fld>
            <a:endParaRPr lang="fr-FR"/>
          </a:p>
        </p:txBody>
      </p:sp>
      <p:sp>
        <p:nvSpPr>
          <p:cNvPr id="3" name="Espace réservé du pied de page 2">
            <a:extLst>
              <a:ext uri="{FF2B5EF4-FFF2-40B4-BE49-F238E27FC236}">
                <a16:creationId xmlns:a16="http://schemas.microsoft.com/office/drawing/2014/main" id="{F3398552-706C-48C2-9C3B-288B6BF4672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AC78B2F-BF9F-4817-A1EC-58AACDA03E76}"/>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39782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CCA24E-0E39-467C-916D-53B9FDD46F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30F977B-0F1A-481B-BD1B-6D44FDC99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6AB8AC9-5CC7-4EFC-AC0B-049F6B531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861F640-386A-443B-9708-A314D79A4A95}"/>
              </a:ext>
            </a:extLst>
          </p:cNvPr>
          <p:cNvSpPr>
            <a:spLocks noGrp="1"/>
          </p:cNvSpPr>
          <p:nvPr>
            <p:ph type="dt" sz="half" idx="10"/>
          </p:nvPr>
        </p:nvSpPr>
        <p:spPr/>
        <p:txBody>
          <a:bodyPr/>
          <a:lstStyle/>
          <a:p>
            <a:fld id="{7BFDB301-81F5-4238-9A43-07B17721BF85}" type="datetime1">
              <a:rPr lang="fr-FR" smtClean="0"/>
              <a:t>01/12/2023</a:t>
            </a:fld>
            <a:endParaRPr lang="fr-FR"/>
          </a:p>
        </p:txBody>
      </p:sp>
      <p:sp>
        <p:nvSpPr>
          <p:cNvPr id="6" name="Espace réservé du pied de page 5">
            <a:extLst>
              <a:ext uri="{FF2B5EF4-FFF2-40B4-BE49-F238E27FC236}">
                <a16:creationId xmlns:a16="http://schemas.microsoft.com/office/drawing/2014/main" id="{C5003D8C-9F88-4936-9468-91149B2495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623694-DF0C-435A-BB75-84F6A1AC4B19}"/>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2474967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2B3396-1F2B-45BB-9282-0B4FE836536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B2F398F-574C-4D62-8764-1B26989DC0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F561EB9-22A7-4F64-9F59-5384144525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4A1BBA3-F8C2-47EF-9602-1859C8BD43FB}"/>
              </a:ext>
            </a:extLst>
          </p:cNvPr>
          <p:cNvSpPr>
            <a:spLocks noGrp="1"/>
          </p:cNvSpPr>
          <p:nvPr>
            <p:ph type="dt" sz="half" idx="10"/>
          </p:nvPr>
        </p:nvSpPr>
        <p:spPr/>
        <p:txBody>
          <a:bodyPr/>
          <a:lstStyle/>
          <a:p>
            <a:fld id="{C7D57BB0-3357-4204-92CF-43C04F4FFA1E}" type="datetime1">
              <a:rPr lang="fr-FR" smtClean="0"/>
              <a:t>01/12/2023</a:t>
            </a:fld>
            <a:endParaRPr lang="fr-FR"/>
          </a:p>
        </p:txBody>
      </p:sp>
      <p:sp>
        <p:nvSpPr>
          <p:cNvPr id="6" name="Espace réservé du pied de page 5">
            <a:extLst>
              <a:ext uri="{FF2B5EF4-FFF2-40B4-BE49-F238E27FC236}">
                <a16:creationId xmlns:a16="http://schemas.microsoft.com/office/drawing/2014/main" id="{B7C8D5AD-91DD-4E1F-A09C-68524B54511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98CCBFB-DDBE-4AC6-A4D7-8CCAC312B95B}"/>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193661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DEBE9-5F4A-4E6C-82C1-1C8B596EBE6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9EA56B5-35C9-4DC0-8FA1-CA2D97A5E0B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7B836D0-8478-4982-98F6-A6F7CE0FB980}"/>
              </a:ext>
            </a:extLst>
          </p:cNvPr>
          <p:cNvSpPr>
            <a:spLocks noGrp="1"/>
          </p:cNvSpPr>
          <p:nvPr>
            <p:ph type="dt" sz="half" idx="10"/>
          </p:nvPr>
        </p:nvSpPr>
        <p:spPr/>
        <p:txBody>
          <a:bodyPr/>
          <a:lstStyle/>
          <a:p>
            <a:fld id="{D50FAB57-D298-4856-B02B-0F4A6F0F600A}" type="datetime1">
              <a:rPr lang="fr-FR" smtClean="0"/>
              <a:t>01/12/2023</a:t>
            </a:fld>
            <a:endParaRPr lang="fr-FR"/>
          </a:p>
        </p:txBody>
      </p:sp>
      <p:sp>
        <p:nvSpPr>
          <p:cNvPr id="5" name="Espace réservé du pied de page 4">
            <a:extLst>
              <a:ext uri="{FF2B5EF4-FFF2-40B4-BE49-F238E27FC236}">
                <a16:creationId xmlns:a16="http://schemas.microsoft.com/office/drawing/2014/main" id="{970965E9-FCB0-4F5B-897D-EC9F06E9D6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546CC1-9BDA-4375-9ED5-7702CA10FB48}"/>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47877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DF4DBC5-0857-406F-9B0B-49EE0E31F68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B849488-7657-4758-AB53-3F1256341D9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95FD13-E122-4E58-9D68-7E93E06BC0AE}"/>
              </a:ext>
            </a:extLst>
          </p:cNvPr>
          <p:cNvSpPr>
            <a:spLocks noGrp="1"/>
          </p:cNvSpPr>
          <p:nvPr>
            <p:ph type="dt" sz="half" idx="10"/>
          </p:nvPr>
        </p:nvSpPr>
        <p:spPr/>
        <p:txBody>
          <a:bodyPr/>
          <a:lstStyle/>
          <a:p>
            <a:fld id="{F2C1997B-FC33-4AAC-B47C-BAF6E4E8D9E7}" type="datetime1">
              <a:rPr lang="fr-FR" smtClean="0"/>
              <a:t>01/12/2023</a:t>
            </a:fld>
            <a:endParaRPr lang="fr-FR"/>
          </a:p>
        </p:txBody>
      </p:sp>
      <p:sp>
        <p:nvSpPr>
          <p:cNvPr id="5" name="Espace réservé du pied de page 4">
            <a:extLst>
              <a:ext uri="{FF2B5EF4-FFF2-40B4-BE49-F238E27FC236}">
                <a16:creationId xmlns:a16="http://schemas.microsoft.com/office/drawing/2014/main" id="{17A1DE80-EC4A-4FC8-B448-4740784752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ADACE03-8677-4602-9797-9DC1BC5A9D9C}"/>
              </a:ext>
            </a:extLst>
          </p:cNvPr>
          <p:cNvSpPr>
            <a:spLocks noGrp="1"/>
          </p:cNvSpPr>
          <p:nvPr>
            <p:ph type="sldNum" sz="quarter" idx="12"/>
          </p:nvPr>
        </p:nvSpPr>
        <p:spPr/>
        <p:txBody>
          <a:bodyPr/>
          <a:lstStyle/>
          <a:p>
            <a:fld id="{B5C50E92-4701-4803-BF4A-1BCEAA5421B4}" type="slidenum">
              <a:rPr lang="fr-FR" smtClean="0"/>
              <a:t>‹N°›</a:t>
            </a:fld>
            <a:endParaRPr lang="fr-FR"/>
          </a:p>
        </p:txBody>
      </p:sp>
    </p:spTree>
    <p:extLst>
      <p:ext uri="{BB962C8B-B14F-4D97-AF65-F5344CB8AC3E}">
        <p14:creationId xmlns:p14="http://schemas.microsoft.com/office/powerpoint/2010/main" val="1101919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791F028-C547-4C15-94D4-F4111DCF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69FA9BE-FB49-4241-BAA1-3B6716B0B7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A40CB4-D352-442A-9B62-8BF3647B83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7D251-361F-4C2E-81DA-2E7DDCD8F7D5}" type="datetime1">
              <a:rPr lang="fr-FR" smtClean="0"/>
              <a:t>01/12/2023</a:t>
            </a:fld>
            <a:endParaRPr lang="fr-FR"/>
          </a:p>
        </p:txBody>
      </p:sp>
      <p:sp>
        <p:nvSpPr>
          <p:cNvPr id="5" name="Espace réservé du pied de page 4">
            <a:extLst>
              <a:ext uri="{FF2B5EF4-FFF2-40B4-BE49-F238E27FC236}">
                <a16:creationId xmlns:a16="http://schemas.microsoft.com/office/drawing/2014/main" id="{A6ADD21E-12B4-4E60-A942-4339717CB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8BEF094-F7FD-48CB-8D1D-5C0AFA2C3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C50E92-4701-4803-BF4A-1BCEAA5421B4}" type="slidenum">
              <a:rPr lang="fr-FR" smtClean="0"/>
              <a:t>‹N°›</a:t>
            </a:fld>
            <a:endParaRPr lang="fr-FR"/>
          </a:p>
        </p:txBody>
      </p:sp>
    </p:spTree>
    <p:extLst>
      <p:ext uri="{BB962C8B-B14F-4D97-AF65-F5344CB8AC3E}">
        <p14:creationId xmlns:p14="http://schemas.microsoft.com/office/powerpoint/2010/main" val="18807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hoth.com/link-outreach/" TargetMode="External"/><Relationship Id="rId2" Type="http://schemas.openxmlformats.org/officeDocument/2006/relationships/hyperlink" Target="https://www.icopify.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7081284"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Titre 1">
            <a:extLst>
              <a:ext uri="{FF2B5EF4-FFF2-40B4-BE49-F238E27FC236}">
                <a16:creationId xmlns:a16="http://schemas.microsoft.com/office/drawing/2014/main" id="{32D7DE57-EA08-41D9-972C-F0579F99CBA5}"/>
              </a:ext>
            </a:extLst>
          </p:cNvPr>
          <p:cNvSpPr txBox="1">
            <a:spLocks/>
          </p:cNvSpPr>
          <p:nvPr/>
        </p:nvSpPr>
        <p:spPr>
          <a:xfrm>
            <a:off x="453311" y="215703"/>
            <a:ext cx="5745470" cy="238760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dirty="0"/>
              <a:t>introduction au SEO</a:t>
            </a:r>
          </a:p>
        </p:txBody>
      </p:sp>
      <p:sp>
        <p:nvSpPr>
          <p:cNvPr id="9" name="Espace réservé de la date 3">
            <a:extLst>
              <a:ext uri="{FF2B5EF4-FFF2-40B4-BE49-F238E27FC236}">
                <a16:creationId xmlns:a16="http://schemas.microsoft.com/office/drawing/2014/main" id="{C6E2C8AC-AFB2-4A02-A569-68D2D194B9DD}"/>
              </a:ext>
            </a:extLst>
          </p:cNvPr>
          <p:cNvSpPr txBox="1">
            <a:spLocks/>
          </p:cNvSpPr>
          <p:nvPr/>
        </p:nvSpPr>
        <p:spPr>
          <a:xfrm>
            <a:off x="274502" y="6356350"/>
            <a:ext cx="2743200" cy="365125"/>
          </a:xfrm>
          <a:prstGeom prst="rect">
            <a:avLst/>
          </a:prstGeom>
        </p:spPr>
        <p:txBody>
          <a:bodyPr/>
          <a:lstStyle>
            <a:defPPr>
              <a:defRPr lang="fr-FR"/>
            </a:defPPr>
            <a:lvl1pPr marL="0" algn="l" defTabSz="914400" rtl="0" eaLnBrk="1" latinLnBrk="0" hangingPunct="1">
              <a:defRPr sz="1600" kern="1200">
                <a:solidFill>
                  <a:schemeClr val="tx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Silka" panose="00000500000000000000" pitchFamily="50" charset="0"/>
              </a:rPr>
              <a:t>FS Consulting </a:t>
            </a:r>
          </a:p>
        </p:txBody>
      </p:sp>
      <p:sp>
        <p:nvSpPr>
          <p:cNvPr id="10" name="Espace réservé du numéro de diapositive 5">
            <a:extLst>
              <a:ext uri="{FF2B5EF4-FFF2-40B4-BE49-F238E27FC236}">
                <a16:creationId xmlns:a16="http://schemas.microsoft.com/office/drawing/2014/main" id="{C8DA517E-F120-4AA3-8829-AE4F48BF9D63}"/>
              </a:ext>
            </a:extLst>
          </p:cNvPr>
          <p:cNvSpPr txBox="1">
            <a:spLocks/>
          </p:cNvSpPr>
          <p:nvPr/>
        </p:nvSpPr>
        <p:spPr>
          <a:xfrm>
            <a:off x="10374903" y="6356350"/>
            <a:ext cx="1817097" cy="365125"/>
          </a:xfrm>
          <a:prstGeom prst="rect">
            <a:avLst/>
          </a:prstGeom>
        </p:spPr>
        <p:txBody>
          <a:bodyPr/>
          <a:lstStyle>
            <a:defPPr>
              <a:defRPr lang="fr-FR"/>
            </a:defPPr>
            <a:lvl1pPr marL="0" algn="l" defTabSz="914400" rtl="0" eaLnBrk="1" latinLnBrk="0" hangingPunct="1">
              <a:defRPr sz="18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Silka" panose="00000500000000000000" pitchFamily="50" charset="0"/>
              </a:rPr>
              <a:t>Rocket </a:t>
            </a:r>
            <a:r>
              <a:rPr lang="fr-FR" sz="1200" dirty="0" err="1">
                <a:latin typeface="Silka" panose="00000500000000000000" pitchFamily="50" charset="0"/>
              </a:rPr>
              <a:t>School</a:t>
            </a:r>
            <a:r>
              <a:rPr lang="fr-FR" sz="1200" dirty="0">
                <a:latin typeface="Silka" panose="00000500000000000000" pitchFamily="50" charset="0"/>
              </a:rPr>
              <a:t> Paris</a:t>
            </a:r>
          </a:p>
        </p:txBody>
      </p:sp>
      <p:sp>
        <p:nvSpPr>
          <p:cNvPr id="11" name="Titre 1">
            <a:extLst>
              <a:ext uri="{FF2B5EF4-FFF2-40B4-BE49-F238E27FC236}">
                <a16:creationId xmlns:a16="http://schemas.microsoft.com/office/drawing/2014/main" id="{90A8216A-4EFD-4310-822D-2D52E24AE1B7}"/>
              </a:ext>
            </a:extLst>
          </p:cNvPr>
          <p:cNvSpPr txBox="1">
            <a:spLocks/>
          </p:cNvSpPr>
          <p:nvPr/>
        </p:nvSpPr>
        <p:spPr>
          <a:xfrm>
            <a:off x="144967" y="4391209"/>
            <a:ext cx="68512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Chapitre 6 : </a:t>
            </a:r>
          </a:p>
          <a:p>
            <a:r>
              <a:rPr lang="fr-FR" sz="6000" dirty="0">
                <a:solidFill>
                  <a:schemeClr val="tx1">
                    <a:lumMod val="85000"/>
                    <a:lumOff val="15000"/>
                  </a:schemeClr>
                </a:solidFill>
                <a:latin typeface="Bebas Neue" panose="020B0606020202050201" pitchFamily="34" charset="0"/>
              </a:rPr>
              <a:t>netlinking</a:t>
            </a:r>
          </a:p>
        </p:txBody>
      </p:sp>
      <p:pic>
        <p:nvPicPr>
          <p:cNvPr id="12" name="Picture 2" descr="École de Marketing, Customer Success et Vente nouvelle génération | Rocket  School">
            <a:extLst>
              <a:ext uri="{FF2B5EF4-FFF2-40B4-BE49-F238E27FC236}">
                <a16:creationId xmlns:a16="http://schemas.microsoft.com/office/drawing/2014/main" id="{4FC9F2F4-AB66-4486-A0A4-4E524E89B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1458" y="554440"/>
            <a:ext cx="2804774" cy="98728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9060305A-CB28-4182-807A-8A1B30341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9766" y="4586709"/>
            <a:ext cx="2456466" cy="1532190"/>
          </a:xfrm>
          <a:prstGeom prst="rect">
            <a:avLst/>
          </a:prstGeom>
        </p:spPr>
      </p:pic>
    </p:spTree>
    <p:extLst>
      <p:ext uri="{BB962C8B-B14F-4D97-AF65-F5344CB8AC3E}">
        <p14:creationId xmlns:p14="http://schemas.microsoft.com/office/powerpoint/2010/main" val="1186208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234919"/>
            <a:ext cx="1204703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backlinking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7" y="3101529"/>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p:txBody>
      </p:sp>
      <p:sp>
        <p:nvSpPr>
          <p:cNvPr id="3" name="Titre 1">
            <a:extLst>
              <a:ext uri="{FF2B5EF4-FFF2-40B4-BE49-F238E27FC236}">
                <a16:creationId xmlns:a16="http://schemas.microsoft.com/office/drawing/2014/main" id="{66275F9A-C2C8-96E9-9299-BFA4120B29C0}"/>
              </a:ext>
            </a:extLst>
          </p:cNvPr>
          <p:cNvSpPr txBox="1">
            <a:spLocks/>
          </p:cNvSpPr>
          <p:nvPr/>
        </p:nvSpPr>
        <p:spPr>
          <a:xfrm>
            <a:off x="420421" y="3544896"/>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il existe plusieurs situations dans lesquelles vous pouvez acquérir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a:t>
            </a:r>
          </a:p>
          <a:p>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dirty="0">
                <a:solidFill>
                  <a:srgbClr val="303030"/>
                </a:solidFill>
                <a:latin typeface="Poppins" panose="00000500000000000000" pitchFamily="2" charset="0"/>
              </a:rPr>
              <a:t>consulter les domaines qui renvoient vers les sites de vos concurrents et les contacter pour leur proposer d’insérer un lien.</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proposer aux articles existants de mentionner votre marque ou votre produit (Top 10/les meilleurs logiciels, etc.)</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proposer à un site de rédiger un contenu à sa place en échange d’un lien (</a:t>
            </a:r>
            <a:r>
              <a:rPr lang="fr-FR" sz="2000" i="1" dirty="0" err="1">
                <a:solidFill>
                  <a:srgbClr val="303030"/>
                </a:solidFill>
                <a:latin typeface="Poppins" panose="00000500000000000000" pitchFamily="2" charset="0"/>
              </a:rPr>
              <a:t>guest</a:t>
            </a:r>
            <a:r>
              <a:rPr lang="fr-FR" sz="2000" i="1" dirty="0">
                <a:solidFill>
                  <a:srgbClr val="303030"/>
                </a:solidFill>
                <a:latin typeface="Poppins" panose="00000500000000000000" pitchFamily="2" charset="0"/>
              </a:rPr>
              <a:t> </a:t>
            </a:r>
            <a:r>
              <a:rPr lang="fr-FR" sz="2000" i="1" dirty="0" err="1">
                <a:solidFill>
                  <a:srgbClr val="303030"/>
                </a:solidFill>
                <a:latin typeface="Poppins" panose="00000500000000000000" pitchFamily="2" charset="0"/>
              </a:rPr>
              <a:t>posting</a:t>
            </a:r>
            <a:r>
              <a:rPr lang="fr-FR" sz="2000" dirty="0">
                <a:solidFill>
                  <a:srgbClr val="303030"/>
                </a:solidFill>
                <a:latin typeface="Poppins" panose="00000500000000000000" pitchFamily="2" charset="0"/>
              </a:rPr>
              <a:t>)</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p:txBody>
      </p:sp>
      <p:sp>
        <p:nvSpPr>
          <p:cNvPr id="4" name="Titre 1">
            <a:extLst>
              <a:ext uri="{FF2B5EF4-FFF2-40B4-BE49-F238E27FC236}">
                <a16:creationId xmlns:a16="http://schemas.microsoft.com/office/drawing/2014/main" id="{73E77AB2-3109-9063-D533-F0FBC43803B1}"/>
              </a:ext>
            </a:extLst>
          </p:cNvPr>
          <p:cNvSpPr txBox="1">
            <a:spLocks/>
          </p:cNvSpPr>
          <p:nvPr/>
        </p:nvSpPr>
        <p:spPr>
          <a:xfrm>
            <a:off x="304307" y="529894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en gros, vous devez networker. </a:t>
            </a:r>
            <a:r>
              <a:rPr lang="fr-FR" sz="2000" dirty="0">
                <a:solidFill>
                  <a:schemeClr val="tx1">
                    <a:lumMod val="85000"/>
                    <a:lumOff val="15000"/>
                  </a:schemeClr>
                </a:solidFill>
                <a:latin typeface="Bebas Neue" panose="020B0606020202050201" pitchFamily="34" charset="0"/>
              </a:rPr>
              <a:t>ou payer cher.</a:t>
            </a:r>
            <a:r>
              <a:rPr lang="fr-FR" sz="6000" dirty="0">
                <a:solidFill>
                  <a:schemeClr val="tx1">
                    <a:lumMod val="85000"/>
                    <a:lumOff val="15000"/>
                  </a:schemeClr>
                </a:solidFill>
                <a:latin typeface="Bebas Neue" panose="020B0606020202050201" pitchFamily="34" charset="0"/>
              </a:rPr>
              <a:t> </a:t>
            </a:r>
          </a:p>
        </p:txBody>
      </p:sp>
      <p:sp>
        <p:nvSpPr>
          <p:cNvPr id="6" name="Titre 1">
            <a:extLst>
              <a:ext uri="{FF2B5EF4-FFF2-40B4-BE49-F238E27FC236}">
                <a16:creationId xmlns:a16="http://schemas.microsoft.com/office/drawing/2014/main" id="{425E5BD8-35F5-040C-E476-5545AD479DF2}"/>
              </a:ext>
            </a:extLst>
          </p:cNvPr>
          <p:cNvSpPr txBox="1">
            <a:spLocks/>
          </p:cNvSpPr>
          <p:nvPr/>
        </p:nvSpPr>
        <p:spPr>
          <a:xfrm>
            <a:off x="580395" y="4575500"/>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il existe plusieurs sites qui permettent de faire du </a:t>
            </a:r>
            <a:r>
              <a:rPr lang="fr-FR" sz="2000" dirty="0" err="1">
                <a:solidFill>
                  <a:srgbClr val="303030"/>
                </a:solidFill>
                <a:latin typeface="Poppins" panose="00000500000000000000" pitchFamily="2" charset="0"/>
              </a:rPr>
              <a:t>guest</a:t>
            </a:r>
            <a:r>
              <a:rPr lang="fr-FR" sz="2000" dirty="0">
                <a:solidFill>
                  <a:srgbClr val="303030"/>
                </a:solidFill>
                <a:latin typeface="Poppins" panose="00000500000000000000" pitchFamily="2" charset="0"/>
              </a:rPr>
              <a:t> </a:t>
            </a:r>
            <a:r>
              <a:rPr lang="fr-FR" sz="2000" dirty="0" err="1">
                <a:solidFill>
                  <a:srgbClr val="303030"/>
                </a:solidFill>
                <a:latin typeface="Poppins" panose="00000500000000000000" pitchFamily="2" charset="0"/>
              </a:rPr>
              <a:t>posting</a:t>
            </a:r>
            <a:r>
              <a:rPr lang="fr-FR" sz="2000" dirty="0">
                <a:solidFill>
                  <a:srgbClr val="303030"/>
                </a:solidFill>
                <a:latin typeface="Poppins" panose="00000500000000000000" pitchFamily="2" charset="0"/>
              </a:rPr>
              <a:t> (moyennant un certain tarif) </a:t>
            </a:r>
            <a:r>
              <a:rPr lang="fr-FR" sz="2000" dirty="0">
                <a:solidFill>
                  <a:srgbClr val="303030"/>
                </a:solidFill>
                <a:latin typeface="Poppins" panose="00000500000000000000" pitchFamily="2" charset="0"/>
                <a:hlinkClick r:id="rId2"/>
              </a:rPr>
              <a:t>icopify.com</a:t>
            </a:r>
            <a:r>
              <a:rPr lang="fr-FR" sz="2000"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hlinkClick r:id="rId3"/>
              </a:rPr>
              <a:t>thehoth.com</a:t>
            </a:r>
            <a:r>
              <a:rPr lang="fr-FR" sz="2000" dirty="0">
                <a:solidFill>
                  <a:srgbClr val="303030"/>
                </a:solidFill>
                <a:latin typeface="Poppins" panose="00000500000000000000" pitchFamily="2" charset="0"/>
              </a:rPr>
              <a:t> </a:t>
            </a:r>
          </a:p>
        </p:txBody>
      </p:sp>
    </p:spTree>
    <p:extLst>
      <p:ext uri="{BB962C8B-B14F-4D97-AF65-F5344CB8AC3E}">
        <p14:creationId xmlns:p14="http://schemas.microsoft.com/office/powerpoint/2010/main" val="2925431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backlinking vs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09345"/>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en général, ce sont des synonymes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1000751" y="5989126"/>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si on souhaite à tout prix établir une différence sémantique, on peut considérer que </a:t>
            </a:r>
            <a:r>
              <a:rPr lang="fr-FR" sz="2000" b="1" dirty="0">
                <a:solidFill>
                  <a:srgbClr val="303030"/>
                </a:solidFill>
                <a:latin typeface="Poppins" panose="00000500000000000000" pitchFamily="2" charset="0"/>
              </a:rPr>
              <a:t>le backlinking n'est qu'une des composantes des pratiques de netlinking.</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dirty="0">
                <a:solidFill>
                  <a:srgbClr val="303030"/>
                </a:solidFill>
                <a:latin typeface="Poppins" panose="00000500000000000000" pitchFamily="2" charset="0"/>
              </a:rPr>
              <a:t>Le netlinking entendu au sens large regroupe toutes les formes de créations de liens hypertextes mises en œuvre pour des objectifs de référencement naturel et de navigation. </a:t>
            </a:r>
            <a:r>
              <a:rPr lang="fr-FR" sz="2000" b="1" dirty="0">
                <a:solidFill>
                  <a:srgbClr val="303030"/>
                </a:solidFill>
                <a:latin typeface="Poppins" panose="00000500000000000000" pitchFamily="2" charset="0"/>
              </a:rPr>
              <a:t>Il concerne les liens internes (maillage interne), les liens sortants, et la recherche de </a:t>
            </a:r>
            <a:r>
              <a:rPr lang="fr-FR" sz="2000" b="1" dirty="0" err="1">
                <a:solidFill>
                  <a:srgbClr val="303030"/>
                </a:solidFill>
                <a:latin typeface="Poppins" panose="00000500000000000000" pitchFamily="2" charset="0"/>
              </a:rPr>
              <a:t>backinlinks</a:t>
            </a:r>
            <a:r>
              <a:rPr lang="fr-FR" sz="2000" b="1" dirty="0">
                <a:solidFill>
                  <a:srgbClr val="303030"/>
                </a:solidFill>
                <a:latin typeface="Poppins" panose="00000500000000000000" pitchFamily="2" charset="0"/>
              </a:rPr>
              <a:t> ou liens externes entrants.</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dirty="0">
                <a:solidFill>
                  <a:srgbClr val="303030"/>
                </a:solidFill>
                <a:latin typeface="Poppins" panose="00000500000000000000" pitchFamily="2" charset="0"/>
              </a:rPr>
              <a:t>Le backlinking se concentre pour sa part sur </a:t>
            </a:r>
            <a:r>
              <a:rPr lang="fr-FR" sz="2000" b="1" dirty="0">
                <a:solidFill>
                  <a:srgbClr val="303030"/>
                </a:solidFill>
                <a:latin typeface="Poppins" panose="00000500000000000000" pitchFamily="2" charset="0"/>
              </a:rPr>
              <a:t>la recherche de liens externes favorables au positionnement dans les SERP.</a:t>
            </a:r>
          </a:p>
        </p:txBody>
      </p:sp>
      <p:sp>
        <p:nvSpPr>
          <p:cNvPr id="3" name="Titre 1">
            <a:extLst>
              <a:ext uri="{FF2B5EF4-FFF2-40B4-BE49-F238E27FC236}">
                <a16:creationId xmlns:a16="http://schemas.microsoft.com/office/drawing/2014/main" id="{5165AB4B-EAF8-0F1E-AE3D-932147284E66}"/>
              </a:ext>
            </a:extLst>
          </p:cNvPr>
          <p:cNvSpPr txBox="1">
            <a:spLocks/>
          </p:cNvSpPr>
          <p:nvPr/>
        </p:nvSpPr>
        <p:spPr>
          <a:xfrm>
            <a:off x="304307" y="215610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mais…</a:t>
            </a:r>
          </a:p>
        </p:txBody>
      </p:sp>
    </p:spTree>
    <p:extLst>
      <p:ext uri="{BB962C8B-B14F-4D97-AF65-F5344CB8AC3E}">
        <p14:creationId xmlns:p14="http://schemas.microsoft.com/office/powerpoint/2010/main" val="315866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backlinking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09345"/>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lien </a:t>
            </a:r>
            <a:r>
              <a:rPr lang="fr-FR" sz="3600" dirty="0" err="1">
                <a:solidFill>
                  <a:srgbClr val="303030"/>
                </a:solidFill>
                <a:latin typeface="Poppins" panose="00000500000000000000" pitchFamily="2" charset="0"/>
              </a:rPr>
              <a:t>nofollow</a:t>
            </a:r>
            <a:r>
              <a:rPr lang="fr-FR" sz="3600" dirty="0">
                <a:solidFill>
                  <a:srgbClr val="303030"/>
                </a:solidFill>
                <a:latin typeface="Poppins" panose="00000500000000000000" pitchFamily="2" charset="0"/>
              </a:rPr>
              <a:t> vs lien </a:t>
            </a:r>
            <a:r>
              <a:rPr lang="fr-FR" sz="3600" dirty="0" err="1">
                <a:solidFill>
                  <a:srgbClr val="303030"/>
                </a:solidFill>
                <a:latin typeface="Poppins" panose="00000500000000000000" pitchFamily="2" charset="0"/>
              </a:rPr>
              <a:t>dofollow</a:t>
            </a:r>
            <a:endParaRPr lang="fr-FR" sz="3600" dirty="0">
              <a:solidFill>
                <a:srgbClr val="303030"/>
              </a:solidFill>
              <a:latin typeface="Poppins" panose="00000500000000000000" pitchFamily="2" charset="0"/>
            </a:endParaRPr>
          </a:p>
        </p:txBody>
      </p:sp>
      <p:pic>
        <p:nvPicPr>
          <p:cNvPr id="3" name="Picture 2" descr="Image">
            <a:extLst>
              <a:ext uri="{FF2B5EF4-FFF2-40B4-BE49-F238E27FC236}">
                <a16:creationId xmlns:a16="http://schemas.microsoft.com/office/drawing/2014/main" id="{28AFE941-5DA5-6D13-C0F7-B82581F5EE42}"/>
              </a:ext>
            </a:extLst>
          </p:cNvPr>
          <p:cNvPicPr>
            <a:picLocks noChangeAspect="1" noChangeArrowheads="1"/>
          </p:cNvPicPr>
          <p:nvPr/>
        </p:nvPicPr>
        <p:blipFill>
          <a:blip r:embed="rId2">
            <a:clrChange>
              <a:clrFrom>
                <a:srgbClr val="FAFAFA"/>
              </a:clrFrom>
              <a:clrTo>
                <a:srgbClr val="FAFAFA">
                  <a:alpha val="0"/>
                </a:srgbClr>
              </a:clrTo>
            </a:clrChange>
            <a:extLst>
              <a:ext uri="{28A0092B-C50C-407E-A947-70E740481C1C}">
                <a14:useLocalDpi xmlns:a14="http://schemas.microsoft.com/office/drawing/2010/main" val="0"/>
              </a:ext>
            </a:extLst>
          </a:blip>
          <a:srcRect/>
          <a:stretch>
            <a:fillRect/>
          </a:stretch>
        </p:blipFill>
        <p:spPr bwMode="auto">
          <a:xfrm>
            <a:off x="1197181" y="2154829"/>
            <a:ext cx="8273319" cy="4379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454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483862"/>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Types de liens et attributs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280861" y="5581403"/>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b="1" dirty="0">
                <a:solidFill>
                  <a:srgbClr val="303030"/>
                </a:solidFill>
                <a:latin typeface="Poppins" panose="00000500000000000000" pitchFamily="2" charset="0"/>
              </a:rPr>
              <a:t>Dofollow : </a:t>
            </a:r>
            <a:r>
              <a:rPr lang="fr-FR" sz="2000" dirty="0">
                <a:solidFill>
                  <a:srgbClr val="303030"/>
                </a:solidFill>
                <a:latin typeface="Poppins" panose="00000500000000000000" pitchFamily="2" charset="0"/>
              </a:rPr>
              <a:t>Liens qui transmettent l'autorité du site d'origine vers le site cible. Ils sont les plus précieux pour le référencement.</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Nofollow</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Liens qui ne transmettent pas d'autorité du site d'origine vers le site cible. Ils peuvent toujours générer du trafic, mais ont un impact limité sur le référencement.</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Sponsored</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Liens qui indiquent une relation commerciale entre les sites. Les moteurs de recherche n'accordent généralement pas d'autorité à ces liens.</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UGC </a:t>
            </a:r>
            <a:r>
              <a:rPr lang="fr-FR" sz="2000" dirty="0">
                <a:solidFill>
                  <a:srgbClr val="303030"/>
                </a:solidFill>
                <a:latin typeface="Poppins" panose="00000500000000000000" pitchFamily="2" charset="0"/>
              </a:rPr>
              <a:t>: Liens qui proviennent de contenus générés par les utilisateurs, tels que les commentaires et les forums. Ils ont généralement moins d'autorité que les liens éditoriaux.</a:t>
            </a:r>
          </a:p>
        </p:txBody>
      </p:sp>
    </p:spTree>
    <p:extLst>
      <p:ext uri="{BB962C8B-B14F-4D97-AF65-F5344CB8AC3E}">
        <p14:creationId xmlns:p14="http://schemas.microsoft.com/office/powerpoint/2010/main" val="3367291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483862"/>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Types de liens et attributs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04307" y="3461586"/>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les liens </a:t>
            </a:r>
            <a:r>
              <a:rPr lang="fr-FR" sz="2000" dirty="0" err="1">
                <a:solidFill>
                  <a:srgbClr val="303030"/>
                </a:solidFill>
                <a:latin typeface="Poppins" panose="00000500000000000000" pitchFamily="2" charset="0"/>
              </a:rPr>
              <a:t>nofollow</a:t>
            </a:r>
            <a:r>
              <a:rPr lang="fr-FR" sz="2000" dirty="0">
                <a:solidFill>
                  <a:srgbClr val="303030"/>
                </a:solidFill>
                <a:latin typeface="Poppins" panose="00000500000000000000" pitchFamily="2" charset="0"/>
              </a:rPr>
              <a:t> indiquent à Google que vous ne souhaitez pas partager de jus vers ce domaine</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les liens </a:t>
            </a:r>
            <a:r>
              <a:rPr lang="fr-FR" sz="2000" dirty="0" err="1">
                <a:solidFill>
                  <a:srgbClr val="303030"/>
                </a:solidFill>
                <a:latin typeface="Poppins" panose="00000500000000000000" pitchFamily="2" charset="0"/>
              </a:rPr>
              <a:t>dofollow</a:t>
            </a:r>
            <a:r>
              <a:rPr lang="fr-FR" sz="2000" dirty="0">
                <a:solidFill>
                  <a:srgbClr val="303030"/>
                </a:solidFill>
                <a:latin typeface="Poppins" panose="00000500000000000000" pitchFamily="2" charset="0"/>
              </a:rPr>
              <a:t> indiquent à Google que vous souhaitez partager du jus vers ce domaine</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p:txBody>
      </p:sp>
      <p:sp>
        <p:nvSpPr>
          <p:cNvPr id="3" name="Titre 1">
            <a:extLst>
              <a:ext uri="{FF2B5EF4-FFF2-40B4-BE49-F238E27FC236}">
                <a16:creationId xmlns:a16="http://schemas.microsoft.com/office/drawing/2014/main" id="{B510C249-294C-1777-A62D-63762EF41F39}"/>
              </a:ext>
            </a:extLst>
          </p:cNvPr>
          <p:cNvSpPr txBox="1">
            <a:spLocks/>
          </p:cNvSpPr>
          <p:nvPr/>
        </p:nvSpPr>
        <p:spPr>
          <a:xfrm>
            <a:off x="304307" y="3782956"/>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 </a:t>
            </a:r>
          </a:p>
        </p:txBody>
      </p:sp>
      <p:sp>
        <p:nvSpPr>
          <p:cNvPr id="4" name="Titre 1">
            <a:extLst>
              <a:ext uri="{FF2B5EF4-FFF2-40B4-BE49-F238E27FC236}">
                <a16:creationId xmlns:a16="http://schemas.microsoft.com/office/drawing/2014/main" id="{B00FF9EC-DC68-C83B-B500-6DCBA3860C2C}"/>
              </a:ext>
            </a:extLst>
          </p:cNvPr>
          <p:cNvSpPr txBox="1">
            <a:spLocks/>
          </p:cNvSpPr>
          <p:nvPr/>
        </p:nvSpPr>
        <p:spPr>
          <a:xfrm>
            <a:off x="304307" y="5932238"/>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mentionner de mauvais exemples ou des pages à ne pas suivre</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mettre des liens payants ou vers les réseaux sociaux </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éviter le spam et les liens suspects : les liens laissés par les utilisateurs</a:t>
            </a:r>
          </a:p>
          <a:p>
            <a:pPr marL="342900" indent="-342900">
              <a:buFont typeface="Arial" panose="020B0604020202020204" pitchFamily="34" charset="0"/>
              <a:buChar char="•"/>
            </a:pPr>
            <a:r>
              <a:rPr lang="fr-FR" sz="2000" dirty="0">
                <a:solidFill>
                  <a:srgbClr val="303030"/>
                </a:solidFill>
                <a:latin typeface="Poppins" panose="00000500000000000000" pitchFamily="2" charset="0"/>
              </a:rPr>
              <a:t>mentionner un site à basse autorité</a:t>
            </a:r>
          </a:p>
          <a:p>
            <a:endParaRPr lang="fr-FR" sz="2000" dirty="0">
              <a:solidFill>
                <a:srgbClr val="303030"/>
              </a:solidFill>
              <a:latin typeface="Poppins" panose="00000500000000000000" pitchFamily="2" charset="0"/>
            </a:endParaRPr>
          </a:p>
        </p:txBody>
      </p:sp>
    </p:spTree>
    <p:extLst>
      <p:ext uri="{BB962C8B-B14F-4D97-AF65-F5344CB8AC3E}">
        <p14:creationId xmlns:p14="http://schemas.microsoft.com/office/powerpoint/2010/main" val="284233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917136"/>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Exemples et bonnes pratiques pour chaque type de lien</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04307" y="6090504"/>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b="1" dirty="0">
                <a:solidFill>
                  <a:srgbClr val="303030"/>
                </a:solidFill>
                <a:latin typeface="Poppins" panose="00000500000000000000" pitchFamily="2" charset="0"/>
              </a:rPr>
              <a:t>Dofollow : </a:t>
            </a:r>
            <a:r>
              <a:rPr lang="fr-FR" sz="2000" dirty="0">
                <a:solidFill>
                  <a:srgbClr val="303030"/>
                </a:solidFill>
                <a:latin typeface="Poppins" panose="00000500000000000000" pitchFamily="2" charset="0"/>
              </a:rPr>
              <a:t>Utiliser pour des liens naturels et de confiance, tels que les partenariats, les collaborations et les articles invités. Ne pas acheter ou vendre des liens Dofollow.</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Nofollow</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Utiliser pour des liens qui ne sont pas de confiance, pour des liens publicitaires ou pour des liens générés par les utilisateurs.</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Sponsored</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Utiliser pour des liens issus de partenariats payants, de publicités ou de </a:t>
            </a:r>
            <a:r>
              <a:rPr lang="fr-FR" sz="2000" dirty="0" err="1">
                <a:solidFill>
                  <a:srgbClr val="303030"/>
                </a:solidFill>
                <a:latin typeface="Poppins" panose="00000500000000000000" pitchFamily="2" charset="0"/>
              </a:rPr>
              <a:t>posts</a:t>
            </a:r>
            <a:r>
              <a:rPr lang="fr-FR" sz="2000" dirty="0">
                <a:solidFill>
                  <a:srgbClr val="303030"/>
                </a:solidFill>
                <a:latin typeface="Poppins" panose="00000500000000000000" pitchFamily="2" charset="0"/>
              </a:rPr>
              <a:t> sponsorisés. Indiquer clairement la nature commerciale du lien.</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UGC : </a:t>
            </a:r>
            <a:r>
              <a:rPr lang="fr-FR" sz="2000" dirty="0">
                <a:solidFill>
                  <a:srgbClr val="303030"/>
                </a:solidFill>
                <a:latin typeface="Poppins" panose="00000500000000000000" pitchFamily="2" charset="0"/>
              </a:rPr>
              <a:t>Utiliser pour des liens générés par les utilisateurs dans des commentaires ou des forums. Modérer les liens pour éviter le spam et les liens de mauvaise qualité.</a:t>
            </a:r>
          </a:p>
        </p:txBody>
      </p:sp>
    </p:spTree>
    <p:extLst>
      <p:ext uri="{BB962C8B-B14F-4D97-AF65-F5344CB8AC3E}">
        <p14:creationId xmlns:p14="http://schemas.microsoft.com/office/powerpoint/2010/main" val="1043523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15 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7" y="1662825"/>
            <a:ext cx="9733706"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800" dirty="0">
                <a:solidFill>
                  <a:srgbClr val="303030"/>
                </a:solidFill>
                <a:latin typeface="Poppins" panose="00000500000000000000" pitchFamily="2" charset="0"/>
              </a:rPr>
              <a:t>voici une liste non exhaustive de techniques pour améliorer le netlinking d’un site :</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04307" y="5928053"/>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457200" indent="-457200">
              <a:buFont typeface="+mj-lt"/>
              <a:buAutoNum type="arabicPeriod"/>
            </a:pPr>
            <a:r>
              <a:rPr lang="fr-FR" sz="2000" dirty="0">
                <a:solidFill>
                  <a:srgbClr val="303030"/>
                </a:solidFill>
                <a:latin typeface="Poppins" panose="00000500000000000000" pitchFamily="2" charset="0"/>
              </a:rPr>
              <a:t>Création de contenu de qualité</a:t>
            </a:r>
          </a:p>
          <a:p>
            <a:pPr marL="457200" indent="-457200">
              <a:buFont typeface="+mj-lt"/>
              <a:buAutoNum type="arabicPeriod"/>
            </a:pPr>
            <a:r>
              <a:rPr lang="fr-FR" sz="2000" dirty="0">
                <a:solidFill>
                  <a:srgbClr val="303030"/>
                </a:solidFill>
                <a:latin typeface="Poppins" panose="00000500000000000000" pitchFamily="2" charset="0"/>
              </a:rPr>
              <a:t>Guest blogging</a:t>
            </a:r>
          </a:p>
          <a:p>
            <a:pPr marL="457200" indent="-457200">
              <a:buFont typeface="+mj-lt"/>
              <a:buAutoNum type="arabicPeriod"/>
            </a:pPr>
            <a:r>
              <a:rPr lang="fr-FR" sz="2000" dirty="0">
                <a:solidFill>
                  <a:srgbClr val="303030"/>
                </a:solidFill>
                <a:latin typeface="Poppins" panose="00000500000000000000" pitchFamily="2" charset="0"/>
              </a:rPr>
              <a:t>Partenariats et collaborations</a:t>
            </a:r>
          </a:p>
          <a:p>
            <a:pPr marL="457200" indent="-457200">
              <a:buFont typeface="+mj-lt"/>
              <a:buAutoNum type="arabicPeriod"/>
            </a:pPr>
            <a:r>
              <a:rPr lang="fr-FR" sz="2000" dirty="0">
                <a:solidFill>
                  <a:srgbClr val="303030"/>
                </a:solidFill>
                <a:latin typeface="Poppins" panose="00000500000000000000" pitchFamily="2" charset="0"/>
              </a:rPr>
              <a:t>Utilisation des réseaux sociaux</a:t>
            </a:r>
          </a:p>
          <a:p>
            <a:pPr marL="457200" indent="-457200">
              <a:buFont typeface="+mj-lt"/>
              <a:buAutoNum type="arabicPeriod"/>
            </a:pPr>
            <a:r>
              <a:rPr lang="fr-FR" sz="2000" dirty="0">
                <a:solidFill>
                  <a:srgbClr val="303030"/>
                </a:solidFill>
                <a:latin typeface="Poppins" panose="00000500000000000000" pitchFamily="2" charset="0"/>
              </a:rPr>
              <a:t>Broken </a:t>
            </a:r>
            <a:r>
              <a:rPr lang="fr-FR" sz="2000" dirty="0" err="1">
                <a:solidFill>
                  <a:srgbClr val="303030"/>
                </a:solidFill>
                <a:latin typeface="Poppins" panose="00000500000000000000" pitchFamily="2" charset="0"/>
              </a:rPr>
              <a:t>link</a:t>
            </a:r>
            <a:r>
              <a:rPr lang="fr-FR" sz="2000" dirty="0">
                <a:solidFill>
                  <a:srgbClr val="303030"/>
                </a:solidFill>
                <a:latin typeface="Poppins" panose="00000500000000000000" pitchFamily="2" charset="0"/>
              </a:rPr>
              <a:t> building</a:t>
            </a:r>
          </a:p>
          <a:p>
            <a:pPr marL="457200" indent="-457200">
              <a:buFont typeface="+mj-lt"/>
              <a:buAutoNum type="arabicPeriod"/>
            </a:pPr>
            <a:r>
              <a:rPr lang="fr-FR" sz="2000" dirty="0">
                <a:solidFill>
                  <a:srgbClr val="303030"/>
                </a:solidFill>
                <a:latin typeface="Poppins" panose="00000500000000000000" pitchFamily="2" charset="0"/>
              </a:rPr>
              <a:t>Ego-</a:t>
            </a:r>
            <a:r>
              <a:rPr lang="fr-FR" sz="2000" dirty="0" err="1">
                <a:solidFill>
                  <a:srgbClr val="303030"/>
                </a:solidFill>
                <a:latin typeface="Poppins" panose="00000500000000000000" pitchFamily="2" charset="0"/>
              </a:rPr>
              <a:t>bait</a:t>
            </a:r>
            <a:endParaRPr lang="fr-FR" sz="2000" dirty="0">
              <a:solidFill>
                <a:srgbClr val="303030"/>
              </a:solidFill>
              <a:latin typeface="Poppins" panose="00000500000000000000" pitchFamily="2" charset="0"/>
            </a:endParaRPr>
          </a:p>
          <a:p>
            <a:pPr marL="457200" indent="-457200">
              <a:buFont typeface="+mj-lt"/>
              <a:buAutoNum type="arabicPeriod"/>
            </a:pPr>
            <a:r>
              <a:rPr lang="fr-FR" sz="2000" dirty="0">
                <a:solidFill>
                  <a:srgbClr val="303030"/>
                </a:solidFill>
                <a:latin typeface="Poppins" panose="00000500000000000000" pitchFamily="2" charset="0"/>
              </a:rPr>
              <a:t>Analyse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des concurrents </a:t>
            </a:r>
          </a:p>
          <a:p>
            <a:pPr marL="457200" indent="-457200">
              <a:buFont typeface="+mj-lt"/>
              <a:buAutoNum type="arabicPeriod"/>
            </a:pPr>
            <a:r>
              <a:rPr lang="fr-FR" sz="2000" dirty="0">
                <a:solidFill>
                  <a:srgbClr val="303030"/>
                </a:solidFill>
                <a:latin typeface="Poppins" panose="00000500000000000000" pitchFamily="2" charset="0"/>
              </a:rPr>
              <a:t>Skyscraper technique</a:t>
            </a:r>
          </a:p>
          <a:p>
            <a:pPr marL="457200" indent="-457200">
              <a:buFont typeface="+mj-lt"/>
              <a:buAutoNum type="arabicPeriod"/>
            </a:pPr>
            <a:r>
              <a:rPr lang="fr-FR" sz="2000" dirty="0">
                <a:solidFill>
                  <a:srgbClr val="303030"/>
                </a:solidFill>
                <a:latin typeface="Poppins" panose="00000500000000000000" pitchFamily="2" charset="0"/>
              </a:rPr>
              <a:t>Mentions de marque sans lien</a:t>
            </a:r>
          </a:p>
          <a:p>
            <a:pPr marL="457200" indent="-457200">
              <a:buFont typeface="+mj-lt"/>
              <a:buAutoNum type="arabicPeriod"/>
            </a:pPr>
            <a:r>
              <a:rPr lang="fr-FR" sz="2000" dirty="0">
                <a:solidFill>
                  <a:srgbClr val="303030"/>
                </a:solidFill>
                <a:latin typeface="Poppins" panose="00000500000000000000" pitchFamily="2" charset="0"/>
              </a:rPr>
              <a:t>Liens contextuels</a:t>
            </a:r>
          </a:p>
          <a:p>
            <a:pPr marL="457200" indent="-457200">
              <a:buFont typeface="+mj-lt"/>
              <a:buAutoNum type="arabicPeriod"/>
            </a:pPr>
            <a:r>
              <a:rPr lang="fr-FR" sz="2000" dirty="0">
                <a:solidFill>
                  <a:srgbClr val="303030"/>
                </a:solidFill>
                <a:latin typeface="Poppins" panose="00000500000000000000" pitchFamily="2" charset="0"/>
              </a:rPr>
              <a:t>Co-citation et co-occurrence</a:t>
            </a:r>
          </a:p>
          <a:p>
            <a:pPr marL="457200" indent="-457200">
              <a:buFont typeface="+mj-lt"/>
              <a:buAutoNum type="arabicPeriod"/>
            </a:pPr>
            <a:r>
              <a:rPr lang="fr-FR" sz="2000" dirty="0">
                <a:solidFill>
                  <a:srgbClr val="303030"/>
                </a:solidFill>
                <a:latin typeface="Poppins" panose="00000500000000000000" pitchFamily="2" charset="0"/>
              </a:rPr>
              <a:t>Création de ressources utiles</a:t>
            </a:r>
          </a:p>
          <a:p>
            <a:pPr marL="457200" indent="-457200">
              <a:buFont typeface="+mj-lt"/>
              <a:buAutoNum type="arabicPeriod"/>
            </a:pPr>
            <a:r>
              <a:rPr lang="fr-FR" sz="2000" dirty="0">
                <a:solidFill>
                  <a:srgbClr val="303030"/>
                </a:solidFill>
                <a:latin typeface="Poppins" panose="00000500000000000000" pitchFamily="2" charset="0"/>
              </a:rPr>
              <a:t>Utilisation des influenceurs et blogueurs</a:t>
            </a:r>
          </a:p>
          <a:p>
            <a:pPr marL="457200" indent="-457200">
              <a:buFont typeface="+mj-lt"/>
              <a:buAutoNum type="arabicPeriod"/>
            </a:pPr>
            <a:r>
              <a:rPr lang="fr-FR" sz="2000" dirty="0">
                <a:solidFill>
                  <a:srgbClr val="303030"/>
                </a:solidFill>
                <a:latin typeface="Poppins" panose="00000500000000000000" pitchFamily="2" charset="0"/>
              </a:rPr>
              <a:t>Participation à des événements et conférences</a:t>
            </a:r>
          </a:p>
          <a:p>
            <a:pPr marL="457200" indent="-457200">
              <a:buFont typeface="+mj-lt"/>
              <a:buAutoNum type="arabicPeriod"/>
            </a:pPr>
            <a:r>
              <a:rPr lang="fr-FR" sz="2000" dirty="0">
                <a:solidFill>
                  <a:srgbClr val="303030"/>
                </a:solidFill>
                <a:latin typeface="Poppins" panose="00000500000000000000" pitchFamily="2" charset="0"/>
              </a:rPr>
              <a:t>Critères EAT</a:t>
            </a:r>
          </a:p>
        </p:txBody>
      </p:sp>
    </p:spTree>
    <p:extLst>
      <p:ext uri="{BB962C8B-B14F-4D97-AF65-F5344CB8AC3E}">
        <p14:creationId xmlns:p14="http://schemas.microsoft.com/office/powerpoint/2010/main" val="366300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Création de contenu de qualité</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64692" y="2985633"/>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Produire des articles, des infographies, des vidéos, des podcasts ou des études de cas de haute qualité pour attirer naturellement des liens entrants. Le contenu doit être unique, pertinent et bien structuré pour susciter l'intérêt des lecteurs et des autres sites.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3" y="4868433"/>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Un article de blog détaillé et bien documenté sur les tendances du marketing digital en 2023, incluant des graphiques et des données récentes.</a:t>
            </a:r>
          </a:p>
        </p:txBody>
      </p:sp>
    </p:spTree>
    <p:extLst>
      <p:ext uri="{BB962C8B-B14F-4D97-AF65-F5344CB8AC3E}">
        <p14:creationId xmlns:p14="http://schemas.microsoft.com/office/powerpoint/2010/main" val="3294519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Création de contenu de qualité</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53808" y="4261752"/>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Copier le contenu d'autres sites, créer du contenu de faible qualité avec </a:t>
            </a:r>
            <a:r>
              <a:rPr lang="fr-FR" sz="2000" dirty="0" err="1">
                <a:solidFill>
                  <a:srgbClr val="303030"/>
                </a:solidFill>
                <a:latin typeface="Poppins" panose="00000500000000000000" pitchFamily="2" charset="0"/>
              </a:rPr>
              <a:t>ChatGPT</a:t>
            </a:r>
            <a:r>
              <a:rPr lang="fr-FR" sz="2000" dirty="0">
                <a:solidFill>
                  <a:srgbClr val="303030"/>
                </a:solidFill>
                <a:latin typeface="Poppins" panose="00000500000000000000" pitchFamily="2" charset="0"/>
              </a:rPr>
              <a:t> pour obtenir rapidement des liens, utiliser des techniques de spam pour promouvoir le contenu.</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457110"/>
            <a:ext cx="425450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Recherche approfondie, ajout de valeur pour le lecteur, mise à jour régulière du contenu, utilisation d'éléments visuels pour soutenir le texte.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254555"/>
            <a:ext cx="6857054"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Définir un calendrier de publication, collaborer avec des experts du domaine, promouvoir le contenu sur les réseaux sociaux et auprès des influenceurs.</a:t>
            </a: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385095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Guest blogging</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3" y="250605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Écrire des articles de qualité pour des sites tiers dans votre niche en échange de liens vers votre propre site.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04307" y="5739490"/>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Rédiger un article sur les meilleures pratiques de référencement pour un blog de marketing digital bien connu et inclure un lien vers votre propre site dans la biographie de l'auteur.</a:t>
            </a:r>
          </a:p>
        </p:txBody>
      </p:sp>
      <p:pic>
        <p:nvPicPr>
          <p:cNvPr id="3" name="Image 2">
            <a:extLst>
              <a:ext uri="{FF2B5EF4-FFF2-40B4-BE49-F238E27FC236}">
                <a16:creationId xmlns:a16="http://schemas.microsoft.com/office/drawing/2014/main" id="{00F0C1F9-4AB1-08A3-940D-273D2AEE01B9}"/>
              </a:ext>
            </a:extLst>
          </p:cNvPr>
          <p:cNvPicPr>
            <a:picLocks noChangeAspect="1"/>
          </p:cNvPicPr>
          <p:nvPr/>
        </p:nvPicPr>
        <p:blipFill>
          <a:blip r:embed="rId2"/>
          <a:stretch>
            <a:fillRect/>
          </a:stretch>
        </p:blipFill>
        <p:spPr>
          <a:xfrm>
            <a:off x="7110897" y="3427218"/>
            <a:ext cx="4491775" cy="2809855"/>
          </a:xfrm>
          <a:prstGeom prst="rect">
            <a:avLst/>
          </a:prstGeom>
        </p:spPr>
      </p:pic>
    </p:spTree>
    <p:extLst>
      <p:ext uri="{BB962C8B-B14F-4D97-AF65-F5344CB8AC3E}">
        <p14:creationId xmlns:p14="http://schemas.microsoft.com/office/powerpoint/2010/main" val="630350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Guest blogging</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88314" y="3976381"/>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Écrire pour des sites de faible qualité, inclure des liens forcés ou non pertinents, copier du contenu existant.</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457110"/>
            <a:ext cx="425450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sites de qualité et pertinents, proposer des sujets intéressants et uniques, rédiger un contenu de qualité, inclure des liens naturels et pertinents.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416633"/>
            <a:ext cx="6857054"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Créer une liste de sites cibles, préparer un pitch convaincant, suivre les directives éditoriales des sites partenaires, construire des relations avec les blogueurs et les éditeurs.</a:t>
            </a: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3924001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Partenariats et collaborations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3" y="2584607"/>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Collaborer avec d'autres entreprises, organisations ou influenceurs pour créer du contenu, organiser des événements ou mener des projets conjoints qui génèrent des liens naturels et de qualité.</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Organiser un webinaire conjoint avec une autre entreprise de votre niche et inclure des liens vers les deux sites sur la page d'inscription et les supports de communication.</a:t>
            </a:r>
          </a:p>
        </p:txBody>
      </p:sp>
      <p:pic>
        <p:nvPicPr>
          <p:cNvPr id="1026" name="Picture 2" descr="Déterminez le type de partenariat et assurez le suivi de votre campagne  d'influence - Gérez votre e-réputation et votre influence de marque -  OpenClassrooms">
            <a:extLst>
              <a:ext uri="{FF2B5EF4-FFF2-40B4-BE49-F238E27FC236}">
                <a16:creationId xmlns:a16="http://schemas.microsoft.com/office/drawing/2014/main" id="{8A3C15A4-A44A-EC38-24E1-48634D74ADD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15263" y="4835026"/>
            <a:ext cx="6083043" cy="1750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099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Partenariats et collaborations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53808" y="4398122"/>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Collaborer avec des partenaires non pertinents ou de mauvaise réputation, ne pas définir clairement les responsabilités et les attentes, créer du contenu ou des événements de faible qualité.</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57551"/>
            <a:ext cx="425450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partenaires de qualité et complémentaires, définir des objectifs et des attentes clairs, créer du contenu ou des événements à valeur ajoutée pour les deux parties.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303695"/>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Rechercher des partenaires potentiels, proposer des idées de collaboration innovantes, établir des accords clairs et suivre les résultats de la collaboration.</a:t>
            </a:r>
          </a:p>
          <a:p>
            <a:r>
              <a:rPr lang="fr-FR" sz="1800" b="1" i="1" dirty="0">
                <a:solidFill>
                  <a:srgbClr val="303030"/>
                </a:solidFill>
                <a:latin typeface="Poppins" panose="00000500000000000000" pitchFamily="2" charset="0"/>
              </a:rPr>
              <a:t>Pensez à contacter la CCI de votre région</a:t>
            </a: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95855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Marketing d'influence</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421534"/>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Travailler avec des influenceurs dans votre niche pour promouvoir votre contenu, vos produits ou vos services et générer des liens et de la visibilité.</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Envoyer un produit gratuit à un influenceur de votre secteur en échange </a:t>
            </a:r>
            <a:r>
              <a:rPr lang="fr-FR" sz="2000" b="1" dirty="0">
                <a:solidFill>
                  <a:srgbClr val="303030"/>
                </a:solidFill>
                <a:latin typeface="Poppins" panose="00000500000000000000" pitchFamily="2" charset="0"/>
              </a:rPr>
              <a:t>d'une critique honnête</a:t>
            </a:r>
            <a:r>
              <a:rPr lang="fr-FR" sz="2000" dirty="0">
                <a:solidFill>
                  <a:srgbClr val="303030"/>
                </a:solidFill>
                <a:latin typeface="Poppins" panose="00000500000000000000" pitchFamily="2" charset="0"/>
              </a:rPr>
              <a:t> et d'un lien vers votre site.</a:t>
            </a:r>
          </a:p>
        </p:txBody>
      </p:sp>
      <p:pic>
        <p:nvPicPr>
          <p:cNvPr id="10" name="Image 9">
            <a:extLst>
              <a:ext uri="{FF2B5EF4-FFF2-40B4-BE49-F238E27FC236}">
                <a16:creationId xmlns:a16="http://schemas.microsoft.com/office/drawing/2014/main" id="{9DF466C7-9CEA-9496-444D-48252D297712}"/>
              </a:ext>
            </a:extLst>
          </p:cNvPr>
          <p:cNvPicPr>
            <a:picLocks noChangeAspect="1"/>
          </p:cNvPicPr>
          <p:nvPr/>
        </p:nvPicPr>
        <p:blipFill>
          <a:blip r:embed="rId2"/>
          <a:stretch>
            <a:fillRect/>
          </a:stretch>
        </p:blipFill>
        <p:spPr>
          <a:xfrm>
            <a:off x="6625923" y="3588205"/>
            <a:ext cx="5098811" cy="2549406"/>
          </a:xfrm>
          <a:prstGeom prst="rect">
            <a:avLst/>
          </a:prstGeom>
        </p:spPr>
      </p:pic>
    </p:spTree>
    <p:extLst>
      <p:ext uri="{BB962C8B-B14F-4D97-AF65-F5344CB8AC3E}">
        <p14:creationId xmlns:p14="http://schemas.microsoft.com/office/powerpoint/2010/main" val="2591847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Marketing d'influence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086783"/>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Acheter des liens ou des critiques d'influenceurs, travailler avec des influenceurs non pertinents ou peu crédibles, ne pas divulguer les partenariats payants.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57551"/>
            <a:ext cx="425450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influenceurs pertinents et authentiques, établir des relations mutuellement bénéfiques, offrir une valeur ajoutée aux influenceurs et à leur audience.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81008" y="609655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Rechercher des influenceurs potentiels, créer des offres personnalisées, suivre et analyser les résultats des campagnes d'influence.</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1236479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Les réseaux sociaux</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421534"/>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les réseaux sociaux pour promouvoir votre contenu et générer des liens en encourageant le partage et l'engagement de votre audience.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Partager un article de blog sur Twitter avec un appel à l'action incitant les followers à partager et à commenter.</a:t>
            </a:r>
          </a:p>
        </p:txBody>
      </p:sp>
    </p:spTree>
    <p:extLst>
      <p:ext uri="{BB962C8B-B14F-4D97-AF65-F5344CB8AC3E}">
        <p14:creationId xmlns:p14="http://schemas.microsoft.com/office/powerpoint/2010/main" val="551886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Les réseaux sociaux</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086783"/>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des techniques de spam, partager du contenu de faible qualité, ne pas interagir avec votre audience.</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57551"/>
            <a:ext cx="425450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Adapter le contenu aux différentes plateformes, encourager l'interaction et l'engagement, partager régulièrement du contenu de qualité.</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81008" y="609655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Définir une stratégie de contenu pour chaque plateforme, utiliser des outils de gestion des réseaux sociaux, analyser et optimiser vos performances.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843081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Ego-</a:t>
            </a:r>
            <a:r>
              <a:rPr lang="fr-FR" sz="3600" dirty="0" err="1">
                <a:solidFill>
                  <a:srgbClr val="303030"/>
                </a:solidFill>
                <a:latin typeface="Poppins" panose="00000500000000000000" pitchFamily="2" charset="0"/>
              </a:rPr>
              <a:t>bait</a:t>
            </a:r>
            <a:endParaRPr lang="fr-FR" sz="3600" dirty="0">
              <a:solidFill>
                <a:srgbClr val="303030"/>
              </a:solidFill>
              <a:latin typeface="Poppins" panose="00000500000000000000" pitchFamily="2" charset="0"/>
            </a:endParaRP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78157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Créer du contenu qui mentionne ou met en avant des personnes influentes, des entreprises ou des organisations dans votre niche, dans le but de les inciter à partager ou à créer des liens vers votre contenu.</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Rédiger un article de blog listant les meilleurs experts en référencement et inclure des liens vers leurs sites et leurs profils sur les réseaux sociaux.</a:t>
            </a:r>
          </a:p>
        </p:txBody>
      </p:sp>
    </p:spTree>
    <p:extLst>
      <p:ext uri="{BB962C8B-B14F-4D97-AF65-F5344CB8AC3E}">
        <p14:creationId xmlns:p14="http://schemas.microsoft.com/office/powerpoint/2010/main" val="3142844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Ego-</a:t>
            </a:r>
            <a:r>
              <a:rPr lang="fr-FR" sz="3600" dirty="0" err="1">
                <a:solidFill>
                  <a:srgbClr val="303030"/>
                </a:solidFill>
                <a:latin typeface="Poppins" panose="00000500000000000000" pitchFamily="2" charset="0"/>
              </a:rPr>
              <a:t>bait</a:t>
            </a:r>
            <a:endParaRPr lang="fr-FR" sz="3600" dirty="0">
              <a:solidFill>
                <a:srgbClr val="303030"/>
              </a:solidFill>
              <a:latin typeface="Poppins" panose="00000500000000000000" pitchFamily="2" charset="0"/>
            </a:endParaRP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419748"/>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Mentionner des personnes ou des entreprises non pertinentes, créer du contenu superficiel ou sensationnaliste, harceler les personnes mentionnées pour qu'elles créent des liens.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70971"/>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personnes ou des entreprises pertinentes et crédibles, créer du contenu de qualité et informatif, notifier les personnes mentionnées et les encourager à partager ou à créer des liens.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81008" y="609655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Rechercher des personnes influentes dans votre secteur, et en </a:t>
            </a:r>
            <a:r>
              <a:rPr lang="fr-FR" sz="1800" b="1" i="1" dirty="0">
                <a:solidFill>
                  <a:srgbClr val="303030"/>
                </a:solidFill>
                <a:latin typeface="Poppins" panose="00000500000000000000" pitchFamily="2" charset="0"/>
              </a:rPr>
              <a:t>sélectionner une seule, </a:t>
            </a:r>
            <a:r>
              <a:rPr lang="fr-FR" sz="1800" i="1" dirty="0">
                <a:solidFill>
                  <a:srgbClr val="303030"/>
                </a:solidFill>
                <a:latin typeface="Poppins" panose="00000500000000000000" pitchFamily="2" charset="0"/>
              </a:rPr>
              <a:t>puis </a:t>
            </a:r>
            <a:r>
              <a:rPr lang="fr-FR" sz="1800" b="1" i="1" dirty="0">
                <a:solidFill>
                  <a:srgbClr val="303030"/>
                </a:solidFill>
                <a:latin typeface="Poppins" panose="00000500000000000000" pitchFamily="2" charset="0"/>
              </a:rPr>
              <a:t> </a:t>
            </a:r>
            <a:r>
              <a:rPr lang="fr-FR" sz="1800" i="1" dirty="0">
                <a:solidFill>
                  <a:srgbClr val="303030"/>
                </a:solidFill>
                <a:latin typeface="Poppins" panose="00000500000000000000" pitchFamily="2" charset="0"/>
              </a:rPr>
              <a:t>créer du contenu attrayant et bien documenté pour établir des relations avec la personne mentionnée.</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178410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Commentaires et forums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78157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Participer activement aux commentaires de blogs, aux forums et aux plateformes de questions-réponses en fournissant des informations utiles et pertinentes, tout en incluant des liens vers votre site de manière naturelle et non promotionnelle.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961173"/>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Participer activement aux commentaires de blogs, aux forums et aux plateformes de questions-réponses en fournissant des informations utiles et pertinentes, tout en incluant des liens vers votre site de manière naturelle et non promotionnelle.</a:t>
            </a:r>
          </a:p>
        </p:txBody>
      </p:sp>
    </p:spTree>
    <p:extLst>
      <p:ext uri="{BB962C8B-B14F-4D97-AF65-F5344CB8AC3E}">
        <p14:creationId xmlns:p14="http://schemas.microsoft.com/office/powerpoint/2010/main" val="2683685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Commentaires et forums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3873459"/>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des techniques de spam, inclure des liens promotionnels ou non pertinents, ne pas respecter les règles des plateformes.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506584"/>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Participer aux discussions de manière authentique et informative, inclure des liens pertinents et utiles, respecter les règles et les directives des plateformes.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81008" y="609655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 Rejoindre des forums et des plateformes pertinentes, établir une réputation en tant qu'expert, suivre et analyser les résultats de vos efforts.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6872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Analyse des </a:t>
            </a:r>
            <a:r>
              <a:rPr lang="fr-FR" sz="3600" dirty="0" err="1">
                <a:solidFill>
                  <a:srgbClr val="303030"/>
                </a:solidFill>
                <a:latin typeface="Poppins" panose="00000500000000000000" pitchFamily="2" charset="0"/>
              </a:rPr>
              <a:t>backlinks</a:t>
            </a:r>
            <a:r>
              <a:rPr lang="fr-FR" sz="3600" dirty="0">
                <a:solidFill>
                  <a:srgbClr val="303030"/>
                </a:solidFill>
                <a:latin typeface="Poppins" panose="00000500000000000000" pitchFamily="2" charset="0"/>
              </a:rPr>
              <a:t> des concurrents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506050"/>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des outils d'analyse de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pour examiner les profils de liens de vos concurrents et identifier des opportunités de liens pour votre propre site.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547135"/>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 Analyser les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d'un concurrent qui occupe une position élevée dans les résultats de recherche et identifier des sites pertinents pour obtenir des liens similaires.</a:t>
            </a:r>
          </a:p>
        </p:txBody>
      </p:sp>
    </p:spTree>
    <p:extLst>
      <p:ext uri="{BB962C8B-B14F-4D97-AF65-F5344CB8AC3E}">
        <p14:creationId xmlns:p14="http://schemas.microsoft.com/office/powerpoint/2010/main" val="1677675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Analyse des </a:t>
            </a:r>
            <a:r>
              <a:rPr lang="fr-FR" sz="3600" dirty="0" err="1">
                <a:solidFill>
                  <a:srgbClr val="303030"/>
                </a:solidFill>
                <a:latin typeface="Poppins" panose="00000500000000000000" pitchFamily="2" charset="0"/>
              </a:rPr>
              <a:t>backlinks</a:t>
            </a:r>
            <a:r>
              <a:rPr lang="fr-FR" sz="3600" dirty="0">
                <a:solidFill>
                  <a:srgbClr val="303030"/>
                </a:solidFill>
                <a:latin typeface="Poppins" panose="00000500000000000000" pitchFamily="2" charset="0"/>
              </a:rPr>
              <a:t> des concurrents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3873459"/>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Copier aveuglément les stratégies de liens des concurrents, utiliser des données inexactes ou obsolètes, cibler des liens de mauvaise qualité.</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506584"/>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concurrents pertinents pour l'analyse, utiliser des outils de qualité pour obtenir des données précises, exploiter les opportunités de liens de manière éthique.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51832" y="618587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Effectuer régulièrement des analyses des </a:t>
            </a:r>
            <a:r>
              <a:rPr lang="fr-FR" sz="1800" i="1" dirty="0" err="1">
                <a:solidFill>
                  <a:srgbClr val="303030"/>
                </a:solidFill>
                <a:latin typeface="Poppins" panose="00000500000000000000" pitchFamily="2" charset="0"/>
              </a:rPr>
              <a:t>backlinks</a:t>
            </a:r>
            <a:r>
              <a:rPr lang="fr-FR" sz="1800" i="1" dirty="0">
                <a:solidFill>
                  <a:srgbClr val="303030"/>
                </a:solidFill>
                <a:latin typeface="Poppins" panose="00000500000000000000" pitchFamily="2" charset="0"/>
              </a:rPr>
              <a:t> des concurrents, ajuster votre stratégie de Netlinking en fonction des tendances du marché, surveiller les résultats de vos efforts.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215774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Récupération de liens brisés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506050"/>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 Identifier les liens brisés sur d'autres sites Web pointant vers des ressources similaires à celles que vous offrez, puis contacter les propriétaires de ces sites pour leur proposer de remplacer le lien brisé par un lien vers votre contenu.</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547135"/>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Trouver un lien brisé vers un article sur les meilleures pratiques de référencement sur un blog de marketing et proposer un lien vers votre propre article sur le même sujet.</a:t>
            </a:r>
          </a:p>
        </p:txBody>
      </p:sp>
    </p:spTree>
    <p:extLst>
      <p:ext uri="{BB962C8B-B14F-4D97-AF65-F5344CB8AC3E}">
        <p14:creationId xmlns:p14="http://schemas.microsoft.com/office/powerpoint/2010/main" val="1378503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Récupération de liens brisés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3873459"/>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Contacter des sites non pertinents, proposer des ressources de faible qualité, envoyer des messages génériques ou intrusifs.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506584"/>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 Utiliser des outils de recherche de liens brisés, proposer des ressources de qualité et pertinentes pour remplacer les liens brisés, personnaliser vos messages de contact.</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51832" y="618587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Rechercher régulièrement des opportunités de récupération de liens brisés, créer un modèle de message pour faciliter les contacts, suivre et analyser les résultats de vos efforts.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3667109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Suivi et analyse des résultats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506050"/>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des outils de suivi et d'analyse pour mesurer l'efficacité de votre stratégie de Netlinking, identifier les domaines à améliorer et ajuster votre approche en conséquence.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547135"/>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Google </a:t>
            </a:r>
            <a:r>
              <a:rPr lang="fr-FR" sz="2000" dirty="0" err="1">
                <a:solidFill>
                  <a:srgbClr val="303030"/>
                </a:solidFill>
                <a:latin typeface="Poppins" panose="00000500000000000000" pitchFamily="2" charset="0"/>
              </a:rPr>
              <a:t>Search</a:t>
            </a:r>
            <a:r>
              <a:rPr lang="fr-FR" sz="2000" dirty="0">
                <a:solidFill>
                  <a:srgbClr val="303030"/>
                </a:solidFill>
                <a:latin typeface="Poppins" panose="00000500000000000000" pitchFamily="2" charset="0"/>
              </a:rPr>
              <a:t> Console pour suivre les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acquis et leur impact sur votre positionnement dans les résultats de recherche.</a:t>
            </a:r>
          </a:p>
        </p:txBody>
      </p:sp>
    </p:spTree>
    <p:extLst>
      <p:ext uri="{BB962C8B-B14F-4D97-AF65-F5344CB8AC3E}">
        <p14:creationId xmlns:p14="http://schemas.microsoft.com/office/powerpoint/2010/main" val="2395756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Suivi et analyse des résultats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3873459"/>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 Ne pas définir d'objectifs, se fier uniquement aux métriques de vanité, ignorer les données ou ne pas les utiliser pour améliorer votre stratégie.</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506584"/>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Définir des objectifs clairs et mesurables, utiliser des outils fiables et précis, analyser régulièrement les données pour identifier les tendances et les opportunités.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51832" y="618587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Configurer des outils de suivi dès le début de votre stratégie de Netlinking, établir un calendrier d'analyse et de révision, partager les résultats avec les parties prenantes.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1924049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Skyscraper technique</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93785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Identifier les contenus les plus performants dans votre niche, créer un contenu encore meilleur et plus complet, puis contacter les propriétaires de sites qui ont lié aux contenus originaux pour leur proposer de lier à votre contenu.</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Trouver un article populaire sur les stratégies de référencement, créer un guide ultime plus détaillé et contacter les sites qui ont lié à l'article original pour leur proposer de lier à votre guide.</a:t>
            </a:r>
          </a:p>
        </p:txBody>
      </p:sp>
    </p:spTree>
    <p:extLst>
      <p:ext uri="{BB962C8B-B14F-4D97-AF65-F5344CB8AC3E}">
        <p14:creationId xmlns:p14="http://schemas.microsoft.com/office/powerpoint/2010/main" val="199211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Skyscraper technique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3873459"/>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Copier le contenu existant, créer du contenu de faible qualité, envoyer des messages génériques ou intrusifs.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240142"/>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Rechercher des contenus de qualité, créer un contenu vraiment exceptionnel, personnaliser vos messages de contact.</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51832" y="6185879"/>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Utiliser des outils pour identifier les contenus performants, investir du temps et des ressources pour créer du contenu de haute qualité, établir des relations avec les propriétaires de sites.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360090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Co-citation et co-occurrence</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293785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Les </a:t>
            </a:r>
            <a:r>
              <a:rPr lang="fr-FR" sz="2000" dirty="0" err="1">
                <a:solidFill>
                  <a:srgbClr val="303030"/>
                </a:solidFill>
                <a:latin typeface="Poppins" panose="00000500000000000000" pitchFamily="2" charset="0"/>
              </a:rPr>
              <a:t>co</a:t>
            </a:r>
            <a:r>
              <a:rPr lang="fr-FR" sz="2000" dirty="0">
                <a:solidFill>
                  <a:srgbClr val="303030"/>
                </a:solidFill>
                <a:latin typeface="Poppins" panose="00000500000000000000" pitchFamily="2" charset="0"/>
              </a:rPr>
              <a:t>-citations et co-occurrences font référence à la fréquence à laquelle votre marque ou votre site est mentionné et/ou lié en relation avec d'autres marques ou sites pertinents, ce qui peut influencer positivement votre autorité et votre classement dans les moteurs de recherche.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3" y="355756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Votre site est mentionné dans un article de blog sur les meilleurs outils de référencement en même temps que d'autres outils populaires du secteur.</a:t>
            </a:r>
          </a:p>
        </p:txBody>
      </p:sp>
    </p:spTree>
    <p:extLst>
      <p:ext uri="{BB962C8B-B14F-4D97-AF65-F5344CB8AC3E}">
        <p14:creationId xmlns:p14="http://schemas.microsoft.com/office/powerpoint/2010/main" val="1812001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Co-citation et co-occurrence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53808" y="4352227"/>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Utiliser des techniques de spam, chercher à être mentionné par des sites non pertinents ou de mauvaise qualité, ignorer l'importance des relations avec d'autres acteurs du secteur.</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573911"/>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Créer du contenu de qualité qui incite les autres à vous mentionner, établir des relations avec des sites et des marques pertinents, participer activement à des événements et des forums de votre niche.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6118552"/>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Surveiller les </a:t>
            </a:r>
            <a:r>
              <a:rPr lang="fr-FR" sz="1800" i="1" dirty="0" err="1">
                <a:solidFill>
                  <a:srgbClr val="303030"/>
                </a:solidFill>
                <a:latin typeface="Poppins" panose="00000500000000000000" pitchFamily="2" charset="0"/>
              </a:rPr>
              <a:t>co</a:t>
            </a:r>
            <a:r>
              <a:rPr lang="fr-FR" sz="1800" i="1" dirty="0">
                <a:solidFill>
                  <a:srgbClr val="303030"/>
                </a:solidFill>
                <a:latin typeface="Poppins" panose="00000500000000000000" pitchFamily="2" charset="0"/>
              </a:rPr>
              <a:t>-citations et co-occurrences, ajuster votre stratégie pour renforcer votre autorité et votre réseau, analyser l'impact sur votre référencement.</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039271"/>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404030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Mentions de marque sans lien (brand mention) </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28642" y="3078748"/>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 Les mentions de marque sans lien sont des occurrences où votre marque est mentionnée sur d'autres sites sans qu'un lien hypertexte ne pointe vers votre site. Bien que ces mentions n'apportent pas directement de valeur en termes de lien, elles peuvent renforcer votre notoriété et influencer indirectement votre classement dans les moteurs de recherche.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2" y="376452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72348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Votre entreprise est mentionnée dans un article de presse en tant qu'exemple de succès dans votre secteur, sans lien vers votre site.</a:t>
            </a:r>
          </a:p>
        </p:txBody>
      </p:sp>
    </p:spTree>
    <p:extLst>
      <p:ext uri="{BB962C8B-B14F-4D97-AF65-F5344CB8AC3E}">
        <p14:creationId xmlns:p14="http://schemas.microsoft.com/office/powerpoint/2010/main" val="2699742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Mentions de marque sans lien (brand mention) </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292702"/>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Ignorer l'importance des mentions de marque, ne pas surveiller les mentions de votre marque, ne pas chercher à établir des relations avec les personnes qui vous mentionnent.</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12658" y="4868433"/>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Surveiller les mentions de votre marque, contacter les propriétaires de sites pour les remercier des mentions et éventuellement leur proposer un lien, renforcer la notoriété de votre marque par des actions de marketing et de communication.</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25185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Utiliser des outils de surveillance des mentions de marque (Google </a:t>
            </a:r>
            <a:r>
              <a:rPr lang="fr-FR" sz="1800" i="1" dirty="0" err="1">
                <a:solidFill>
                  <a:srgbClr val="303030"/>
                </a:solidFill>
                <a:latin typeface="Poppins" panose="00000500000000000000" pitchFamily="2" charset="0"/>
              </a:rPr>
              <a:t>Alert</a:t>
            </a:r>
            <a:r>
              <a:rPr lang="fr-FR" sz="1800" i="1" dirty="0">
                <a:solidFill>
                  <a:srgbClr val="303030"/>
                </a:solidFill>
                <a:latin typeface="Poppins" panose="00000500000000000000" pitchFamily="2" charset="0"/>
              </a:rPr>
              <a:t>, par exemple), établir un plan de communication pour accroître la notoriété de votre marque, analyser l'impact des mentions de marque sur votre référencement et votre notoriété.</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169882"/>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421885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Participation à des événements et conférences</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04307" y="2711729"/>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Participer à des événements et conférences de votre secteur pour établir des relations, partager des connaissances et obtenir des liens et des mentions de votre marque.</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328642" y="3764528"/>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6090504"/>
            <a:ext cx="6192927"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Assister à une conférence sur le marketing digital, donner une présentation sur les meilleures pratiques de référencement et obtenir des liens et des mentions de votre marque dans des articles de blog ou des réseaux sociaux.</a:t>
            </a:r>
          </a:p>
        </p:txBody>
      </p:sp>
    </p:spTree>
    <p:extLst>
      <p:ext uri="{BB962C8B-B14F-4D97-AF65-F5344CB8AC3E}">
        <p14:creationId xmlns:p14="http://schemas.microsoft.com/office/powerpoint/2010/main" val="607700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Participation à des événements et conférences</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292702"/>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Participer à des événements non pertinents, négliger la préparation de votre présentation, ne pas interagir avec les autres participants.</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00133"/>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Choisir des événements et conférences pertinents pour votre secteur, préparer des présentations de qualité, établir des relations avec les participants et les organisateurs.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25185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Planifier à l'avance les événements et conférences auxquels vous souhaitez assister, travailler sur des présentations percutantes, suivre les contacts établis lors des événements pour renforcer les relations et les opportunités de liens.</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169882"/>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819985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28642" y="1855702"/>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Les critères EAT (Expertise, </a:t>
            </a:r>
            <a:r>
              <a:rPr lang="fr-FR" sz="3600" dirty="0" err="1">
                <a:solidFill>
                  <a:srgbClr val="303030"/>
                </a:solidFill>
                <a:latin typeface="Poppins" panose="00000500000000000000" pitchFamily="2" charset="0"/>
              </a:rPr>
              <a:t>Authoritativeness</a:t>
            </a:r>
            <a:r>
              <a:rPr lang="fr-FR" sz="3600" dirty="0">
                <a:solidFill>
                  <a:srgbClr val="303030"/>
                </a:solidFill>
                <a:latin typeface="Poppins" panose="00000500000000000000" pitchFamily="2" charset="0"/>
              </a:rPr>
              <a:t>, </a:t>
            </a:r>
            <a:r>
              <a:rPr lang="fr-FR" sz="3600" dirty="0" err="1">
                <a:solidFill>
                  <a:srgbClr val="303030"/>
                </a:solidFill>
                <a:latin typeface="Poppins" panose="00000500000000000000" pitchFamily="2" charset="0"/>
              </a:rPr>
              <a:t>Trustworthiness</a:t>
            </a:r>
            <a:r>
              <a:rPr lang="fr-FR" sz="3600" dirty="0">
                <a:solidFill>
                  <a:srgbClr val="303030"/>
                </a:solidFill>
                <a:latin typeface="Poppins" panose="00000500000000000000" pitchFamily="2" charset="0"/>
              </a:rPr>
              <a:t>)</a:t>
            </a:r>
          </a:p>
        </p:txBody>
      </p:sp>
      <p:sp>
        <p:nvSpPr>
          <p:cNvPr id="6" name="Titre 1">
            <a:extLst>
              <a:ext uri="{FF2B5EF4-FFF2-40B4-BE49-F238E27FC236}">
                <a16:creationId xmlns:a16="http://schemas.microsoft.com/office/drawing/2014/main" id="{18AC14B5-53CB-09D9-1171-918E47645CB6}"/>
              </a:ext>
            </a:extLst>
          </p:cNvPr>
          <p:cNvSpPr txBox="1">
            <a:spLocks/>
          </p:cNvSpPr>
          <p:nvPr/>
        </p:nvSpPr>
        <p:spPr>
          <a:xfrm>
            <a:off x="304307" y="3015435"/>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Les critères EAT sont essentiels pour le succès de votre stratégie de Netlinking. Ils représentent les facteurs que Google prend en compte pour évaluer la qualité et la pertinence d'un site Web et de son contenu.</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328642" y="5030330"/>
            <a:ext cx="11240506"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b="1" dirty="0">
                <a:solidFill>
                  <a:srgbClr val="303030"/>
                </a:solidFill>
                <a:latin typeface="Poppins" panose="00000500000000000000" pitchFamily="2" charset="0"/>
              </a:rPr>
              <a:t>Expertise</a:t>
            </a:r>
            <a:r>
              <a:rPr lang="fr-FR" sz="2000" dirty="0">
                <a:solidFill>
                  <a:srgbClr val="303030"/>
                </a:solidFill>
                <a:latin typeface="Poppins" panose="00000500000000000000" pitchFamily="2" charset="0"/>
              </a:rPr>
              <a:t> : Montrez votre expertise en partageant du contenu de haute qualité et en démontrant votre connaissance approfondie du sujet.</a:t>
            </a: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Authoritativeness</a:t>
            </a:r>
            <a:r>
              <a:rPr lang="fr-FR" sz="2000" dirty="0">
                <a:solidFill>
                  <a:srgbClr val="303030"/>
                </a:solidFill>
                <a:latin typeface="Poppins" panose="00000500000000000000" pitchFamily="2" charset="0"/>
              </a:rPr>
              <a:t> : Gagnez en autorité en obtenant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 sites de qualité et en étant reconnu comme une source fiable dans votre secteur.</a:t>
            </a:r>
            <a:endParaRPr lang="fr-FR" sz="2000" b="1"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err="1">
                <a:solidFill>
                  <a:srgbClr val="303030"/>
                </a:solidFill>
                <a:latin typeface="Poppins" panose="00000500000000000000" pitchFamily="2" charset="0"/>
              </a:rPr>
              <a:t>Trustworthiness</a:t>
            </a:r>
            <a:r>
              <a:rPr lang="fr-FR" sz="2000" dirty="0">
                <a:solidFill>
                  <a:srgbClr val="303030"/>
                </a:solidFill>
                <a:latin typeface="Poppins" panose="00000500000000000000" pitchFamily="2" charset="0"/>
              </a:rPr>
              <a:t> : Établissez la confiance en fournissant des informations exactes, en maintenant la transparence et en sécurisant votre site Web.</a:t>
            </a:r>
          </a:p>
        </p:txBody>
      </p:sp>
      <p:sp>
        <p:nvSpPr>
          <p:cNvPr id="3" name="Titre 1">
            <a:extLst>
              <a:ext uri="{FF2B5EF4-FFF2-40B4-BE49-F238E27FC236}">
                <a16:creationId xmlns:a16="http://schemas.microsoft.com/office/drawing/2014/main" id="{EF347D2E-F33A-8B61-5E3D-7C90BFE24165}"/>
              </a:ext>
            </a:extLst>
          </p:cNvPr>
          <p:cNvSpPr txBox="1">
            <a:spLocks/>
          </p:cNvSpPr>
          <p:nvPr/>
        </p:nvSpPr>
        <p:spPr>
          <a:xfrm>
            <a:off x="328641" y="5775160"/>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exemple</a:t>
            </a:r>
          </a:p>
        </p:txBody>
      </p:sp>
      <p:sp>
        <p:nvSpPr>
          <p:cNvPr id="10" name="Titre 1">
            <a:extLst>
              <a:ext uri="{FF2B5EF4-FFF2-40B4-BE49-F238E27FC236}">
                <a16:creationId xmlns:a16="http://schemas.microsoft.com/office/drawing/2014/main" id="{C034C0B8-B8E5-B1E9-D648-A2738E6D4CC4}"/>
              </a:ext>
            </a:extLst>
          </p:cNvPr>
          <p:cNvSpPr txBox="1">
            <a:spLocks/>
          </p:cNvSpPr>
          <p:nvPr/>
        </p:nvSpPr>
        <p:spPr>
          <a:xfrm>
            <a:off x="2487384" y="6237215"/>
            <a:ext cx="853565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1600" dirty="0">
                <a:solidFill>
                  <a:srgbClr val="303030"/>
                </a:solidFill>
                <a:latin typeface="Poppins" panose="00000500000000000000" pitchFamily="2" charset="0"/>
              </a:rPr>
              <a:t>Si vous êtes un expert en nutrition, assurez-vous de partager des conseils basés sur des recherches scientifiques, obtenez des liens de sites Web de santé réputés et fournissez des informations transparentes sur votre formation et vos qualifications. Ajoutez une brève biographie pour appuyer ces propos</a:t>
            </a:r>
          </a:p>
        </p:txBody>
      </p:sp>
    </p:spTree>
    <p:extLst>
      <p:ext uri="{BB962C8B-B14F-4D97-AF65-F5344CB8AC3E}">
        <p14:creationId xmlns:p14="http://schemas.microsoft.com/office/powerpoint/2010/main" val="319473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Stratégies et 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284881" y="1862991"/>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Les critères EAT (Expertise, </a:t>
            </a:r>
            <a:r>
              <a:rPr lang="fr-FR" sz="3600" dirty="0" err="1">
                <a:solidFill>
                  <a:srgbClr val="303030"/>
                </a:solidFill>
                <a:latin typeface="Poppins" panose="00000500000000000000" pitchFamily="2" charset="0"/>
              </a:rPr>
              <a:t>Authoritativeness</a:t>
            </a:r>
            <a:r>
              <a:rPr lang="fr-FR" sz="3600" dirty="0">
                <a:solidFill>
                  <a:srgbClr val="303030"/>
                </a:solidFill>
                <a:latin typeface="Poppins" panose="00000500000000000000" pitchFamily="2" charset="0"/>
              </a:rPr>
              <a:t>, </a:t>
            </a:r>
            <a:r>
              <a:rPr lang="fr-FR" sz="3600" dirty="0" err="1">
                <a:solidFill>
                  <a:srgbClr val="303030"/>
                </a:solidFill>
                <a:latin typeface="Poppins" panose="00000500000000000000" pitchFamily="2" charset="0"/>
              </a:rPr>
              <a:t>Trustworthiness</a:t>
            </a:r>
            <a:r>
              <a:rPr lang="fr-FR" sz="3600" dirty="0">
                <a:solidFill>
                  <a:srgbClr val="303030"/>
                </a:solidFill>
                <a:latin typeface="Poppins" panose="00000500000000000000" pitchFamily="2" charset="0"/>
              </a:rPr>
              <a:t>)</a:t>
            </a:r>
          </a:p>
        </p:txBody>
      </p:sp>
      <p:sp>
        <p:nvSpPr>
          <p:cNvPr id="4" name="Titre 1">
            <a:extLst>
              <a:ext uri="{FF2B5EF4-FFF2-40B4-BE49-F238E27FC236}">
                <a16:creationId xmlns:a16="http://schemas.microsoft.com/office/drawing/2014/main" id="{4D7A7BB3-5CE6-E0F5-9A4F-F7D7E3C00112}"/>
              </a:ext>
            </a:extLst>
          </p:cNvPr>
          <p:cNvSpPr txBox="1">
            <a:spLocks/>
          </p:cNvSpPr>
          <p:nvPr/>
        </p:nvSpPr>
        <p:spPr>
          <a:xfrm>
            <a:off x="449274" y="2211057"/>
            <a:ext cx="4254505"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bonne pratique</a:t>
            </a:r>
          </a:p>
        </p:txBody>
      </p:sp>
      <p:sp>
        <p:nvSpPr>
          <p:cNvPr id="8" name="Titre 1">
            <a:extLst>
              <a:ext uri="{FF2B5EF4-FFF2-40B4-BE49-F238E27FC236}">
                <a16:creationId xmlns:a16="http://schemas.microsoft.com/office/drawing/2014/main" id="{E4EC96B4-5354-645A-A0CE-1690640A6662}"/>
              </a:ext>
            </a:extLst>
          </p:cNvPr>
          <p:cNvSpPr txBox="1">
            <a:spLocks/>
          </p:cNvSpPr>
          <p:nvPr/>
        </p:nvSpPr>
        <p:spPr>
          <a:xfrm>
            <a:off x="6501556" y="4292702"/>
            <a:ext cx="533388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Publier du contenu peu fiable ou inexact, ne pas mettre à jour régulièrement votre site, ignorer l'importance de l'autorité et de la confiance dans votre secteur.</a:t>
            </a:r>
          </a:p>
        </p:txBody>
      </p:sp>
      <p:sp>
        <p:nvSpPr>
          <p:cNvPr id="3" name="Titre 1">
            <a:extLst>
              <a:ext uri="{FF2B5EF4-FFF2-40B4-BE49-F238E27FC236}">
                <a16:creationId xmlns:a16="http://schemas.microsoft.com/office/drawing/2014/main" id="{68C5F35A-8015-8278-8C3A-AFA934ABDF3A}"/>
              </a:ext>
            </a:extLst>
          </p:cNvPr>
          <p:cNvSpPr txBox="1">
            <a:spLocks/>
          </p:cNvSpPr>
          <p:nvPr/>
        </p:nvSpPr>
        <p:spPr>
          <a:xfrm>
            <a:off x="6886963" y="2211057"/>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mauvaise pratique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4600133"/>
            <a:ext cx="4811031"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Fournir un contenu de qualité et bien documenté, obtenir des liens de sites de qualité et pertinents, être transparent sur les sources d'information et les affiliations.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cxnSp>
        <p:nvCxnSpPr>
          <p:cNvPr id="14" name="Connecteur droit 13">
            <a:extLst>
              <a:ext uri="{FF2B5EF4-FFF2-40B4-BE49-F238E27FC236}">
                <a16:creationId xmlns:a16="http://schemas.microsoft.com/office/drawing/2014/main" id="{5B108703-C54E-0CA8-F985-49D5599DEC62}"/>
              </a:ext>
            </a:extLst>
          </p:cNvPr>
          <p:cNvCxnSpPr>
            <a:cxnSpLocks/>
          </p:cNvCxnSpPr>
          <p:nvPr/>
        </p:nvCxnSpPr>
        <p:spPr>
          <a:xfrm>
            <a:off x="5753820" y="2287199"/>
            <a:ext cx="0" cy="2613278"/>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itre 1">
            <a:extLst>
              <a:ext uri="{FF2B5EF4-FFF2-40B4-BE49-F238E27FC236}">
                <a16:creationId xmlns:a16="http://schemas.microsoft.com/office/drawing/2014/main" id="{928411CC-C4E0-00AD-1C71-468576DCC4D6}"/>
              </a:ext>
            </a:extLst>
          </p:cNvPr>
          <p:cNvSpPr txBox="1">
            <a:spLocks/>
          </p:cNvSpPr>
          <p:nvPr/>
        </p:nvSpPr>
        <p:spPr>
          <a:xfrm>
            <a:off x="449274" y="625185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1800" i="1" dirty="0">
                <a:solidFill>
                  <a:srgbClr val="303030"/>
                </a:solidFill>
                <a:latin typeface="Poppins" panose="00000500000000000000" pitchFamily="2" charset="0"/>
              </a:rPr>
              <a:t>Travaillez sur la qualité de votre contenu, collaborez avec des experts reconnus dans votre domaine, surveillez et améliorez continuellement votre profil de </a:t>
            </a:r>
            <a:r>
              <a:rPr lang="fr-FR" sz="1800" i="1" dirty="0" err="1">
                <a:solidFill>
                  <a:srgbClr val="303030"/>
                </a:solidFill>
                <a:latin typeface="Poppins" panose="00000500000000000000" pitchFamily="2" charset="0"/>
              </a:rPr>
              <a:t>backlinks</a:t>
            </a:r>
            <a:r>
              <a:rPr lang="fr-FR" sz="1800" i="1" dirty="0">
                <a:solidFill>
                  <a:srgbClr val="303030"/>
                </a:solidFill>
                <a:latin typeface="Poppins" panose="00000500000000000000" pitchFamily="2" charset="0"/>
              </a:rPr>
              <a:t>, et assurez-vous que votre site est sécurisé et transparent.</a:t>
            </a:r>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449274" y="5169882"/>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mon conseil</a:t>
            </a:r>
          </a:p>
        </p:txBody>
      </p:sp>
    </p:spTree>
    <p:extLst>
      <p:ext uri="{BB962C8B-B14F-4D97-AF65-F5344CB8AC3E}">
        <p14:creationId xmlns:p14="http://schemas.microsoft.com/office/powerpoint/2010/main" val="2687163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Recherche de sites de qualité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3044839"/>
            <a:ext cx="1032474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L'objectif de la recherche de sites de qualité est d'identifier des sites Web pertinents et de haute qualité qui pourraient être intéressés par le lien vers votre contenu. Ces sites doivent être pertinents pour votre niche ou votre secteur et avoir une autorité de domaine élevée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
        <p:nvSpPr>
          <p:cNvPr id="18" name="Titre 1">
            <a:extLst>
              <a:ext uri="{FF2B5EF4-FFF2-40B4-BE49-F238E27FC236}">
                <a16:creationId xmlns:a16="http://schemas.microsoft.com/office/drawing/2014/main" id="{6490CD0B-D143-2402-E4F8-F25AE6424861}"/>
              </a:ext>
            </a:extLst>
          </p:cNvPr>
          <p:cNvSpPr txBox="1">
            <a:spLocks/>
          </p:cNvSpPr>
          <p:nvPr/>
        </p:nvSpPr>
        <p:spPr>
          <a:xfrm>
            <a:off x="6847505" y="5482990"/>
            <a:ext cx="5140643"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1">
                    <a:lumMod val="85000"/>
                    <a:lumOff val="15000"/>
                  </a:schemeClr>
                </a:solidFill>
                <a:latin typeface="Bebas Neue" panose="020B0606020202050201" pitchFamily="34" charset="0"/>
              </a:rPr>
              <a:t>COMMENT trouver ces sites ?</a:t>
            </a:r>
          </a:p>
        </p:txBody>
      </p:sp>
    </p:spTree>
    <p:extLst>
      <p:ext uri="{BB962C8B-B14F-4D97-AF65-F5344CB8AC3E}">
        <p14:creationId xmlns:p14="http://schemas.microsoft.com/office/powerpoint/2010/main" val="1529583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Recherche de sites de qualité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56559" y="5740733"/>
            <a:ext cx="1032474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b="1" dirty="0">
                <a:solidFill>
                  <a:srgbClr val="303030"/>
                </a:solidFill>
                <a:latin typeface="Poppins" panose="00000500000000000000" pitchFamily="2" charset="0"/>
              </a:rPr>
              <a:t>Utilisation d'outils SEO </a:t>
            </a:r>
            <a:r>
              <a:rPr lang="fr-FR" sz="2000" dirty="0">
                <a:solidFill>
                  <a:srgbClr val="303030"/>
                </a:solidFill>
                <a:latin typeface="Poppins" panose="00000500000000000000" pitchFamily="2" charset="0"/>
              </a:rPr>
              <a:t>: Des outils comme </a:t>
            </a:r>
            <a:r>
              <a:rPr lang="fr-FR" sz="2000" dirty="0" err="1">
                <a:solidFill>
                  <a:srgbClr val="303030"/>
                </a:solidFill>
                <a:latin typeface="Poppins" panose="00000500000000000000" pitchFamily="2" charset="0"/>
              </a:rPr>
              <a:t>Ahrefs</a:t>
            </a:r>
            <a:r>
              <a:rPr lang="fr-FR" sz="2000" dirty="0">
                <a:solidFill>
                  <a:srgbClr val="303030"/>
                </a:solidFill>
                <a:latin typeface="Poppins" panose="00000500000000000000" pitchFamily="2" charset="0"/>
              </a:rPr>
              <a:t>, </a:t>
            </a:r>
            <a:r>
              <a:rPr lang="fr-FR" sz="2000" dirty="0" err="1">
                <a:solidFill>
                  <a:srgbClr val="303030"/>
                </a:solidFill>
                <a:latin typeface="Poppins" panose="00000500000000000000" pitchFamily="2" charset="0"/>
              </a:rPr>
              <a:t>SEMRush</a:t>
            </a:r>
            <a:r>
              <a:rPr lang="fr-FR" sz="2000" dirty="0">
                <a:solidFill>
                  <a:srgbClr val="303030"/>
                </a:solidFill>
                <a:latin typeface="Poppins" panose="00000500000000000000" pitchFamily="2" charset="0"/>
              </a:rPr>
              <a:t> ou </a:t>
            </a:r>
            <a:r>
              <a:rPr lang="fr-FR" sz="2000" dirty="0" err="1">
                <a:solidFill>
                  <a:srgbClr val="303030"/>
                </a:solidFill>
                <a:latin typeface="Poppins" panose="00000500000000000000" pitchFamily="2" charset="0"/>
              </a:rPr>
              <a:t>Moz</a:t>
            </a:r>
            <a:r>
              <a:rPr lang="fr-FR" sz="2000" dirty="0">
                <a:solidFill>
                  <a:srgbClr val="303030"/>
                </a:solidFill>
                <a:latin typeface="Poppins" panose="00000500000000000000" pitchFamily="2" charset="0"/>
              </a:rPr>
              <a:t> peuvent être utilisés pour trouver des sites avec une autorité de domaine élevée dans votre secteur.</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Analyse de la concurrence </a:t>
            </a:r>
            <a:r>
              <a:rPr lang="fr-FR" sz="2000" dirty="0">
                <a:solidFill>
                  <a:srgbClr val="303030"/>
                </a:solidFill>
                <a:latin typeface="Poppins" panose="00000500000000000000" pitchFamily="2" charset="0"/>
              </a:rPr>
              <a:t>: Regardez où vos concurrents obtiennent leurs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C'est un excellent moyen de trouver des sites qui pourraient également être intéressés à lier à votre contenu.</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Recherche Google avancée </a:t>
            </a:r>
            <a:r>
              <a:rPr lang="fr-FR" sz="2000" dirty="0">
                <a:solidFill>
                  <a:srgbClr val="303030"/>
                </a:solidFill>
                <a:latin typeface="Poppins" panose="00000500000000000000" pitchFamily="2" charset="0"/>
              </a:rPr>
              <a:t>: Utilisez des opérateurs de recherche avancée pour trouver des sites qui ont lié à des contenus similaires au vôtre.</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Participation à des communautés en ligne </a:t>
            </a:r>
            <a:r>
              <a:rPr lang="fr-FR" sz="2000" dirty="0">
                <a:solidFill>
                  <a:srgbClr val="303030"/>
                </a:solidFill>
                <a:latin typeface="Poppins" panose="00000500000000000000" pitchFamily="2" charset="0"/>
              </a:rPr>
              <a:t>: Participez à des forums, des groupes de réseaux sociaux et d'autres communautés en ligne pour trouver des sites qui pourraient être intéressés par votre contenu.</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28253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Outreach</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286504" y="3429000"/>
            <a:ext cx="1032474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L'</a:t>
            </a:r>
            <a:r>
              <a:rPr lang="fr-FR" sz="2000" dirty="0" err="1">
                <a:solidFill>
                  <a:srgbClr val="303030"/>
                </a:solidFill>
                <a:latin typeface="Poppins" panose="00000500000000000000" pitchFamily="2" charset="0"/>
              </a:rPr>
              <a:t>outreach</a:t>
            </a:r>
            <a:r>
              <a:rPr lang="fr-FR" sz="2000" dirty="0">
                <a:solidFill>
                  <a:srgbClr val="303030"/>
                </a:solidFill>
                <a:latin typeface="Poppins" panose="00000500000000000000" pitchFamily="2" charset="0"/>
              </a:rPr>
              <a:t>, ou la portée, est le processus par lequel vous contactez les propriétaires de sites, les blogueurs, les influenceurs et d'autres acteurs de votre secteur pour leur proposer de lier à votre contenu. C'est une étape clé de toute stratégie de Netlinking.</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919797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Outreach</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04307" y="5874875"/>
            <a:ext cx="1032474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L'</a:t>
            </a:r>
            <a:r>
              <a:rPr lang="fr-FR" sz="2000" dirty="0" err="1">
                <a:solidFill>
                  <a:srgbClr val="303030"/>
                </a:solidFill>
                <a:latin typeface="Poppins" panose="00000500000000000000" pitchFamily="2" charset="0"/>
              </a:rPr>
              <a:t>outreach</a:t>
            </a:r>
            <a:r>
              <a:rPr lang="fr-FR" sz="2000" dirty="0">
                <a:solidFill>
                  <a:srgbClr val="303030"/>
                </a:solidFill>
                <a:latin typeface="Poppins" panose="00000500000000000000" pitchFamily="2" charset="0"/>
              </a:rPr>
              <a:t> nécessite une approche personnalisée et bien pensée. Voici quelques conseils pour une </a:t>
            </a:r>
            <a:r>
              <a:rPr lang="fr-FR" sz="2000" dirty="0" err="1">
                <a:solidFill>
                  <a:srgbClr val="303030"/>
                </a:solidFill>
                <a:latin typeface="Poppins" panose="00000500000000000000" pitchFamily="2" charset="0"/>
              </a:rPr>
              <a:t>outreach</a:t>
            </a:r>
            <a:r>
              <a:rPr lang="fr-FR" sz="2000" dirty="0">
                <a:solidFill>
                  <a:srgbClr val="303030"/>
                </a:solidFill>
                <a:latin typeface="Poppins" panose="00000500000000000000" pitchFamily="2" charset="0"/>
              </a:rPr>
              <a:t> réussie :</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Personnalisez vos messages : </a:t>
            </a:r>
            <a:r>
              <a:rPr lang="fr-FR" sz="2000" dirty="0">
                <a:solidFill>
                  <a:srgbClr val="303030"/>
                </a:solidFill>
                <a:latin typeface="Poppins" panose="00000500000000000000" pitchFamily="2" charset="0"/>
              </a:rPr>
              <a:t>N'envoyez pas de messages génériques. Prenez le temps de connaître le site et la personne que vous contactez, et personnalisez votre message en conséquence.</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Offrez de la valeur : </a:t>
            </a:r>
            <a:r>
              <a:rPr lang="fr-FR" sz="2000" dirty="0">
                <a:solidFill>
                  <a:srgbClr val="303030"/>
                </a:solidFill>
                <a:latin typeface="Poppins" panose="00000500000000000000" pitchFamily="2" charset="0"/>
              </a:rPr>
              <a:t>Ne demandez pas simplement un lien. Offrez quelque chose de valeur en retour, que ce soit un excellent contenu, une perspective unique ou une proposition de partenariat.</a:t>
            </a:r>
          </a:p>
          <a:p>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b="1" dirty="0">
                <a:solidFill>
                  <a:srgbClr val="303030"/>
                </a:solidFill>
                <a:latin typeface="Poppins" panose="00000500000000000000" pitchFamily="2" charset="0"/>
              </a:rPr>
              <a:t>Suivez et mesurez vos efforts : </a:t>
            </a:r>
            <a:r>
              <a:rPr lang="fr-FR" sz="2000" dirty="0">
                <a:solidFill>
                  <a:srgbClr val="303030"/>
                </a:solidFill>
                <a:latin typeface="Poppins" panose="00000500000000000000" pitchFamily="2" charset="0"/>
              </a:rPr>
              <a:t>Tenez une trace de vos tentatives d'</a:t>
            </a:r>
            <a:r>
              <a:rPr lang="fr-FR" sz="2000" dirty="0" err="1">
                <a:solidFill>
                  <a:srgbClr val="303030"/>
                </a:solidFill>
                <a:latin typeface="Poppins" panose="00000500000000000000" pitchFamily="2" charset="0"/>
              </a:rPr>
              <a:t>outreach</a:t>
            </a:r>
            <a:r>
              <a:rPr lang="fr-FR" sz="2000" dirty="0">
                <a:solidFill>
                  <a:srgbClr val="303030"/>
                </a:solidFill>
                <a:latin typeface="Poppins" panose="00000500000000000000" pitchFamily="2" charset="0"/>
              </a:rPr>
              <a:t> et mesurez leur succès. Cela vous aidera à affiner votre approche au fil du temps.</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722073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Analyse des </a:t>
            </a:r>
            <a:r>
              <a:rPr lang="fr-FR" sz="3600" dirty="0" err="1">
                <a:solidFill>
                  <a:srgbClr val="303030"/>
                </a:solidFill>
                <a:latin typeface="Poppins" panose="00000500000000000000" pitchFamily="2" charset="0"/>
              </a:rPr>
              <a:t>backlinks</a:t>
            </a:r>
            <a:r>
              <a:rPr lang="fr-FR" sz="3600" dirty="0">
                <a:solidFill>
                  <a:srgbClr val="303030"/>
                </a:solidFill>
                <a:latin typeface="Poppins" panose="00000500000000000000" pitchFamily="2" charset="0"/>
              </a:rPr>
              <a:t> des concurrents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92716" y="6706005"/>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2000" dirty="0">
                <a:solidFill>
                  <a:srgbClr val="303030"/>
                </a:solidFill>
                <a:latin typeface="Poppins" panose="00000500000000000000" pitchFamily="2" charset="0"/>
              </a:rPr>
              <a:t>L'analyse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des concurrents consiste à examiner les liens qui pointent vers leurs </a:t>
            </a:r>
            <a:r>
              <a:rPr lang="fr-FR" sz="2000" dirty="0" err="1">
                <a:solidFill>
                  <a:srgbClr val="303030"/>
                </a:solidFill>
                <a:latin typeface="Poppins" panose="00000500000000000000" pitchFamily="2" charset="0"/>
              </a:rPr>
              <a:t>sitesdans</a:t>
            </a:r>
            <a:r>
              <a:rPr lang="fr-FR" sz="2000" dirty="0">
                <a:solidFill>
                  <a:srgbClr val="303030"/>
                </a:solidFill>
                <a:latin typeface="Poppins" panose="00000500000000000000" pitchFamily="2" charset="0"/>
              </a:rPr>
              <a:t> le but de découvrir de nouvelles opportunités de liens pour votre propre site.</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r>
              <a:rPr lang="fr-FR" sz="2000" dirty="0">
                <a:solidFill>
                  <a:srgbClr val="303030"/>
                </a:solidFill>
                <a:latin typeface="Poppins" panose="00000500000000000000" pitchFamily="2" charset="0"/>
              </a:rPr>
              <a:t>Les étapes pour effectuer une analyse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 vos concurrents :</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457200" indent="-457200">
              <a:buFont typeface="+mj-lt"/>
              <a:buAutoNum type="arabicPeriod"/>
            </a:pPr>
            <a:r>
              <a:rPr lang="fr-FR" sz="2000" b="1" dirty="0">
                <a:solidFill>
                  <a:srgbClr val="303030"/>
                </a:solidFill>
                <a:latin typeface="Poppins" panose="00000500000000000000" pitchFamily="2" charset="0"/>
              </a:rPr>
              <a:t>Identifiez vos concurrents </a:t>
            </a:r>
            <a:r>
              <a:rPr lang="fr-FR" sz="2000" dirty="0">
                <a:solidFill>
                  <a:srgbClr val="303030"/>
                </a:solidFill>
                <a:latin typeface="Poppins" panose="00000500000000000000" pitchFamily="2" charset="0"/>
              </a:rPr>
              <a:t>: Commencez par identifier qui sont vos principaux concurrents </a:t>
            </a:r>
          </a:p>
          <a:p>
            <a:pPr marL="457200" indent="-457200">
              <a:buFont typeface="+mj-lt"/>
              <a:buAutoNum type="arabicPeriod"/>
            </a:pPr>
            <a:r>
              <a:rPr lang="fr-FR" sz="2000" b="1" dirty="0">
                <a:solidFill>
                  <a:srgbClr val="303030"/>
                </a:solidFill>
                <a:latin typeface="Poppins" panose="00000500000000000000" pitchFamily="2" charset="0"/>
              </a:rPr>
              <a:t>Analyse de </a:t>
            </a:r>
            <a:r>
              <a:rPr lang="fr-FR" sz="2000" b="1" dirty="0" err="1">
                <a:solidFill>
                  <a:srgbClr val="303030"/>
                </a:solidFill>
                <a:latin typeface="Poppins" panose="00000500000000000000" pitchFamily="2" charset="0"/>
              </a:rPr>
              <a:t>backlinks</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Utilisez des outils comme </a:t>
            </a:r>
            <a:r>
              <a:rPr lang="fr-FR" sz="2000" dirty="0" err="1">
                <a:solidFill>
                  <a:srgbClr val="303030"/>
                </a:solidFill>
                <a:latin typeface="Poppins" panose="00000500000000000000" pitchFamily="2" charset="0"/>
              </a:rPr>
              <a:t>Ahrefs</a:t>
            </a:r>
            <a:r>
              <a:rPr lang="fr-FR" sz="2000" dirty="0">
                <a:solidFill>
                  <a:srgbClr val="303030"/>
                </a:solidFill>
                <a:latin typeface="Poppins" panose="00000500000000000000" pitchFamily="2" charset="0"/>
              </a:rPr>
              <a:t>, </a:t>
            </a:r>
            <a:r>
              <a:rPr lang="fr-FR" sz="2000" dirty="0" err="1">
                <a:solidFill>
                  <a:srgbClr val="303030"/>
                </a:solidFill>
                <a:latin typeface="Poppins" panose="00000500000000000000" pitchFamily="2" charset="0"/>
              </a:rPr>
              <a:t>Moz</a:t>
            </a:r>
            <a:r>
              <a:rPr lang="fr-FR" sz="2000" dirty="0">
                <a:solidFill>
                  <a:srgbClr val="303030"/>
                </a:solidFill>
                <a:latin typeface="Poppins" panose="00000500000000000000" pitchFamily="2" charset="0"/>
              </a:rPr>
              <a:t> ou </a:t>
            </a:r>
            <a:r>
              <a:rPr lang="fr-FR" sz="2000" dirty="0" err="1">
                <a:solidFill>
                  <a:srgbClr val="303030"/>
                </a:solidFill>
                <a:latin typeface="Poppins" panose="00000500000000000000" pitchFamily="2" charset="0"/>
              </a:rPr>
              <a:t>SEMRush</a:t>
            </a:r>
            <a:r>
              <a:rPr lang="fr-FR" sz="2000" dirty="0">
                <a:solidFill>
                  <a:srgbClr val="303030"/>
                </a:solidFill>
                <a:latin typeface="Poppins" panose="00000500000000000000" pitchFamily="2" charset="0"/>
              </a:rPr>
              <a:t> pour analyser les profils de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 vos concurrents. </a:t>
            </a:r>
          </a:p>
          <a:p>
            <a:pPr marL="457200" indent="-457200">
              <a:buFont typeface="+mj-lt"/>
              <a:buAutoNum type="arabicPeriod"/>
            </a:pPr>
            <a:r>
              <a:rPr lang="fr-FR" sz="2000" b="1" dirty="0">
                <a:solidFill>
                  <a:srgbClr val="303030"/>
                </a:solidFill>
                <a:latin typeface="Poppins" panose="00000500000000000000" pitchFamily="2" charset="0"/>
              </a:rPr>
              <a:t>Examinez les liens de vos concurrents : </a:t>
            </a:r>
            <a:r>
              <a:rPr lang="fr-FR" sz="2000" dirty="0">
                <a:solidFill>
                  <a:srgbClr val="303030"/>
                </a:solidFill>
                <a:latin typeface="Poppins" panose="00000500000000000000" pitchFamily="2" charset="0"/>
              </a:rPr>
              <a:t>Étudiez les liens de vos concurrents pour identifier les sites Web de qualité qui pourraient également être intéressés à lier à votre contenu. </a:t>
            </a:r>
            <a:endParaRPr lang="fr-FR" sz="2000" b="1" dirty="0">
              <a:solidFill>
                <a:srgbClr val="303030"/>
              </a:solidFill>
              <a:latin typeface="Poppins" panose="00000500000000000000" pitchFamily="2" charset="0"/>
            </a:endParaRPr>
          </a:p>
          <a:p>
            <a:pPr marL="457200" indent="-457200">
              <a:buFont typeface="+mj-lt"/>
              <a:buAutoNum type="arabicPeriod"/>
            </a:pPr>
            <a:r>
              <a:rPr lang="fr-FR" sz="2000" b="1" dirty="0">
                <a:solidFill>
                  <a:srgbClr val="303030"/>
                </a:solidFill>
                <a:latin typeface="Poppins" panose="00000500000000000000" pitchFamily="2" charset="0"/>
              </a:rPr>
              <a:t>Identifiez les opportunités de liens : </a:t>
            </a:r>
            <a:r>
              <a:rPr lang="fr-FR" sz="2000" dirty="0">
                <a:solidFill>
                  <a:srgbClr val="303030"/>
                </a:solidFill>
                <a:latin typeface="Poppins" panose="00000500000000000000" pitchFamily="2" charset="0"/>
              </a:rPr>
              <a:t>Sur la base de votre analyse, identifiez les sites Web qui pourraient être intéressés à lier à votre contenu. Pensez à des sites qui ont déjà lié à des contenus similaires ou qui ont une relation étroite avec votre niche ou votre secteur.</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2151051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techniques DE NETLINKING</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8" y="1546200"/>
            <a:ext cx="11742725"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r>
              <a:rPr lang="fr-FR" sz="3600" dirty="0">
                <a:solidFill>
                  <a:srgbClr val="303030"/>
                </a:solidFill>
                <a:latin typeface="Poppins" panose="00000500000000000000" pitchFamily="2" charset="0"/>
              </a:rPr>
              <a:t>Analyse des </a:t>
            </a:r>
            <a:r>
              <a:rPr lang="fr-FR" sz="3600" dirty="0" err="1">
                <a:solidFill>
                  <a:srgbClr val="303030"/>
                </a:solidFill>
                <a:latin typeface="Poppins" panose="00000500000000000000" pitchFamily="2" charset="0"/>
              </a:rPr>
              <a:t>backlinks</a:t>
            </a:r>
            <a:r>
              <a:rPr lang="fr-FR" sz="3600" dirty="0">
                <a:solidFill>
                  <a:srgbClr val="303030"/>
                </a:solidFill>
                <a:latin typeface="Poppins" panose="00000500000000000000" pitchFamily="2" charset="0"/>
              </a:rPr>
              <a:t> des concurrents :</a:t>
            </a:r>
          </a:p>
        </p:txBody>
      </p:sp>
      <p:sp>
        <p:nvSpPr>
          <p:cNvPr id="11" name="Titre 1">
            <a:extLst>
              <a:ext uri="{FF2B5EF4-FFF2-40B4-BE49-F238E27FC236}">
                <a16:creationId xmlns:a16="http://schemas.microsoft.com/office/drawing/2014/main" id="{FEDAE220-BFF5-1ADB-03E1-B7878221EB71}"/>
              </a:ext>
            </a:extLst>
          </p:cNvPr>
          <p:cNvSpPr txBox="1">
            <a:spLocks/>
          </p:cNvSpPr>
          <p:nvPr/>
        </p:nvSpPr>
        <p:spPr>
          <a:xfrm>
            <a:off x="356559" y="4846012"/>
            <a:ext cx="10324743"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457200" indent="-457200">
              <a:buFont typeface="+mj-lt"/>
              <a:buAutoNum type="arabicPeriod"/>
            </a:pPr>
            <a:endParaRPr lang="fr-FR" sz="2000" b="1" dirty="0">
              <a:solidFill>
                <a:srgbClr val="303030"/>
              </a:solidFill>
              <a:latin typeface="Poppins" panose="00000500000000000000" pitchFamily="2" charset="0"/>
            </a:endParaRPr>
          </a:p>
          <a:p>
            <a:r>
              <a:rPr lang="fr-FR" sz="2000" b="1" dirty="0">
                <a:solidFill>
                  <a:srgbClr val="303030"/>
                </a:solidFill>
                <a:latin typeface="Poppins" panose="00000500000000000000" pitchFamily="2" charset="0"/>
              </a:rPr>
              <a:t>5.      Mettez en place une stratégie d'</a:t>
            </a:r>
            <a:r>
              <a:rPr lang="fr-FR" sz="2000" b="1" dirty="0" err="1">
                <a:solidFill>
                  <a:srgbClr val="303030"/>
                </a:solidFill>
                <a:latin typeface="Poppins" panose="00000500000000000000" pitchFamily="2" charset="0"/>
              </a:rPr>
              <a:t>outreach</a:t>
            </a:r>
            <a:r>
              <a:rPr lang="fr-FR" sz="2000" b="1" dirty="0">
                <a:solidFill>
                  <a:srgbClr val="303030"/>
                </a:solidFill>
                <a:latin typeface="Poppins" panose="00000500000000000000" pitchFamily="2" charset="0"/>
              </a:rPr>
              <a:t> : </a:t>
            </a:r>
            <a:r>
              <a:rPr lang="fr-FR" sz="2000" dirty="0">
                <a:solidFill>
                  <a:srgbClr val="303030"/>
                </a:solidFill>
                <a:latin typeface="Poppins" panose="00000500000000000000" pitchFamily="2" charset="0"/>
              </a:rPr>
              <a:t>Une fois que vous avez identifié les opportunités de liens, mettez en place une stratégie d'</a:t>
            </a:r>
            <a:r>
              <a:rPr lang="fr-FR" sz="2000" dirty="0" err="1">
                <a:solidFill>
                  <a:srgbClr val="303030"/>
                </a:solidFill>
                <a:latin typeface="Poppins" panose="00000500000000000000" pitchFamily="2" charset="0"/>
              </a:rPr>
              <a:t>outreach</a:t>
            </a:r>
            <a:r>
              <a:rPr lang="fr-FR" sz="2000" dirty="0">
                <a:solidFill>
                  <a:srgbClr val="303030"/>
                </a:solidFill>
                <a:latin typeface="Poppins" panose="00000500000000000000" pitchFamily="2" charset="0"/>
              </a:rPr>
              <a:t> pour contacter les propriétaires de sites, les blogueurs et les influenceurs, et leur proposer de lier à votre contenu.</a:t>
            </a:r>
          </a:p>
          <a:p>
            <a:pPr marL="457200" indent="-457200">
              <a:buFont typeface="+mj-lt"/>
              <a:buAutoNum type="arabicPeriod"/>
            </a:pPr>
            <a:endParaRPr lang="fr-FR" sz="2000" dirty="0">
              <a:solidFill>
                <a:srgbClr val="303030"/>
              </a:solidFill>
              <a:latin typeface="Poppins" panose="00000500000000000000" pitchFamily="2" charset="0"/>
            </a:endParaRPr>
          </a:p>
          <a:p>
            <a:r>
              <a:rPr lang="fr-FR" sz="2000" b="1" dirty="0">
                <a:solidFill>
                  <a:srgbClr val="303030"/>
                </a:solidFill>
                <a:latin typeface="Poppins" panose="00000500000000000000" pitchFamily="2" charset="0"/>
              </a:rPr>
              <a:t>6.       Surveillez et ajustez votre stratégie : </a:t>
            </a:r>
            <a:r>
              <a:rPr lang="fr-FR" sz="2000" dirty="0">
                <a:solidFill>
                  <a:srgbClr val="303030"/>
                </a:solidFill>
                <a:latin typeface="Poppins" panose="00000500000000000000" pitchFamily="2" charset="0"/>
              </a:rPr>
              <a:t>L'analyse des </a:t>
            </a:r>
            <a:r>
              <a:rPr lang="fr-FR" sz="2000" dirty="0" err="1">
                <a:solidFill>
                  <a:srgbClr val="303030"/>
                </a:solidFill>
                <a:latin typeface="Poppins" panose="00000500000000000000" pitchFamily="2" charset="0"/>
              </a:rPr>
              <a:t>backlinks</a:t>
            </a:r>
            <a:r>
              <a:rPr lang="fr-FR" sz="2000" dirty="0">
                <a:solidFill>
                  <a:srgbClr val="303030"/>
                </a:solidFill>
                <a:latin typeface="Poppins" panose="00000500000000000000" pitchFamily="2" charset="0"/>
              </a:rPr>
              <a:t> de vos concurrents doit être un processus continu. Surveillez régulièrement les liens de vos concurrents pour découvrir de nouvelles opportunités et ajustez votre stratégie en conséquence.</a:t>
            </a:r>
          </a:p>
        </p:txBody>
      </p:sp>
      <p:sp>
        <p:nvSpPr>
          <p:cNvPr id="12" name="Titre 1">
            <a:extLst>
              <a:ext uri="{FF2B5EF4-FFF2-40B4-BE49-F238E27FC236}">
                <a16:creationId xmlns:a16="http://schemas.microsoft.com/office/drawing/2014/main" id="{43887A52-EF82-4B65-B32C-EF64BDA91550}"/>
              </a:ext>
            </a:extLst>
          </p:cNvPr>
          <p:cNvSpPr txBox="1">
            <a:spLocks/>
          </p:cNvSpPr>
          <p:nvPr/>
        </p:nvSpPr>
        <p:spPr>
          <a:xfrm>
            <a:off x="4632385" y="5698526"/>
            <a:ext cx="720305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6000" dirty="0">
              <a:solidFill>
                <a:schemeClr val="tx1">
                  <a:lumMod val="85000"/>
                  <a:lumOff val="15000"/>
                </a:schemeClr>
              </a:solidFill>
              <a:latin typeface="Bebas Neue" panose="020B0606020202050201" pitchFamily="34" charset="0"/>
            </a:endParaRPr>
          </a:p>
        </p:txBody>
      </p:sp>
      <p:sp>
        <p:nvSpPr>
          <p:cNvPr id="17" name="Titre 1">
            <a:extLst>
              <a:ext uri="{FF2B5EF4-FFF2-40B4-BE49-F238E27FC236}">
                <a16:creationId xmlns:a16="http://schemas.microsoft.com/office/drawing/2014/main" id="{928411CC-C4E0-00AD-1C71-468576DCC4D6}"/>
              </a:ext>
            </a:extLst>
          </p:cNvPr>
          <p:cNvSpPr txBox="1">
            <a:spLocks/>
          </p:cNvSpPr>
          <p:nvPr/>
        </p:nvSpPr>
        <p:spPr>
          <a:xfrm>
            <a:off x="356559" y="5783803"/>
            <a:ext cx="10877209"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endParaRPr lang="fr-FR" sz="1800" b="1" i="1" dirty="0">
              <a:solidFill>
                <a:srgbClr val="303030"/>
              </a:solidFill>
              <a:latin typeface="Poppins" panose="00000500000000000000" pitchFamily="2" charset="0"/>
            </a:endParaRPr>
          </a:p>
        </p:txBody>
      </p:sp>
    </p:spTree>
    <p:extLst>
      <p:ext uri="{BB962C8B-B14F-4D97-AF65-F5344CB8AC3E}">
        <p14:creationId xmlns:p14="http://schemas.microsoft.com/office/powerpoint/2010/main" val="1053012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0" y="0"/>
            <a:ext cx="12192000" cy="6858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Conseil bonus</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304307" y="1381417"/>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la presse a l’avantage d’avoir de l’autorité naturellement</a:t>
            </a:r>
          </a:p>
        </p:txBody>
      </p:sp>
      <p:sp>
        <p:nvSpPr>
          <p:cNvPr id="6" name="Titre 1">
            <a:extLst>
              <a:ext uri="{FF2B5EF4-FFF2-40B4-BE49-F238E27FC236}">
                <a16:creationId xmlns:a16="http://schemas.microsoft.com/office/drawing/2014/main" id="{C3DDC407-71F3-BCE8-4FF9-4D0C7A2EFB18}"/>
              </a:ext>
            </a:extLst>
          </p:cNvPr>
          <p:cNvSpPr txBox="1">
            <a:spLocks/>
          </p:cNvSpPr>
          <p:nvPr/>
        </p:nvSpPr>
        <p:spPr>
          <a:xfrm>
            <a:off x="304307" y="3495843"/>
            <a:ext cx="9652493" cy="750280"/>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la mention d’un presse locale vers votre site ou votre page vous permettra d’être référencé</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dirty="0">
                <a:solidFill>
                  <a:srgbClr val="303030"/>
                </a:solidFill>
                <a:latin typeface="Poppins" panose="00000500000000000000" pitchFamily="2" charset="0"/>
              </a:rPr>
              <a:t>Cela augmente également la notoriété et la crédibilité de votre site</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a:p>
            <a:pPr marL="342900" indent="-342900">
              <a:buFont typeface="Arial" panose="020B0604020202020204" pitchFamily="34" charset="0"/>
              <a:buChar char="•"/>
            </a:pPr>
            <a:r>
              <a:rPr lang="fr-FR" sz="2000" dirty="0">
                <a:solidFill>
                  <a:srgbClr val="303030"/>
                </a:solidFill>
                <a:latin typeface="Poppins" panose="00000500000000000000" pitchFamily="2" charset="0"/>
              </a:rPr>
              <a:t>Il en va de même pour les institutions (CCI, CMA, </a:t>
            </a:r>
            <a:r>
              <a:rPr lang="fr-FR" sz="2000" dirty="0" err="1">
                <a:solidFill>
                  <a:srgbClr val="303030"/>
                </a:solidFill>
                <a:latin typeface="Poppins" panose="00000500000000000000" pitchFamily="2" charset="0"/>
              </a:rPr>
              <a:t>etc</a:t>
            </a:r>
            <a:r>
              <a:rPr lang="fr-FR" sz="2000" dirty="0">
                <a:solidFill>
                  <a:srgbClr val="303030"/>
                </a:solidFill>
                <a:latin typeface="Poppins" panose="00000500000000000000" pitchFamily="2" charset="0"/>
              </a:rPr>
              <a:t>)</a:t>
            </a:r>
          </a:p>
          <a:p>
            <a:pPr marL="342900" indent="-342900">
              <a:buFont typeface="Arial" panose="020B0604020202020204" pitchFamily="34" charset="0"/>
              <a:buChar char="•"/>
            </a:pPr>
            <a:endParaRPr lang="fr-FR" sz="2000" dirty="0">
              <a:solidFill>
                <a:srgbClr val="303030"/>
              </a:solidFill>
              <a:latin typeface="Poppins" panose="00000500000000000000" pitchFamily="2" charset="0"/>
            </a:endParaRPr>
          </a:p>
        </p:txBody>
      </p:sp>
      <p:sp>
        <p:nvSpPr>
          <p:cNvPr id="10" name="Titre 1">
            <a:extLst>
              <a:ext uri="{FF2B5EF4-FFF2-40B4-BE49-F238E27FC236}">
                <a16:creationId xmlns:a16="http://schemas.microsoft.com/office/drawing/2014/main" id="{7D0C07B6-41CD-520E-4547-52C0FFF1D1FB}"/>
              </a:ext>
            </a:extLst>
          </p:cNvPr>
          <p:cNvSpPr txBox="1">
            <a:spLocks/>
          </p:cNvSpPr>
          <p:nvPr/>
        </p:nvSpPr>
        <p:spPr>
          <a:xfrm>
            <a:off x="304307" y="4873003"/>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rejoignez un programme d’accompagnement ET Bénéficiez de plusieurs avantages</a:t>
            </a:r>
          </a:p>
        </p:txBody>
      </p:sp>
    </p:spTree>
    <p:extLst>
      <p:ext uri="{BB962C8B-B14F-4D97-AF65-F5344CB8AC3E}">
        <p14:creationId xmlns:p14="http://schemas.microsoft.com/office/powerpoint/2010/main" val="1218847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6819566-C791-4FA2-8727-E5467C2FD7BE}"/>
              </a:ext>
            </a:extLst>
          </p:cNvPr>
          <p:cNvSpPr>
            <a:spLocks noGrp="1"/>
          </p:cNvSpPr>
          <p:nvPr>
            <p:ph type="ctrTitle" idx="4294967295"/>
          </p:nvPr>
        </p:nvSpPr>
        <p:spPr>
          <a:xfrm>
            <a:off x="144967" y="0"/>
            <a:ext cx="5745470" cy="2387600"/>
          </a:xfrm>
        </p:spPr>
        <p:txBody>
          <a:bodyPr/>
          <a:lstStyle/>
          <a:p>
            <a:endParaRPr lang="fr-FR" dirty="0"/>
          </a:p>
        </p:txBody>
      </p:sp>
      <p:sp>
        <p:nvSpPr>
          <p:cNvPr id="7" name="Rectangle 6">
            <a:extLst>
              <a:ext uri="{FF2B5EF4-FFF2-40B4-BE49-F238E27FC236}">
                <a16:creationId xmlns:a16="http://schemas.microsoft.com/office/drawing/2014/main" id="{B871E839-11A9-433B-A7F7-175176E79260}"/>
              </a:ext>
            </a:extLst>
          </p:cNvPr>
          <p:cNvSpPr/>
          <p:nvPr/>
        </p:nvSpPr>
        <p:spPr>
          <a:xfrm>
            <a:off x="-72483" y="0"/>
            <a:ext cx="12192000" cy="6858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Titre 1">
            <a:extLst>
              <a:ext uri="{FF2B5EF4-FFF2-40B4-BE49-F238E27FC236}">
                <a16:creationId xmlns:a16="http://schemas.microsoft.com/office/drawing/2014/main" id="{74D6B466-79D8-4A1F-977C-3E3AD15A1511}"/>
              </a:ext>
            </a:extLst>
          </p:cNvPr>
          <p:cNvSpPr txBox="1">
            <a:spLocks/>
          </p:cNvSpPr>
          <p:nvPr/>
        </p:nvSpPr>
        <p:spPr>
          <a:xfrm>
            <a:off x="304307" y="324129"/>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6000" dirty="0">
                <a:solidFill>
                  <a:schemeClr val="tx1">
                    <a:lumMod val="85000"/>
                    <a:lumOff val="15000"/>
                  </a:schemeClr>
                </a:solidFill>
                <a:latin typeface="Bebas Neue" panose="020B0606020202050201" pitchFamily="34" charset="0"/>
              </a:rPr>
              <a:t>ce qu’il ne faut pas faire</a:t>
            </a:r>
          </a:p>
        </p:txBody>
      </p:sp>
      <p:sp>
        <p:nvSpPr>
          <p:cNvPr id="2" name="Titre 1">
            <a:extLst>
              <a:ext uri="{FF2B5EF4-FFF2-40B4-BE49-F238E27FC236}">
                <a16:creationId xmlns:a16="http://schemas.microsoft.com/office/drawing/2014/main" id="{5587DA3E-1957-A9A1-D3A0-9CCE042A097A}"/>
              </a:ext>
            </a:extLst>
          </p:cNvPr>
          <p:cNvSpPr txBox="1">
            <a:spLocks/>
          </p:cNvSpPr>
          <p:nvPr/>
        </p:nvSpPr>
        <p:spPr>
          <a:xfrm>
            <a:off x="144967" y="2039328"/>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Les PBN (</a:t>
            </a:r>
            <a:r>
              <a:rPr lang="fr-FR" sz="2000" dirty="0" err="1">
                <a:solidFill>
                  <a:srgbClr val="303030"/>
                </a:solidFill>
                <a:latin typeface="Poppins" panose="00000500000000000000" pitchFamily="2" charset="0"/>
              </a:rPr>
              <a:t>Private</a:t>
            </a:r>
            <a:r>
              <a:rPr lang="fr-FR" sz="2000" dirty="0">
                <a:solidFill>
                  <a:srgbClr val="303030"/>
                </a:solidFill>
                <a:latin typeface="Poppins" panose="00000500000000000000" pitchFamily="2" charset="0"/>
              </a:rPr>
              <a:t> Blog Network) consiste en la création d’un site conçu pour renvoyer des liens vers votre site principal.</a:t>
            </a:r>
          </a:p>
        </p:txBody>
      </p:sp>
      <p:sp>
        <p:nvSpPr>
          <p:cNvPr id="10" name="Titre 1">
            <a:extLst>
              <a:ext uri="{FF2B5EF4-FFF2-40B4-BE49-F238E27FC236}">
                <a16:creationId xmlns:a16="http://schemas.microsoft.com/office/drawing/2014/main" id="{7D0C07B6-41CD-520E-4547-52C0FFF1D1FB}"/>
              </a:ext>
            </a:extLst>
          </p:cNvPr>
          <p:cNvSpPr txBox="1">
            <a:spLocks/>
          </p:cNvSpPr>
          <p:nvPr/>
        </p:nvSpPr>
        <p:spPr>
          <a:xfrm>
            <a:off x="304307" y="5838584"/>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400" dirty="0">
                <a:solidFill>
                  <a:schemeClr val="tx1">
                    <a:lumMod val="85000"/>
                    <a:lumOff val="15000"/>
                  </a:schemeClr>
                </a:solidFill>
                <a:latin typeface="Bebas Neue" panose="020B0606020202050201" pitchFamily="34" charset="0"/>
              </a:rPr>
              <a:t>vous pouvez décider de faire une de ces actions mais à vos risques et périls </a:t>
            </a:r>
            <a:r>
              <a:rPr lang="fr-FR" sz="2400" dirty="0">
                <a:solidFill>
                  <a:schemeClr val="tx1">
                    <a:lumMod val="85000"/>
                    <a:lumOff val="15000"/>
                  </a:schemeClr>
                </a:solidFill>
                <a:latin typeface="Bebas Neue" panose="020B0606020202050201" pitchFamily="34" charset="0"/>
                <a:sym typeface="Wingdings" panose="05000000000000000000" pitchFamily="2" charset="2"/>
              </a:rPr>
              <a:t> </a:t>
            </a:r>
            <a:endParaRPr lang="fr-FR" sz="2400" dirty="0">
              <a:solidFill>
                <a:schemeClr val="tx1">
                  <a:lumMod val="85000"/>
                  <a:lumOff val="15000"/>
                </a:schemeClr>
              </a:solidFill>
              <a:latin typeface="Bebas Neue" panose="020B0606020202050201" pitchFamily="34" charset="0"/>
            </a:endParaRPr>
          </a:p>
        </p:txBody>
      </p:sp>
      <p:sp>
        <p:nvSpPr>
          <p:cNvPr id="4" name="Titre 1">
            <a:extLst>
              <a:ext uri="{FF2B5EF4-FFF2-40B4-BE49-F238E27FC236}">
                <a16:creationId xmlns:a16="http://schemas.microsoft.com/office/drawing/2014/main" id="{030F5C4A-BA9A-E0C7-39D4-4B18EE9A0B87}"/>
              </a:ext>
            </a:extLst>
          </p:cNvPr>
          <p:cNvSpPr txBox="1">
            <a:spLocks/>
          </p:cNvSpPr>
          <p:nvPr/>
        </p:nvSpPr>
        <p:spPr>
          <a:xfrm>
            <a:off x="521758" y="1067212"/>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dirty="0">
                <a:solidFill>
                  <a:schemeClr val="tx1">
                    <a:lumMod val="85000"/>
                    <a:lumOff val="15000"/>
                  </a:schemeClr>
                </a:solidFill>
                <a:latin typeface="Bebas Neue" panose="020B0606020202050201" pitchFamily="34" charset="0"/>
              </a:rPr>
              <a:t>les liens </a:t>
            </a:r>
            <a:r>
              <a:rPr lang="fr-FR" sz="2800" dirty="0" err="1">
                <a:solidFill>
                  <a:schemeClr val="tx1">
                    <a:lumMod val="85000"/>
                    <a:lumOff val="15000"/>
                  </a:schemeClr>
                </a:solidFill>
                <a:latin typeface="Bebas Neue" panose="020B0606020202050201" pitchFamily="34" charset="0"/>
              </a:rPr>
              <a:t>pbn</a:t>
            </a:r>
            <a:endParaRPr lang="fr-FR" sz="2800" dirty="0">
              <a:solidFill>
                <a:schemeClr val="tx1">
                  <a:lumMod val="85000"/>
                  <a:lumOff val="15000"/>
                </a:schemeClr>
              </a:solidFill>
              <a:latin typeface="Bebas Neue" panose="020B0606020202050201" pitchFamily="34" charset="0"/>
            </a:endParaRPr>
          </a:p>
        </p:txBody>
      </p:sp>
      <p:sp>
        <p:nvSpPr>
          <p:cNvPr id="6" name="Titre 1">
            <a:extLst>
              <a:ext uri="{FF2B5EF4-FFF2-40B4-BE49-F238E27FC236}">
                <a16:creationId xmlns:a16="http://schemas.microsoft.com/office/drawing/2014/main" id="{D5EDCFFF-2FD0-8825-2398-1A10B5928DC1}"/>
              </a:ext>
            </a:extLst>
          </p:cNvPr>
          <p:cNvSpPr txBox="1">
            <a:spLocks/>
          </p:cNvSpPr>
          <p:nvPr/>
        </p:nvSpPr>
        <p:spPr>
          <a:xfrm>
            <a:off x="521758" y="2371712"/>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dirty="0">
                <a:solidFill>
                  <a:schemeClr val="tx1">
                    <a:lumMod val="85000"/>
                    <a:lumOff val="15000"/>
                  </a:schemeClr>
                </a:solidFill>
                <a:latin typeface="Bebas Neue" panose="020B0606020202050201" pitchFamily="34" charset="0"/>
              </a:rPr>
              <a:t>L’achat de </a:t>
            </a:r>
            <a:r>
              <a:rPr lang="fr-FR" sz="2800" dirty="0" err="1">
                <a:solidFill>
                  <a:schemeClr val="tx1">
                    <a:lumMod val="85000"/>
                    <a:lumOff val="15000"/>
                  </a:schemeClr>
                </a:solidFill>
                <a:latin typeface="Bebas Neue" panose="020B0606020202050201" pitchFamily="34" charset="0"/>
              </a:rPr>
              <a:t>backlinks</a:t>
            </a:r>
            <a:endParaRPr lang="fr-FR" sz="2800" dirty="0">
              <a:solidFill>
                <a:schemeClr val="tx1">
                  <a:lumMod val="85000"/>
                  <a:lumOff val="15000"/>
                </a:schemeClr>
              </a:solidFill>
              <a:latin typeface="Bebas Neue" panose="020B0606020202050201" pitchFamily="34" charset="0"/>
            </a:endParaRPr>
          </a:p>
        </p:txBody>
      </p:sp>
      <p:sp>
        <p:nvSpPr>
          <p:cNvPr id="8" name="Titre 1">
            <a:extLst>
              <a:ext uri="{FF2B5EF4-FFF2-40B4-BE49-F238E27FC236}">
                <a16:creationId xmlns:a16="http://schemas.microsoft.com/office/drawing/2014/main" id="{A32DEEA6-A6A6-37AA-5A3A-21204FA51233}"/>
              </a:ext>
            </a:extLst>
          </p:cNvPr>
          <p:cNvSpPr txBox="1">
            <a:spLocks/>
          </p:cNvSpPr>
          <p:nvPr/>
        </p:nvSpPr>
        <p:spPr>
          <a:xfrm>
            <a:off x="144967" y="3395991"/>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surtout si c’est un domaine de faible autorité qui renvoi vers plusieurs sites. Google détectera que c’est un lien non naturel.</a:t>
            </a:r>
          </a:p>
        </p:txBody>
      </p:sp>
      <p:sp>
        <p:nvSpPr>
          <p:cNvPr id="11" name="Titre 1">
            <a:extLst>
              <a:ext uri="{FF2B5EF4-FFF2-40B4-BE49-F238E27FC236}">
                <a16:creationId xmlns:a16="http://schemas.microsoft.com/office/drawing/2014/main" id="{7C1131C7-07A1-2DDB-39D3-859D140597C3}"/>
              </a:ext>
            </a:extLst>
          </p:cNvPr>
          <p:cNvSpPr txBox="1">
            <a:spLocks/>
          </p:cNvSpPr>
          <p:nvPr/>
        </p:nvSpPr>
        <p:spPr>
          <a:xfrm>
            <a:off x="376791" y="3772905"/>
            <a:ext cx="11742726" cy="10572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dirty="0">
                <a:solidFill>
                  <a:schemeClr val="tx1">
                    <a:lumMod val="85000"/>
                    <a:lumOff val="15000"/>
                  </a:schemeClr>
                </a:solidFill>
                <a:latin typeface="Bebas Neue" panose="020B0606020202050201" pitchFamily="34" charset="0"/>
              </a:rPr>
              <a:t>L’échange de liens</a:t>
            </a:r>
          </a:p>
        </p:txBody>
      </p:sp>
      <p:sp>
        <p:nvSpPr>
          <p:cNvPr id="12" name="Titre 1">
            <a:extLst>
              <a:ext uri="{FF2B5EF4-FFF2-40B4-BE49-F238E27FC236}">
                <a16:creationId xmlns:a16="http://schemas.microsoft.com/office/drawing/2014/main" id="{A2BDFA28-239D-6F3F-C696-A0D20D2753AE}"/>
              </a:ext>
            </a:extLst>
          </p:cNvPr>
          <p:cNvSpPr txBox="1">
            <a:spLocks/>
          </p:cNvSpPr>
          <p:nvPr/>
        </p:nvSpPr>
        <p:spPr>
          <a:xfrm>
            <a:off x="0" y="4797184"/>
            <a:ext cx="10349838" cy="443367"/>
          </a:xfrm>
          <a:prstGeom prst="rect">
            <a:avLst/>
          </a:prstGeom>
        </p:spPr>
        <p:txBody>
          <a:bodyPr anchor="b"/>
          <a:lstStyle>
            <a:lvl1pPr algn="l" defTabSz="914400" rtl="0" eaLnBrk="1" latinLnBrk="0" hangingPunct="1">
              <a:lnSpc>
                <a:spcPct val="90000"/>
              </a:lnSpc>
              <a:spcBef>
                <a:spcPct val="0"/>
              </a:spcBef>
              <a:buNone/>
              <a:defRPr sz="6000" kern="1200">
                <a:solidFill>
                  <a:schemeClr val="tx1">
                    <a:lumMod val="85000"/>
                    <a:lumOff val="15000"/>
                  </a:schemeClr>
                </a:solidFill>
                <a:latin typeface="Silka" panose="00000500000000000000" pitchFamily="50" charset="0"/>
                <a:ea typeface="+mj-ea"/>
                <a:cs typeface="+mj-cs"/>
              </a:defRPr>
            </a:lvl1pPr>
          </a:lstStyle>
          <a:p>
            <a:pPr marL="342900" indent="-342900">
              <a:buFont typeface="Arial" panose="020B0604020202020204" pitchFamily="34" charset="0"/>
              <a:buChar char="•"/>
            </a:pPr>
            <a:r>
              <a:rPr lang="fr-FR" sz="2000" dirty="0">
                <a:solidFill>
                  <a:srgbClr val="303030"/>
                </a:solidFill>
                <a:latin typeface="Poppins" panose="00000500000000000000" pitchFamily="2" charset="0"/>
              </a:rPr>
              <a:t>Google déconseille ce type de pratique et pourrait détecter qu’il s’agit d’une mention non naturelle</a:t>
            </a:r>
          </a:p>
        </p:txBody>
      </p:sp>
    </p:spTree>
    <p:extLst>
      <p:ext uri="{BB962C8B-B14F-4D97-AF65-F5344CB8AC3E}">
        <p14:creationId xmlns:p14="http://schemas.microsoft.com/office/powerpoint/2010/main" val="40971208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4178</TotalTime>
  <Words>4060</Words>
  <Application>Microsoft Office PowerPoint</Application>
  <PresentationFormat>Grand écran</PresentationFormat>
  <Paragraphs>324</Paragraphs>
  <Slides>46</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46</vt:i4>
      </vt:variant>
    </vt:vector>
  </HeadingPairs>
  <TitlesOfParts>
    <vt:vector size="53" baseType="lpstr">
      <vt:lpstr>Arial</vt:lpstr>
      <vt:lpstr>Bebas Neue</vt:lpstr>
      <vt:lpstr>Calibri</vt:lpstr>
      <vt:lpstr>Calibri Light</vt:lpstr>
      <vt:lpstr>Poppins</vt:lpstr>
      <vt:lpstr>Silka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Lading page</dc:title>
  <dc:creator>Fayçal Sellam</dc:creator>
  <cp:lastModifiedBy>Adel Akouche</cp:lastModifiedBy>
  <cp:revision>34</cp:revision>
  <dcterms:created xsi:type="dcterms:W3CDTF">2021-11-16T19:28:52Z</dcterms:created>
  <dcterms:modified xsi:type="dcterms:W3CDTF">2023-12-01T15:17:06Z</dcterms:modified>
</cp:coreProperties>
</file>