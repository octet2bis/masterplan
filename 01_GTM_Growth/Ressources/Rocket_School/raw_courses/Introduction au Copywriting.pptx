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3" r:id="rId4"/>
    <p:sldId id="264" r:id="rId5"/>
    <p:sldId id="258" r:id="rId6"/>
    <p:sldId id="265" r:id="rId7"/>
    <p:sldId id="277" r:id="rId8"/>
    <p:sldId id="278" r:id="rId9"/>
    <p:sldId id="260" r:id="rId10"/>
    <p:sldId id="270" r:id="rId11"/>
    <p:sldId id="281" r:id="rId12"/>
    <p:sldId id="282" r:id="rId13"/>
    <p:sldId id="290" r:id="rId14"/>
    <p:sldId id="293" r:id="rId15"/>
    <p:sldId id="283" r:id="rId16"/>
    <p:sldId id="284" r:id="rId17"/>
    <p:sldId id="288" r:id="rId18"/>
    <p:sldId id="286" r:id="rId19"/>
    <p:sldId id="287" r:id="rId20"/>
    <p:sldId id="289" r:id="rId21"/>
    <p:sldId id="276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0A1256"/>
    <a:srgbClr val="113C5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32F154-1CF2-4472-A56E-4D54A11A2A9F}" type="doc">
      <dgm:prSet loTypeId="urn:microsoft.com/office/officeart/2005/8/layout/venn1" loCatId="relationship" qsTypeId="urn:microsoft.com/office/officeart/2005/8/quickstyle/simple4" qsCatId="simple" csTypeId="urn:microsoft.com/office/officeart/2005/8/colors/accent5_2" csCatId="accent5" phldr="1"/>
      <dgm:spPr/>
    </dgm:pt>
    <dgm:pt modelId="{EDA16DA0-AFAE-4ED2-8AF9-68BA3F6FE7C4}">
      <dgm:prSet phldrT="[Texte]" custT="1"/>
      <dgm:spPr/>
      <dgm:t>
        <a:bodyPr/>
        <a:lstStyle/>
        <a:p>
          <a:endParaRPr lang="fr-FR" sz="3200" dirty="0"/>
        </a:p>
      </dgm:t>
    </dgm:pt>
    <dgm:pt modelId="{DF01800E-C5D8-49DD-AAFC-0069C7BD3AE4}" type="parTrans" cxnId="{978F8BC8-91E3-4288-85BA-5C94C0E42F96}">
      <dgm:prSet/>
      <dgm:spPr/>
      <dgm:t>
        <a:bodyPr/>
        <a:lstStyle/>
        <a:p>
          <a:endParaRPr lang="fr-FR"/>
        </a:p>
      </dgm:t>
    </dgm:pt>
    <dgm:pt modelId="{751FB1ED-9189-49AD-B208-74FC62E993E2}" type="sibTrans" cxnId="{978F8BC8-91E3-4288-85BA-5C94C0E42F96}">
      <dgm:prSet/>
      <dgm:spPr/>
      <dgm:t>
        <a:bodyPr/>
        <a:lstStyle/>
        <a:p>
          <a:endParaRPr lang="fr-FR"/>
        </a:p>
      </dgm:t>
    </dgm:pt>
    <dgm:pt modelId="{BEC89BCC-B314-48E1-BA96-31AB337D2733}">
      <dgm:prSet phldrT="[Texte]" custT="1"/>
      <dgm:spPr/>
      <dgm:t>
        <a:bodyPr/>
        <a:lstStyle/>
        <a:p>
          <a:endParaRPr lang="fr-FR" sz="3200" dirty="0"/>
        </a:p>
      </dgm:t>
    </dgm:pt>
    <dgm:pt modelId="{7DE5D0BD-1516-4CC9-980F-46AA1B5B8FD2}" type="parTrans" cxnId="{FFABAB23-342E-428F-8D02-A7A6A83102F8}">
      <dgm:prSet/>
      <dgm:spPr/>
      <dgm:t>
        <a:bodyPr/>
        <a:lstStyle/>
        <a:p>
          <a:endParaRPr lang="fr-FR"/>
        </a:p>
      </dgm:t>
    </dgm:pt>
    <dgm:pt modelId="{27167051-A08C-44E1-81F3-FA6D733C054C}" type="sibTrans" cxnId="{FFABAB23-342E-428F-8D02-A7A6A83102F8}">
      <dgm:prSet/>
      <dgm:spPr/>
      <dgm:t>
        <a:bodyPr/>
        <a:lstStyle/>
        <a:p>
          <a:endParaRPr lang="fr-FR"/>
        </a:p>
      </dgm:t>
    </dgm:pt>
    <dgm:pt modelId="{6EF872D7-5499-4C67-8A50-182F53A64E36}">
      <dgm:prSet/>
      <dgm:spPr/>
      <dgm:t>
        <a:bodyPr/>
        <a:lstStyle/>
        <a:p>
          <a:endParaRPr lang="fr-FR"/>
        </a:p>
      </dgm:t>
    </dgm:pt>
    <dgm:pt modelId="{DD183E9C-30B5-4693-A8FD-C96CD830AC98}" type="parTrans" cxnId="{7AEB91C6-207D-4F42-B86A-BBD348E794F6}">
      <dgm:prSet/>
      <dgm:spPr/>
      <dgm:t>
        <a:bodyPr/>
        <a:lstStyle/>
        <a:p>
          <a:endParaRPr lang="fr-FR"/>
        </a:p>
      </dgm:t>
    </dgm:pt>
    <dgm:pt modelId="{A0EC249C-3B04-44FA-B7BD-4EA6B3949303}" type="sibTrans" cxnId="{7AEB91C6-207D-4F42-B86A-BBD348E794F6}">
      <dgm:prSet/>
      <dgm:spPr/>
      <dgm:t>
        <a:bodyPr/>
        <a:lstStyle/>
        <a:p>
          <a:endParaRPr lang="fr-FR"/>
        </a:p>
      </dgm:t>
    </dgm:pt>
    <dgm:pt modelId="{8AB07E0A-76BA-450C-9F99-A2F280267E40}" type="pres">
      <dgm:prSet presAssocID="{9E32F154-1CF2-4472-A56E-4D54A11A2A9F}" presName="compositeShape" presStyleCnt="0">
        <dgm:presLayoutVars>
          <dgm:chMax val="7"/>
          <dgm:dir/>
          <dgm:resizeHandles val="exact"/>
        </dgm:presLayoutVars>
      </dgm:prSet>
      <dgm:spPr/>
    </dgm:pt>
    <dgm:pt modelId="{CC29A6A8-6E38-46FF-8EE3-D101B20A01DE}" type="pres">
      <dgm:prSet presAssocID="{EDA16DA0-AFAE-4ED2-8AF9-68BA3F6FE7C4}" presName="circ1" presStyleLbl="vennNode1" presStyleIdx="0" presStyleCnt="3" custLinFactNeighborX="2104" custLinFactNeighborY="0"/>
      <dgm:spPr/>
    </dgm:pt>
    <dgm:pt modelId="{BC3977AA-51CF-4217-93EB-EB4B08562CF7}" type="pres">
      <dgm:prSet presAssocID="{EDA16DA0-AFAE-4ED2-8AF9-68BA3F6FE7C4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7DE0AE1-6120-4281-B781-599AD086BA84}" type="pres">
      <dgm:prSet presAssocID="{6EF872D7-5499-4C67-8A50-182F53A64E36}" presName="circ2" presStyleLbl="vennNode1" presStyleIdx="1" presStyleCnt="3"/>
      <dgm:spPr/>
    </dgm:pt>
    <dgm:pt modelId="{A4ADC1ED-E554-40EC-BF8D-A9B9A7406394}" type="pres">
      <dgm:prSet presAssocID="{6EF872D7-5499-4C67-8A50-182F53A64E3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5608519-E575-4FD7-8841-071E5A3DC5F9}" type="pres">
      <dgm:prSet presAssocID="{BEC89BCC-B314-48E1-BA96-31AB337D2733}" presName="circ3" presStyleLbl="vennNode1" presStyleIdx="2" presStyleCnt="3"/>
      <dgm:spPr/>
    </dgm:pt>
    <dgm:pt modelId="{0966BA94-0806-420B-8EAA-2A51C639A3E0}" type="pres">
      <dgm:prSet presAssocID="{BEC89BCC-B314-48E1-BA96-31AB337D273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FFABAB23-342E-428F-8D02-A7A6A83102F8}" srcId="{9E32F154-1CF2-4472-A56E-4D54A11A2A9F}" destId="{BEC89BCC-B314-48E1-BA96-31AB337D2733}" srcOrd="2" destOrd="0" parTransId="{7DE5D0BD-1516-4CC9-980F-46AA1B5B8FD2}" sibTransId="{27167051-A08C-44E1-81F3-FA6D733C054C}"/>
    <dgm:cxn modelId="{4C23AA7A-B3C3-4056-9BEA-DA16E6B07E3D}" type="presOf" srcId="{6EF872D7-5499-4C67-8A50-182F53A64E36}" destId="{47DE0AE1-6120-4281-B781-599AD086BA84}" srcOrd="0" destOrd="0" presId="urn:microsoft.com/office/officeart/2005/8/layout/venn1"/>
    <dgm:cxn modelId="{BCDBEC81-0605-4906-AF23-DFDA51EE3DEA}" type="presOf" srcId="{BEC89BCC-B314-48E1-BA96-31AB337D2733}" destId="{45608519-E575-4FD7-8841-071E5A3DC5F9}" srcOrd="0" destOrd="0" presId="urn:microsoft.com/office/officeart/2005/8/layout/venn1"/>
    <dgm:cxn modelId="{3BD74B8B-29FA-4C50-B1BB-CEC2F0DE32A7}" type="presOf" srcId="{9E32F154-1CF2-4472-A56E-4D54A11A2A9F}" destId="{8AB07E0A-76BA-450C-9F99-A2F280267E40}" srcOrd="0" destOrd="0" presId="urn:microsoft.com/office/officeart/2005/8/layout/venn1"/>
    <dgm:cxn modelId="{86E4AC8D-E8B5-4C52-B9D7-5E832FCBFBE7}" type="presOf" srcId="{BEC89BCC-B314-48E1-BA96-31AB337D2733}" destId="{0966BA94-0806-420B-8EAA-2A51C639A3E0}" srcOrd="1" destOrd="0" presId="urn:microsoft.com/office/officeart/2005/8/layout/venn1"/>
    <dgm:cxn modelId="{0E8A58C1-B072-4AAD-AD53-161B5430078B}" type="presOf" srcId="{EDA16DA0-AFAE-4ED2-8AF9-68BA3F6FE7C4}" destId="{CC29A6A8-6E38-46FF-8EE3-D101B20A01DE}" srcOrd="0" destOrd="0" presId="urn:microsoft.com/office/officeart/2005/8/layout/venn1"/>
    <dgm:cxn modelId="{7AEB91C6-207D-4F42-B86A-BBD348E794F6}" srcId="{9E32F154-1CF2-4472-A56E-4D54A11A2A9F}" destId="{6EF872D7-5499-4C67-8A50-182F53A64E36}" srcOrd="1" destOrd="0" parTransId="{DD183E9C-30B5-4693-A8FD-C96CD830AC98}" sibTransId="{A0EC249C-3B04-44FA-B7BD-4EA6B3949303}"/>
    <dgm:cxn modelId="{978F8BC8-91E3-4288-85BA-5C94C0E42F96}" srcId="{9E32F154-1CF2-4472-A56E-4D54A11A2A9F}" destId="{EDA16DA0-AFAE-4ED2-8AF9-68BA3F6FE7C4}" srcOrd="0" destOrd="0" parTransId="{DF01800E-C5D8-49DD-AAFC-0069C7BD3AE4}" sibTransId="{751FB1ED-9189-49AD-B208-74FC62E993E2}"/>
    <dgm:cxn modelId="{C04333C9-B13D-4309-ADBB-F9416EFE5165}" type="presOf" srcId="{EDA16DA0-AFAE-4ED2-8AF9-68BA3F6FE7C4}" destId="{BC3977AA-51CF-4217-93EB-EB4B08562CF7}" srcOrd="1" destOrd="0" presId="urn:microsoft.com/office/officeart/2005/8/layout/venn1"/>
    <dgm:cxn modelId="{0602A9F5-FE9F-4334-8778-9714562B355F}" type="presOf" srcId="{6EF872D7-5499-4C67-8A50-182F53A64E36}" destId="{A4ADC1ED-E554-40EC-BF8D-A9B9A7406394}" srcOrd="1" destOrd="0" presId="urn:microsoft.com/office/officeart/2005/8/layout/venn1"/>
    <dgm:cxn modelId="{AEE02812-1DD8-43CF-8C36-88AC40968413}" type="presParOf" srcId="{8AB07E0A-76BA-450C-9F99-A2F280267E40}" destId="{CC29A6A8-6E38-46FF-8EE3-D101B20A01DE}" srcOrd="0" destOrd="0" presId="urn:microsoft.com/office/officeart/2005/8/layout/venn1"/>
    <dgm:cxn modelId="{206FD35D-8FCC-469F-ACBB-CAEDCC76A8E2}" type="presParOf" srcId="{8AB07E0A-76BA-450C-9F99-A2F280267E40}" destId="{BC3977AA-51CF-4217-93EB-EB4B08562CF7}" srcOrd="1" destOrd="0" presId="urn:microsoft.com/office/officeart/2005/8/layout/venn1"/>
    <dgm:cxn modelId="{E6DB05FE-9FF6-4DBD-8A4E-E05B6E8AD62E}" type="presParOf" srcId="{8AB07E0A-76BA-450C-9F99-A2F280267E40}" destId="{47DE0AE1-6120-4281-B781-599AD086BA84}" srcOrd="2" destOrd="0" presId="urn:microsoft.com/office/officeart/2005/8/layout/venn1"/>
    <dgm:cxn modelId="{43F2D3EA-0C7F-4B1F-B469-00E300F937C8}" type="presParOf" srcId="{8AB07E0A-76BA-450C-9F99-A2F280267E40}" destId="{A4ADC1ED-E554-40EC-BF8D-A9B9A7406394}" srcOrd="3" destOrd="0" presId="urn:microsoft.com/office/officeart/2005/8/layout/venn1"/>
    <dgm:cxn modelId="{1E48C5D2-8EF5-467B-8FBE-1C0A61C70497}" type="presParOf" srcId="{8AB07E0A-76BA-450C-9F99-A2F280267E40}" destId="{45608519-E575-4FD7-8841-071E5A3DC5F9}" srcOrd="4" destOrd="0" presId="urn:microsoft.com/office/officeart/2005/8/layout/venn1"/>
    <dgm:cxn modelId="{7FDC96AD-3467-45E4-9D0F-437F540AAA3C}" type="presParOf" srcId="{8AB07E0A-76BA-450C-9F99-A2F280267E40}" destId="{0966BA94-0806-420B-8EAA-2A51C639A3E0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9A6A8-6E38-46FF-8EE3-D101B20A01DE}">
      <dsp:nvSpPr>
        <dsp:cNvPr id="0" name=""/>
        <dsp:cNvSpPr/>
      </dsp:nvSpPr>
      <dsp:spPr>
        <a:xfrm>
          <a:off x="2464943" y="62838"/>
          <a:ext cx="3016255" cy="3016255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200" kern="1200" dirty="0"/>
        </a:p>
      </dsp:txBody>
      <dsp:txXfrm>
        <a:off x="2867110" y="590683"/>
        <a:ext cx="2211920" cy="1357314"/>
      </dsp:txXfrm>
    </dsp:sp>
    <dsp:sp modelId="{47DE0AE1-6120-4281-B781-599AD086BA84}">
      <dsp:nvSpPr>
        <dsp:cNvPr id="0" name=""/>
        <dsp:cNvSpPr/>
      </dsp:nvSpPr>
      <dsp:spPr>
        <a:xfrm>
          <a:off x="3489846" y="1947998"/>
          <a:ext cx="3016255" cy="3016255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6500" kern="1200"/>
        </a:p>
      </dsp:txBody>
      <dsp:txXfrm>
        <a:off x="4412318" y="2727197"/>
        <a:ext cx="1809753" cy="1658940"/>
      </dsp:txXfrm>
    </dsp:sp>
    <dsp:sp modelId="{45608519-E575-4FD7-8841-071E5A3DC5F9}">
      <dsp:nvSpPr>
        <dsp:cNvPr id="0" name=""/>
        <dsp:cNvSpPr/>
      </dsp:nvSpPr>
      <dsp:spPr>
        <a:xfrm>
          <a:off x="1313115" y="1947998"/>
          <a:ext cx="3016255" cy="3016255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200" kern="1200" dirty="0"/>
        </a:p>
      </dsp:txBody>
      <dsp:txXfrm>
        <a:off x="1597146" y="2727197"/>
        <a:ext cx="1809753" cy="16589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BC1DB-F904-4ED4-91EC-ED869F3FE908}" type="datetimeFigureOut">
              <a:rPr lang="fr-FR" smtClean="0"/>
              <a:t>21/12/2023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77C7D-0C16-438B-AA37-6324CDB825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29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2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1499D-1446-4E04-AAE9-0F53FA0E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4F14D-AFF3-470D-9806-087CEC071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E0A6ED-3CC6-4D50-9CFE-05B3EBC50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5E6A-7D02-4E43-8ACA-C8662A82C9C4}" type="datetime1">
              <a:rPr lang="fr-FR" smtClean="0"/>
              <a:t>21/12/2023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890BC0-0958-4CAE-95AE-5D71BF12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D66F5F-8328-4338-AC3F-32239B5C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19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48302-A599-4833-AFC0-1323DBCA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26B1E1-2F99-4DEF-9452-DD20A9E98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D01FB8-A82C-49BF-9B46-6E439F44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07CDB-0744-4C76-93AB-E8B7EE07BA7F}" type="datetime1">
              <a:rPr lang="fr-FR" smtClean="0"/>
              <a:t>21/12/2023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B381A4-F05D-4CF1-BBFA-7932ECE6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91D034-9C23-435C-991A-F06A3390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327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74BE04-6C9D-4EAD-BE8B-D9477278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5BF750-F6A3-4EE1-B9AA-1BAFCDAA2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EDE41D-71C0-45B1-8D96-ECBA40957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619CCB-53F4-46FD-9ED6-652BDF61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0AA8-DB14-44C6-956E-F6E0EEAD56F9}" type="datetime1">
              <a:rPr lang="fr-FR" smtClean="0"/>
              <a:t>21/12/2023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918141-0A9D-4E94-8BF9-58166F39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443D87-8997-4BC2-A259-8FD4500D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08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3BF19-4476-4566-9CEC-3E2E626D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9F6A3E-7141-4F74-BDA1-96690C75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641606-4939-4363-A8A2-26AFCBDA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76DEDB-0060-4A12-88A2-CFA6C3E00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DA22D7-639D-4375-948A-DD772BA06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E85279-70F7-4898-BABF-33CAF59F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4878F-7FAE-40E5-87E0-15E2E5B585C8}" type="datetime1">
              <a:rPr lang="fr-FR" smtClean="0"/>
              <a:t>21/12/2023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D99652-4A05-49D9-9BEC-E92BDF55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BAE0A0-FCC4-4F4C-8F90-12132C83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4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05936-6A3A-4300-ACFE-EEDFBC97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8909AB-093A-4BCB-9825-82200B0A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2122-D94C-419B-8AC0-48C98DAE3707}" type="datetime1">
              <a:rPr lang="fr-FR" smtClean="0"/>
              <a:t>21/12/2023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D1FF6E-F117-4151-9947-B6E031BB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FBC609-8C3A-4465-A7A9-2F643657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11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FA2BCE-5BE9-4F89-9981-DCBA0F85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C048-C528-4723-899C-F8862751532C}" type="datetime1">
              <a:rPr lang="fr-FR" smtClean="0"/>
              <a:t>21/12/2023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398552-706C-48C2-9C3B-288B6BF4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C78B2F-BF9F-4817-A1EC-58AACDA0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82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CA24E-0E39-467C-916D-53B9FDD4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0F977B-0F1A-481B-BD1B-6D44FDC99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AB8AC9-5CC7-4EFC-AC0B-049F6B531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61F640-386A-443B-9708-A314D79A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B301-81F5-4238-9A43-07B17721BF85}" type="datetime1">
              <a:rPr lang="fr-FR" smtClean="0"/>
              <a:t>21/12/2023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003D8C-9F88-4936-9468-91149B24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23694-DF0C-435A-BB75-84F6A1AC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96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B3396-1F2B-45BB-9282-0B4FE836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2F398F-574C-4D62-8764-1B26989DC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561EB9-22A7-4F64-9F59-538414452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1BBA3-F8C2-47EF-9602-1859C8BD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57BB0-3357-4204-92CF-43C04F4FFA1E}" type="datetime1">
              <a:rPr lang="fr-FR" smtClean="0"/>
              <a:t>21/12/2023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C8D5AD-91DD-4E1F-A09C-68524B54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8CCBFB-DDBE-4AC6-A4D7-8CCAC312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6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DEBE9-5F4A-4E6C-82C1-1C8B596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EA56B5-35C9-4DC0-8FA1-CA2D97A5E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B836D0-8478-4982-98F6-A6F7CE0F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FAB57-D298-4856-B02B-0F4A6F0F600A}" type="datetime1">
              <a:rPr lang="fr-FR" smtClean="0"/>
              <a:t>21/12/2023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0965E9-FCB0-4F5B-897D-EC9F06E9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546CC1-9BDA-4375-9ED5-7702CA10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7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DF4DBC5-0857-406F-9B0B-49EE0E31F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849488-7657-4758-AB53-3F125634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5FD13-E122-4E58-9D68-7E93E06B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997B-FC33-4AAC-B47C-BAF6E4E8D9E7}" type="datetime1">
              <a:rPr lang="fr-FR" smtClean="0"/>
              <a:t>21/12/2023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A1DE80-EC4A-4FC8-B448-47407847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DACE03-8677-4602-9797-9DC1BC5A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91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791F028-C547-4C15-94D4-F4111DCF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9FA9BE-FB49-4241-BAA1-3B6716B0B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A40CB4-D352-442A-9B62-8BF3647B8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7D251-361F-4C2E-81DA-2E7DDCD8F7D5}" type="datetime1">
              <a:rPr lang="fr-FR" smtClean="0"/>
              <a:t>21/12/2023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ADD21E-12B4-4E60-A942-4339717CB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BEF094-F7FD-48CB-8D1D-5C0AFA2C3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7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537350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 err="1"/>
              <a:t>copywriting</a:t>
            </a:r>
            <a:r>
              <a:rPr lang="fr-FR" dirty="0"/>
              <a:t> &amp; </a:t>
            </a:r>
          </a:p>
          <a:p>
            <a:r>
              <a:rPr lang="fr-FR" dirty="0"/>
              <a:t>social </a:t>
            </a:r>
            <a:r>
              <a:rPr lang="fr-FR" dirty="0" err="1"/>
              <a:t>selling</a:t>
            </a:r>
            <a:endParaRPr lang="fr-FR" dirty="0"/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Lille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53311" y="4391209"/>
            <a:ext cx="654291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Introduction au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FAD4A629-24B4-4FAE-8DCC-C22E2FA5A730}"/>
              </a:ext>
            </a:extLst>
          </p:cNvPr>
          <p:cNvGrpSpPr/>
          <p:nvPr/>
        </p:nvGrpSpPr>
        <p:grpSpPr>
          <a:xfrm>
            <a:off x="435936" y="-779130"/>
            <a:ext cx="6298362" cy="2571601"/>
            <a:chOff x="574159" y="-896088"/>
            <a:chExt cx="6298362" cy="25716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06CA3A-DB2C-4EDF-B180-243A6EE2F29E}"/>
                </a:ext>
              </a:extLst>
            </p:cNvPr>
            <p:cNvSpPr/>
            <p:nvPr/>
          </p:nvSpPr>
          <p:spPr>
            <a:xfrm>
              <a:off x="1265274" y="622890"/>
              <a:ext cx="1743738" cy="10526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E21E66-B7B9-43E6-940B-B05A5E1A18D2}"/>
                </a:ext>
              </a:extLst>
            </p:cNvPr>
            <p:cNvSpPr/>
            <p:nvPr/>
          </p:nvSpPr>
          <p:spPr>
            <a:xfrm>
              <a:off x="574159" y="297712"/>
              <a:ext cx="1743739" cy="97051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Titre 1">
              <a:extLst>
                <a:ext uri="{FF2B5EF4-FFF2-40B4-BE49-F238E27FC236}">
                  <a16:creationId xmlns:a16="http://schemas.microsoft.com/office/drawing/2014/main" id="{004A79D6-2688-4942-8432-E3877276557A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" y="-896088"/>
              <a:ext cx="5745470" cy="2387600"/>
            </a:xfrm>
            <a:prstGeom prst="rect">
              <a:avLst/>
            </a:prstGeom>
          </p:spPr>
          <p:txBody>
            <a:bodyPr anchor="b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ilka" panose="00000500000000000000" pitchFamily="50" charset="0"/>
                  <a:ea typeface="+mj-ea"/>
                  <a:cs typeface="+mj-cs"/>
                </a:defRPr>
              </a:lvl1pPr>
            </a:lstStyle>
            <a:p>
              <a:r>
                <a:rPr lang="fr-FR" dirty="0"/>
                <a:t>introduction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6D4A525-D06E-466C-A461-E6AD904F288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350F4BF-EDE9-4DC7-8ADC-D6AB7BA341EC}"/>
              </a:ext>
            </a:extLst>
          </p:cNvPr>
          <p:cNvSpPr txBox="1">
            <a:spLocks/>
          </p:cNvSpPr>
          <p:nvPr/>
        </p:nvSpPr>
        <p:spPr>
          <a:xfrm>
            <a:off x="6492949" y="3705086"/>
            <a:ext cx="569905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Qui suis-je ?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Déroulement de la séance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CONTEXTE du cours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7D6A0A9-CCFC-4FDD-83F1-6600DA04D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28" y="3129514"/>
            <a:ext cx="3540642" cy="2208431"/>
          </a:xfrm>
          <a:prstGeom prst="rect">
            <a:avLst/>
          </a:prstGeom>
        </p:spPr>
      </p:pic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C00E0682-CBB5-42C2-9457-021A05C1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15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85209" y="5121862"/>
            <a:ext cx="6351526" cy="1287216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copywriting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est </a:t>
            </a: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l’art d’écrire des messages percutants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et convaincants pour </a:t>
            </a: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promouvoir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une marque, un produit ou un service. Il permet de </a:t>
            </a: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faciliter le passage à l’action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. 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85209" y="4064574"/>
            <a:ext cx="714896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COPYWRITING : C’est quoi ?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1DD0045-D36D-42E1-9EBC-C006F104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5" y="340979"/>
            <a:ext cx="6277009" cy="3274673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4A4408B3-B6EB-41CB-BCFA-9A705A7C26B7}"/>
              </a:ext>
            </a:extLst>
          </p:cNvPr>
          <p:cNvSpPr txBox="1">
            <a:spLocks/>
          </p:cNvSpPr>
          <p:nvPr/>
        </p:nvSpPr>
        <p:spPr>
          <a:xfrm>
            <a:off x="6993935" y="1449671"/>
            <a:ext cx="714896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Copywriting</a:t>
            </a:r>
            <a:endParaRPr lang="fr-FR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Conception-rédaction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rédaction web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Écriture persuasive</a:t>
            </a:r>
          </a:p>
        </p:txBody>
      </p:sp>
      <p:pic>
        <p:nvPicPr>
          <p:cNvPr id="1030" name="Picture 6" descr="Qu&amp;amp;#39;est-ce que le copywriting ? À l&amp;amp;#39;intérieur de la compétence dont  chaque marketeur a besoin - Marketing d&amp;amp;#39;affaire">
            <a:extLst>
              <a:ext uri="{FF2B5EF4-FFF2-40B4-BE49-F238E27FC236}">
                <a16:creationId xmlns:a16="http://schemas.microsoft.com/office/drawing/2014/main" id="{7DC16271-5060-4E47-97BE-08E2B1F40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0" b="6252"/>
          <a:stretch/>
        </p:blipFill>
        <p:spPr bwMode="auto">
          <a:xfrm>
            <a:off x="7372760" y="3429000"/>
            <a:ext cx="4519879" cy="3193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515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20533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272156" y="1805183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</a:t>
            </a:r>
            <a:r>
              <a:rPr lang="fr-FR" sz="20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e </a:t>
            </a:r>
            <a:r>
              <a:rPr lang="fr-FR" sz="2000" b="0" i="0" dirty="0" err="1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copywriting</a:t>
            </a:r>
            <a:r>
              <a:rPr lang="fr-FR" sz="20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 est un ensemble de techniques d’écriture permettant d’engager et de convertir.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272156" y="341775"/>
            <a:ext cx="412048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À quoi ça sert ?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A2359B88-C08C-4C02-A7DE-ADDDBD3831A6}"/>
              </a:ext>
            </a:extLst>
          </p:cNvPr>
          <p:cNvSpPr txBox="1">
            <a:spLocks/>
          </p:cNvSpPr>
          <p:nvPr/>
        </p:nvSpPr>
        <p:spPr>
          <a:xfrm>
            <a:off x="272156" y="3577079"/>
            <a:ext cx="6870430" cy="4284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800" dirty="0">
                <a:solidFill>
                  <a:schemeClr val="accent5">
                    <a:lumMod val="50000"/>
                  </a:schemeClr>
                </a:solidFill>
                <a:latin typeface="Poppins" panose="00000500000000000000" pitchFamily="2" charset="0"/>
              </a:rPr>
              <a:t>i</a:t>
            </a:r>
            <a:r>
              <a:rPr lang="fr-FR" sz="2800" i="0" dirty="0">
                <a:solidFill>
                  <a:schemeClr val="accent5">
                    <a:lumMod val="50000"/>
                  </a:schemeClr>
                </a:solidFill>
                <a:effectLst/>
                <a:latin typeface="Poppins" panose="00000500000000000000" pitchFamily="2" charset="0"/>
              </a:rPr>
              <a:t>l permet de créer tous types de contenu </a:t>
            </a:r>
            <a:endParaRPr lang="fr-FR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592AC071-C849-4996-A791-9840B5C2B0F8}"/>
              </a:ext>
            </a:extLst>
          </p:cNvPr>
          <p:cNvSpPr txBox="1">
            <a:spLocks/>
          </p:cNvSpPr>
          <p:nvPr/>
        </p:nvSpPr>
        <p:spPr>
          <a:xfrm>
            <a:off x="272156" y="6133545"/>
            <a:ext cx="6351526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article de blog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mails et newsletter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landing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de vente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fiche produit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podcast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vidéo</a:t>
            </a:r>
          </a:p>
        </p:txBody>
      </p:sp>
      <p:pic>
        <p:nvPicPr>
          <p:cNvPr id="2052" name="Picture 4" descr="Copywriting : Le Guide Marketing Complet En 2021">
            <a:extLst>
              <a:ext uri="{FF2B5EF4-FFF2-40B4-BE49-F238E27FC236}">
                <a16:creationId xmlns:a16="http://schemas.microsoft.com/office/drawing/2014/main" id="{80CC60AE-45CC-4E2C-914E-0314C4EAE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539" y="0"/>
            <a:ext cx="3663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130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3B8D2B-4865-40F2-B936-203BFD10ACFB}"/>
              </a:ext>
            </a:extLst>
          </p:cNvPr>
          <p:cNvSpPr/>
          <p:nvPr/>
        </p:nvSpPr>
        <p:spPr>
          <a:xfrm>
            <a:off x="388867" y="586015"/>
            <a:ext cx="4601280" cy="14081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9A82476-6D34-45CD-9678-EFB07FC16593}"/>
              </a:ext>
            </a:extLst>
          </p:cNvPr>
          <p:cNvSpPr txBox="1">
            <a:spLocks/>
          </p:cNvSpPr>
          <p:nvPr/>
        </p:nvSpPr>
        <p:spPr>
          <a:xfrm>
            <a:off x="388867" y="2227797"/>
            <a:ext cx="714107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est </a:t>
            </a:r>
            <a:r>
              <a:rPr lang="fr-FR" sz="6600" dirty="0">
                <a:solidFill>
                  <a:schemeClr val="accent5">
                    <a:lumMod val="50000"/>
                  </a:schemeClr>
                </a:solidFill>
                <a:latin typeface="Bebas Neue" panose="020B0606020202050201" pitchFamily="34" charset="0"/>
              </a:rPr>
              <a:t>hyper</a:t>
            </a:r>
            <a:r>
              <a:rPr lang="fr-FR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important ?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8C64F8E2-4115-4396-BC34-51D64AD51E79}"/>
              </a:ext>
            </a:extLst>
          </p:cNvPr>
          <p:cNvSpPr txBox="1">
            <a:spLocks/>
          </p:cNvSpPr>
          <p:nvPr/>
        </p:nvSpPr>
        <p:spPr>
          <a:xfrm>
            <a:off x="388866" y="1178415"/>
            <a:ext cx="8899161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400" b="1" dirty="0"/>
              <a:t>pourquoi </a:t>
            </a:r>
          </a:p>
          <a:p>
            <a:r>
              <a:rPr lang="fr-FR" sz="4400" b="1" dirty="0"/>
              <a:t>le </a:t>
            </a:r>
            <a:r>
              <a:rPr lang="fr-FR" sz="4400" b="1" dirty="0" err="1"/>
              <a:t>copywriting</a:t>
            </a:r>
            <a:endParaRPr lang="fr-FR" sz="44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31C5EC-5354-4343-B6BF-90E3DEC19D1E}"/>
              </a:ext>
            </a:extLst>
          </p:cNvPr>
          <p:cNvSpPr/>
          <p:nvPr/>
        </p:nvSpPr>
        <p:spPr>
          <a:xfrm>
            <a:off x="512257" y="3357818"/>
            <a:ext cx="2840408" cy="142364"/>
          </a:xfrm>
          <a:prstGeom prst="rect">
            <a:avLst/>
          </a:prstGeom>
          <a:solidFill>
            <a:srgbClr val="1F4E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>
              <a:solidFill>
                <a:srgbClr val="1F4E79"/>
              </a:solidFill>
            </a:endParaRP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A4E87F3C-8639-482B-AE0B-671BC8EC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z="1000" smtClean="0"/>
              <a:t>5</a:t>
            </a:fld>
            <a:endParaRPr lang="fr-FR" sz="10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560D4FBB-BDC1-40A1-A5EE-B0B89D208192}"/>
              </a:ext>
            </a:extLst>
          </p:cNvPr>
          <p:cNvSpPr txBox="1">
            <a:spLocks/>
          </p:cNvSpPr>
          <p:nvPr/>
        </p:nvSpPr>
        <p:spPr>
          <a:xfrm>
            <a:off x="414602" y="6373943"/>
            <a:ext cx="6351526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faire face à la concurrence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se différencier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persuader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engager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produire du contenu de qualité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améliorer son référencement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construire son identité de marque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996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7397" y="1"/>
            <a:ext cx="12184603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comprendre la psychologie humaine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BC75806-B82F-471F-A666-5C44EB7B814B}"/>
              </a:ext>
            </a:extLst>
          </p:cNvPr>
          <p:cNvSpPr txBox="1">
            <a:spLocks/>
          </p:cNvSpPr>
          <p:nvPr/>
        </p:nvSpPr>
        <p:spPr>
          <a:xfrm>
            <a:off x="301347" y="1693168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rgbClr val="303030"/>
                </a:solidFill>
                <a:latin typeface="Poppins" panose="00000500000000000000" pitchFamily="2" charset="0"/>
              </a:rPr>
              <a:t>l’humain est égoïste par nature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D0E593AD-68D0-4AC9-A0D1-ED82A70E9498}"/>
              </a:ext>
            </a:extLst>
          </p:cNvPr>
          <p:cNvSpPr txBox="1">
            <a:spLocks/>
          </p:cNvSpPr>
          <p:nvPr/>
        </p:nvSpPr>
        <p:spPr>
          <a:xfrm>
            <a:off x="301348" y="2367933"/>
            <a:ext cx="10253675" cy="5286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WIIFM (</a:t>
            </a:r>
            <a:r>
              <a:rPr lang="fr-F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What’s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in </a:t>
            </a:r>
            <a:r>
              <a:rPr lang="fr-F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it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for me?)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5516C34D-88F0-4C82-98A4-CFB519C19CB3}"/>
              </a:ext>
            </a:extLst>
          </p:cNvPr>
          <p:cNvSpPr txBox="1">
            <a:spLocks/>
          </p:cNvSpPr>
          <p:nvPr/>
        </p:nvSpPr>
        <p:spPr>
          <a:xfrm>
            <a:off x="301347" y="3026289"/>
            <a:ext cx="10253675" cy="5286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USER-</a:t>
            </a:r>
            <a:r>
              <a:rPr lang="fr-F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centered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content</a:t>
            </a:r>
          </a:p>
        </p:txBody>
      </p:sp>
      <p:pic>
        <p:nvPicPr>
          <p:cNvPr id="3074" name="Picture 2" descr="Attraction Marketing Boot Camp Day 10 — WIIFM: What&amp;#39;s In It For Me? | by  Rohan “Java Mac” McLeod | Attraction Marketing Training For Network  Marketing | Medium">
            <a:extLst>
              <a:ext uri="{FF2B5EF4-FFF2-40B4-BE49-F238E27FC236}">
                <a16:creationId xmlns:a16="http://schemas.microsoft.com/office/drawing/2014/main" id="{0BFD68DE-E0BE-4949-961D-8C40760AD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3" t="6902" r="2944" b="5120"/>
          <a:stretch/>
        </p:blipFill>
        <p:spPr bwMode="auto">
          <a:xfrm>
            <a:off x="6347637" y="3429000"/>
            <a:ext cx="5151841" cy="284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88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7397" y="1"/>
            <a:ext cx="12184603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comprendre la psychologie humaine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BC75806-B82F-471F-A666-5C44EB7B814B}"/>
              </a:ext>
            </a:extLst>
          </p:cNvPr>
          <p:cNvSpPr txBox="1">
            <a:spLocks/>
          </p:cNvSpPr>
          <p:nvPr/>
        </p:nvSpPr>
        <p:spPr>
          <a:xfrm>
            <a:off x="301347" y="1693168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rgbClr val="303030"/>
                </a:solidFill>
                <a:latin typeface="Poppins" panose="00000500000000000000" pitchFamily="2" charset="0"/>
              </a:rPr>
              <a:t>l’humain veut résoudre ses problèmes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D0E593AD-68D0-4AC9-A0D1-ED82A70E9498}"/>
              </a:ext>
            </a:extLst>
          </p:cNvPr>
          <p:cNvSpPr txBox="1">
            <a:spLocks/>
          </p:cNvSpPr>
          <p:nvPr/>
        </p:nvSpPr>
        <p:spPr>
          <a:xfrm>
            <a:off x="301348" y="2367933"/>
            <a:ext cx="10253675" cy="5286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fonctionnalités vs bénéfices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5516C34D-88F0-4C82-98A4-CFB519C19CB3}"/>
              </a:ext>
            </a:extLst>
          </p:cNvPr>
          <p:cNvSpPr txBox="1">
            <a:spLocks/>
          </p:cNvSpPr>
          <p:nvPr/>
        </p:nvSpPr>
        <p:spPr>
          <a:xfrm>
            <a:off x="301347" y="3026289"/>
            <a:ext cx="10253675" cy="5286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bénéfices vs projection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7FC7C07-B738-4753-A90A-2A72BABC3A8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EFFEA"/>
              </a:clrFrom>
              <a:clrTo>
                <a:srgbClr val="EEFFE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46774" y="3883093"/>
            <a:ext cx="5698452" cy="284922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A4ECD7-E882-4CCF-BF43-A0D79BBA859A}"/>
              </a:ext>
            </a:extLst>
          </p:cNvPr>
          <p:cNvSpPr/>
          <p:nvPr/>
        </p:nvSpPr>
        <p:spPr>
          <a:xfrm>
            <a:off x="7639236" y="3741462"/>
            <a:ext cx="1917577" cy="7040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486164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7397" y="1"/>
            <a:ext cx="12184603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comprendre la psychologie humaine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BC75806-B82F-471F-A666-5C44EB7B814B}"/>
              </a:ext>
            </a:extLst>
          </p:cNvPr>
          <p:cNvSpPr txBox="1">
            <a:spLocks/>
          </p:cNvSpPr>
          <p:nvPr/>
        </p:nvSpPr>
        <p:spPr>
          <a:xfrm>
            <a:off x="301347" y="1693168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rgbClr val="303030"/>
                </a:solidFill>
                <a:latin typeface="Poppins" panose="00000500000000000000" pitchFamily="2" charset="0"/>
              </a:rPr>
              <a:t>chaque chose a sa raison d’être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D0E593AD-68D0-4AC9-A0D1-ED82A70E9498}"/>
              </a:ext>
            </a:extLst>
          </p:cNvPr>
          <p:cNvSpPr txBox="1">
            <a:spLocks/>
          </p:cNvSpPr>
          <p:nvPr/>
        </p:nvSpPr>
        <p:spPr>
          <a:xfrm>
            <a:off x="301348" y="2367933"/>
            <a:ext cx="10253675" cy="5286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Faire preuve d’empathie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5516C34D-88F0-4C82-98A4-CFB519C19CB3}"/>
              </a:ext>
            </a:extLst>
          </p:cNvPr>
          <p:cNvSpPr txBox="1">
            <a:spLocks/>
          </p:cNvSpPr>
          <p:nvPr/>
        </p:nvSpPr>
        <p:spPr>
          <a:xfrm>
            <a:off x="301347" y="3026289"/>
            <a:ext cx="10253675" cy="5286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comprendre les raisons </a:t>
            </a:r>
          </a:p>
        </p:txBody>
      </p:sp>
      <p:pic>
        <p:nvPicPr>
          <p:cNvPr id="5122" name="Picture 2" descr="Meme Creator - Funny BUT WHY? Meme Generator at MemeCreator.org!">
            <a:extLst>
              <a:ext uri="{FF2B5EF4-FFF2-40B4-BE49-F238E27FC236}">
                <a16:creationId xmlns:a16="http://schemas.microsoft.com/office/drawing/2014/main" id="{8E17C911-674C-492B-A1F2-F22783472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659" y="2723871"/>
            <a:ext cx="32575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758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19076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du 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9226" y="6372105"/>
            <a:ext cx="2743200" cy="365125"/>
          </a:xfrm>
        </p:spPr>
        <p:txBody>
          <a:bodyPr/>
          <a:lstStyle/>
          <a:p>
            <a:fld id="{B5C50E92-4701-4803-BF4A-1BCEAA5421B4}" type="slidenum">
              <a:rPr lang="fr-FR" smtClean="0"/>
              <a:t>9</a:t>
            </a:fld>
            <a:endParaRPr lang="fr-FR"/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920AF027-A6B2-4EE3-BFDF-967A6B1D67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5612603"/>
              </p:ext>
            </p:extLst>
          </p:nvPr>
        </p:nvGraphicFramePr>
        <p:xfrm>
          <a:off x="4985665" y="1296535"/>
          <a:ext cx="7819218" cy="5027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itre 1">
            <a:extLst>
              <a:ext uri="{FF2B5EF4-FFF2-40B4-BE49-F238E27FC236}">
                <a16:creationId xmlns:a16="http://schemas.microsoft.com/office/drawing/2014/main" id="{8D77F44C-ACA7-4EC6-BE54-6EC838EDFEE0}"/>
              </a:ext>
            </a:extLst>
          </p:cNvPr>
          <p:cNvSpPr txBox="1">
            <a:spLocks/>
          </p:cNvSpPr>
          <p:nvPr/>
        </p:nvSpPr>
        <p:spPr>
          <a:xfrm>
            <a:off x="8586160" y="3935037"/>
            <a:ext cx="837339" cy="5134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CW</a:t>
            </a: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64639A70-2B92-40A5-9C3F-DDA9DA24F31C}"/>
              </a:ext>
            </a:extLst>
          </p:cNvPr>
          <p:cNvSpPr txBox="1">
            <a:spLocks/>
          </p:cNvSpPr>
          <p:nvPr/>
        </p:nvSpPr>
        <p:spPr>
          <a:xfrm>
            <a:off x="8034931" y="2267264"/>
            <a:ext cx="1939796" cy="5134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STRUCTURE</a:t>
            </a: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DEB86FCC-6B48-43D2-BB18-0286E215A47E}"/>
              </a:ext>
            </a:extLst>
          </p:cNvPr>
          <p:cNvSpPr txBox="1">
            <a:spLocks/>
          </p:cNvSpPr>
          <p:nvPr/>
        </p:nvSpPr>
        <p:spPr>
          <a:xfrm>
            <a:off x="6955478" y="4448472"/>
            <a:ext cx="1939796" cy="5134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contenu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2F22D7F7-36C1-43AD-9739-6B7F9E07062A}"/>
              </a:ext>
            </a:extLst>
          </p:cNvPr>
          <p:cNvSpPr txBox="1">
            <a:spLocks/>
          </p:cNvSpPr>
          <p:nvPr/>
        </p:nvSpPr>
        <p:spPr>
          <a:xfrm>
            <a:off x="9423499" y="4448471"/>
            <a:ext cx="1939796" cy="5134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techniques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AC6AA3D-9683-46B9-A805-45F80685EB60}"/>
              </a:ext>
            </a:extLst>
          </p:cNvPr>
          <p:cNvSpPr txBox="1">
            <a:spLocks/>
          </p:cNvSpPr>
          <p:nvPr/>
        </p:nvSpPr>
        <p:spPr>
          <a:xfrm>
            <a:off x="261776" y="1222633"/>
            <a:ext cx="857387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4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1.  la structure</a:t>
            </a:r>
            <a:endParaRPr lang="fr-FR" sz="4400" dirty="0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F0453846-6145-44D1-BDF5-763FC1BFBFBD}"/>
              </a:ext>
            </a:extLst>
          </p:cNvPr>
          <p:cNvSpPr txBox="1">
            <a:spLocks/>
          </p:cNvSpPr>
          <p:nvPr/>
        </p:nvSpPr>
        <p:spPr>
          <a:xfrm>
            <a:off x="261776" y="2431356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structuration du texte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scénarisation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storytelling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04CC8152-60A0-42E5-974A-A37038AA8EAF}"/>
              </a:ext>
            </a:extLst>
          </p:cNvPr>
          <p:cNvSpPr txBox="1">
            <a:spLocks/>
          </p:cNvSpPr>
          <p:nvPr/>
        </p:nvSpPr>
        <p:spPr>
          <a:xfrm>
            <a:off x="261775" y="3254175"/>
            <a:ext cx="857387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400" dirty="0">
                <a:solidFill>
                  <a:srgbClr val="303030"/>
                </a:solidFill>
                <a:latin typeface="Poppins" panose="00000500000000000000" pitchFamily="2" charset="0"/>
              </a:rPr>
              <a:t>2</a:t>
            </a:r>
            <a:r>
              <a:rPr lang="fr-FR" sz="44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.  le contenu</a:t>
            </a:r>
            <a:endParaRPr lang="fr-FR" sz="4400" dirty="0"/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FD9762B8-35FD-4152-858A-4003998E565D}"/>
              </a:ext>
            </a:extLst>
          </p:cNvPr>
          <p:cNvSpPr txBox="1">
            <a:spLocks/>
          </p:cNvSpPr>
          <p:nvPr/>
        </p:nvSpPr>
        <p:spPr>
          <a:xfrm>
            <a:off x="261774" y="6185543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persuasion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lissage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rythmique</a:t>
            </a: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9791A1C5-1478-4CCC-82F7-2165139CB227}"/>
              </a:ext>
            </a:extLst>
          </p:cNvPr>
          <p:cNvSpPr txBox="1">
            <a:spLocks/>
          </p:cNvSpPr>
          <p:nvPr/>
        </p:nvSpPr>
        <p:spPr>
          <a:xfrm>
            <a:off x="261775" y="4932772"/>
            <a:ext cx="857387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4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3.  les techniques</a:t>
            </a:r>
            <a:endParaRPr lang="fr-FR" sz="4400" dirty="0"/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2B7E7A75-8BCF-4213-9A76-1C89CB4A2970}"/>
              </a:ext>
            </a:extLst>
          </p:cNvPr>
          <p:cNvSpPr txBox="1">
            <a:spLocks/>
          </p:cNvSpPr>
          <p:nvPr/>
        </p:nvSpPr>
        <p:spPr>
          <a:xfrm>
            <a:off x="261775" y="4172304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1800" dirty="0"/>
              <a:t>content first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1800" dirty="0"/>
              <a:t>WIIFM ?</a:t>
            </a:r>
          </a:p>
        </p:txBody>
      </p:sp>
    </p:spTree>
    <p:extLst>
      <p:ext uri="{BB962C8B-B14F-4D97-AF65-F5344CB8AC3E}">
        <p14:creationId xmlns:p14="http://schemas.microsoft.com/office/powerpoint/2010/main" val="2511932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du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22F4BC-DB0D-4981-A6D0-B75EB325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10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D5DBDA4-E4A0-4B2A-B48A-4D34008E26BC}"/>
              </a:ext>
            </a:extLst>
          </p:cNvPr>
          <p:cNvSpPr txBox="1">
            <a:spLocks/>
          </p:cNvSpPr>
          <p:nvPr/>
        </p:nvSpPr>
        <p:spPr>
          <a:xfrm>
            <a:off x="261777" y="418137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capter l’attention </a:t>
            </a:r>
          </a:p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faire face à la concurrence</a:t>
            </a:r>
          </a:p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faire passer des messages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2ADE6EC-ED68-45A8-BB53-6EFBAC4FB9D4}"/>
              </a:ext>
            </a:extLst>
          </p:cNvPr>
          <p:cNvSpPr txBox="1">
            <a:spLocks/>
          </p:cNvSpPr>
          <p:nvPr/>
        </p:nvSpPr>
        <p:spPr>
          <a:xfrm>
            <a:off x="261776" y="3046320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3200" i="1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</a:rPr>
              <a:t>pourquoi ?</a:t>
            </a:r>
          </a:p>
        </p:txBody>
      </p:sp>
      <p:pic>
        <p:nvPicPr>
          <p:cNvPr id="8196" name="Picture 4" descr="Giovanni Giannini - illustration (&amp;quot;Contes des Mille et une nuits&amp;quot;, ed. Les  Livres du Dragon d&amp;#39;Or, 1998) | Illustration, Contes des mille et une nuits,  Dessin">
            <a:extLst>
              <a:ext uri="{FF2B5EF4-FFF2-40B4-BE49-F238E27FC236}">
                <a16:creationId xmlns:a16="http://schemas.microsoft.com/office/drawing/2014/main" id="{9EDDC1FD-4326-41C3-8529-42714B512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1333" y="2697880"/>
            <a:ext cx="4235301" cy="325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417276A4-5BF5-4819-816C-3BFAD57B2E0E}"/>
              </a:ext>
            </a:extLst>
          </p:cNvPr>
          <p:cNvSpPr txBox="1">
            <a:spLocks/>
          </p:cNvSpPr>
          <p:nvPr/>
        </p:nvSpPr>
        <p:spPr>
          <a:xfrm>
            <a:off x="9377305" y="5498974"/>
            <a:ext cx="227629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000" b="0" i="1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illustration : les mille et une nuits</a:t>
            </a:r>
            <a:endParaRPr lang="fr-FR" sz="1000" i="1" dirty="0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EE07548F-BA59-45E6-8772-4081CCB70EF3}"/>
              </a:ext>
            </a:extLst>
          </p:cNvPr>
          <p:cNvSpPr txBox="1">
            <a:spLocks/>
          </p:cNvSpPr>
          <p:nvPr/>
        </p:nvSpPr>
        <p:spPr>
          <a:xfrm>
            <a:off x="261776" y="1342744"/>
            <a:ext cx="857387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0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1. structure : le storytelling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4099849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du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6" y="1342744"/>
            <a:ext cx="857387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0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1. structure : le storytelling</a:t>
            </a:r>
            <a:endParaRPr lang="fr-FR" sz="4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22F4BC-DB0D-4981-A6D0-B75EB325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11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D5DBDA4-E4A0-4B2A-B48A-4D34008E26BC}"/>
              </a:ext>
            </a:extLst>
          </p:cNvPr>
          <p:cNvSpPr txBox="1">
            <a:spLocks/>
          </p:cNvSpPr>
          <p:nvPr/>
        </p:nvSpPr>
        <p:spPr>
          <a:xfrm>
            <a:off x="261777" y="2900356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cas de highlander 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2ADE6EC-ED68-45A8-BB53-6EFBAC4FB9D4}"/>
              </a:ext>
            </a:extLst>
          </p:cNvPr>
          <p:cNvSpPr txBox="1">
            <a:spLocks/>
          </p:cNvSpPr>
          <p:nvPr/>
        </p:nvSpPr>
        <p:spPr>
          <a:xfrm>
            <a:off x="261776" y="2460525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3200" i="1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</a:rPr>
              <a:t>la trame scénaristique de Miller</a:t>
            </a:r>
          </a:p>
        </p:txBody>
      </p:sp>
      <p:pic>
        <p:nvPicPr>
          <p:cNvPr id="9222" name="Picture 6" descr="Ép.36 : Storybrand, le marketing, en simple - Productifs et Sereins |  Getting Things Done® France">
            <a:extLst>
              <a:ext uri="{FF2B5EF4-FFF2-40B4-BE49-F238E27FC236}">
                <a16:creationId xmlns:a16="http://schemas.microsoft.com/office/drawing/2014/main" id="{5BEB4270-409A-4576-B0D0-46AA225C3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073" y="4184659"/>
            <a:ext cx="2341555" cy="234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8" descr="Amazon.fr - Building a StoryBrand: Clarify Your Message So Customers Will  Listen - Miller, Donald - Livres">
            <a:extLst>
              <a:ext uri="{FF2B5EF4-FFF2-40B4-BE49-F238E27FC236}">
                <a16:creationId xmlns:a16="http://schemas.microsoft.com/office/drawing/2014/main" id="{5BDF96F3-FC2C-4E1C-89CC-784FC2B734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226" name="Picture 10" descr="Amazon.fr - Building a StoryBrand: Clarify Your Message So Customers Will  Listen - Miller, Donald - Livres">
            <a:extLst>
              <a:ext uri="{FF2B5EF4-FFF2-40B4-BE49-F238E27FC236}">
                <a16:creationId xmlns:a16="http://schemas.microsoft.com/office/drawing/2014/main" id="{9562FE39-88BE-4A12-B6FB-F213D2F6F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373" y="4184659"/>
            <a:ext cx="1556700" cy="234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The Grammar Highlander - Imgflip">
            <a:extLst>
              <a:ext uri="{FF2B5EF4-FFF2-40B4-BE49-F238E27FC236}">
                <a16:creationId xmlns:a16="http://schemas.microsoft.com/office/drawing/2014/main" id="{6F9F0830-6270-4E39-8930-A5B204BAD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600" y="4240998"/>
            <a:ext cx="3564673" cy="235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808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du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6" y="1342744"/>
            <a:ext cx="857387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0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1. structure : le storytelling</a:t>
            </a:r>
            <a:endParaRPr lang="fr-FR" sz="4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22F4BC-DB0D-4981-A6D0-B75EB325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12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D5DBDA4-E4A0-4B2A-B48A-4D34008E26BC}"/>
              </a:ext>
            </a:extLst>
          </p:cNvPr>
          <p:cNvSpPr txBox="1">
            <a:spLocks/>
          </p:cNvSpPr>
          <p:nvPr/>
        </p:nvSpPr>
        <p:spPr>
          <a:xfrm>
            <a:off x="261777" y="2900356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cas de highlander 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2ADE6EC-ED68-45A8-BB53-6EFBAC4FB9D4}"/>
              </a:ext>
            </a:extLst>
          </p:cNvPr>
          <p:cNvSpPr txBox="1">
            <a:spLocks/>
          </p:cNvSpPr>
          <p:nvPr/>
        </p:nvSpPr>
        <p:spPr>
          <a:xfrm>
            <a:off x="261776" y="2460525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3200" i="1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</a:rPr>
              <a:t>la trame scénaristique de Miller</a:t>
            </a:r>
          </a:p>
        </p:txBody>
      </p:sp>
      <p:sp>
        <p:nvSpPr>
          <p:cNvPr id="7" name="AutoShape 8" descr="Amazon.fr - Building a StoryBrand: Clarify Your Message So Customers Will  Listen - Miller, Donald - Livres">
            <a:extLst>
              <a:ext uri="{FF2B5EF4-FFF2-40B4-BE49-F238E27FC236}">
                <a16:creationId xmlns:a16="http://schemas.microsoft.com/office/drawing/2014/main" id="{5BDF96F3-FC2C-4E1C-89CC-784FC2B734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6B7C8C3-E7CC-49DC-9163-A1E052CC23A2}"/>
              </a:ext>
            </a:extLst>
          </p:cNvPr>
          <p:cNvSpPr txBox="1">
            <a:spLocks/>
          </p:cNvSpPr>
          <p:nvPr/>
        </p:nvSpPr>
        <p:spPr>
          <a:xfrm>
            <a:off x="261776" y="4826793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+mj-lt"/>
              <a:buAutoNum type="arabicPeriod"/>
            </a:pPr>
            <a:r>
              <a:rPr lang="fr-F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SITUATION de départ</a:t>
            </a:r>
          </a:p>
          <a:p>
            <a:pPr marL="571500" indent="-571500">
              <a:buFont typeface="+mj-lt"/>
              <a:buAutoNum type="arabicPeriod"/>
            </a:pPr>
            <a:r>
              <a:rPr lang="fr-F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éléments perturbateurs</a:t>
            </a:r>
          </a:p>
          <a:p>
            <a:pPr marL="571500" indent="-571500">
              <a:buFont typeface="+mj-lt"/>
              <a:buAutoNum type="arabicPeriod"/>
            </a:pPr>
            <a:r>
              <a:rPr lang="fr-F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problèmes qui dépassent le héro </a:t>
            </a:r>
          </a:p>
          <a:p>
            <a:pPr marL="571500" indent="-571500">
              <a:buFont typeface="+mj-lt"/>
              <a:buAutoNum type="arabicPeriod"/>
            </a:pPr>
            <a:r>
              <a:rPr lang="fr-F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Rencontre du mentor </a:t>
            </a:r>
          </a:p>
          <a:p>
            <a:pPr marL="571500" indent="-571500">
              <a:buFont typeface="+mj-lt"/>
              <a:buAutoNum type="arabicPeriod"/>
            </a:pPr>
            <a:r>
              <a:rPr lang="fr-F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Initiation </a:t>
            </a:r>
          </a:p>
          <a:p>
            <a:pPr marL="571500" indent="-571500">
              <a:buFont typeface="+mj-lt"/>
              <a:buAutoNum type="arabicPeriod"/>
            </a:pPr>
            <a:r>
              <a:rPr lang="fr-F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Solution au problème </a:t>
            </a:r>
          </a:p>
        </p:txBody>
      </p:sp>
    </p:spTree>
    <p:extLst>
      <p:ext uri="{BB962C8B-B14F-4D97-AF65-F5344CB8AC3E}">
        <p14:creationId xmlns:p14="http://schemas.microsoft.com/office/powerpoint/2010/main" val="3330319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du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22F4BC-DB0D-4981-A6D0-B75EB325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13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D5DBDA4-E4A0-4B2A-B48A-4D34008E26BC}"/>
              </a:ext>
            </a:extLst>
          </p:cNvPr>
          <p:cNvSpPr txBox="1">
            <a:spLocks/>
          </p:cNvSpPr>
          <p:nvPr/>
        </p:nvSpPr>
        <p:spPr>
          <a:xfrm>
            <a:off x="261777" y="418137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répondre aux attentes de la cible</a:t>
            </a:r>
          </a:p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offrir pour recevoir</a:t>
            </a:r>
          </a:p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fidéliser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2ADE6EC-ED68-45A8-BB53-6EFBAC4FB9D4}"/>
              </a:ext>
            </a:extLst>
          </p:cNvPr>
          <p:cNvSpPr txBox="1">
            <a:spLocks/>
          </p:cNvSpPr>
          <p:nvPr/>
        </p:nvSpPr>
        <p:spPr>
          <a:xfrm>
            <a:off x="261776" y="3046320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3200" i="1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</a:rPr>
              <a:t>pourquoi ?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44453D43-C6FA-4288-A7F5-EB7F78BE9915}"/>
              </a:ext>
            </a:extLst>
          </p:cNvPr>
          <p:cNvSpPr txBox="1">
            <a:spLocks/>
          </p:cNvSpPr>
          <p:nvPr/>
        </p:nvSpPr>
        <p:spPr>
          <a:xfrm>
            <a:off x="390243" y="1334092"/>
            <a:ext cx="857387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000" dirty="0">
                <a:solidFill>
                  <a:srgbClr val="303030"/>
                </a:solidFill>
                <a:latin typeface="Poppins" panose="00000500000000000000" pitchFamily="2" charset="0"/>
              </a:rPr>
              <a:t>2</a:t>
            </a:r>
            <a:r>
              <a:rPr lang="fr-FR" sz="40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. contenu : content first </a:t>
            </a:r>
            <a:endParaRPr lang="fr-FR" sz="4000" dirty="0"/>
          </a:p>
        </p:txBody>
      </p:sp>
      <p:pic>
        <p:nvPicPr>
          <p:cNvPr id="17414" name="Picture 6" descr="Mobile or content first?. During website development some teams… | by  Valsplat | Medium">
            <a:extLst>
              <a:ext uri="{FF2B5EF4-FFF2-40B4-BE49-F238E27FC236}">
                <a16:creationId xmlns:a16="http://schemas.microsoft.com/office/drawing/2014/main" id="{1D52F0A8-A357-4007-8B2A-A5D82AB7C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1175" y="2888289"/>
            <a:ext cx="4819048" cy="273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458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éléments du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22F4BC-DB0D-4981-A6D0-B75EB325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14</a:t>
            </a:fld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2ADE6EC-ED68-45A8-BB53-6EFBAC4FB9D4}"/>
              </a:ext>
            </a:extLst>
          </p:cNvPr>
          <p:cNvSpPr txBox="1">
            <a:spLocks/>
          </p:cNvSpPr>
          <p:nvPr/>
        </p:nvSpPr>
        <p:spPr>
          <a:xfrm>
            <a:off x="261776" y="3046320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3200" i="1" dirty="0">
              <a:solidFill>
                <a:schemeClr val="accent1">
                  <a:lumMod val="75000"/>
                </a:schemeClr>
              </a:solidFill>
              <a:latin typeface="Poppins" panose="00000500000000000000" pitchFamily="2" charset="0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44453D43-C6FA-4288-A7F5-EB7F78BE9915}"/>
              </a:ext>
            </a:extLst>
          </p:cNvPr>
          <p:cNvSpPr txBox="1">
            <a:spLocks/>
          </p:cNvSpPr>
          <p:nvPr/>
        </p:nvSpPr>
        <p:spPr>
          <a:xfrm>
            <a:off x="390243" y="1334092"/>
            <a:ext cx="857387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000" dirty="0">
                <a:solidFill>
                  <a:srgbClr val="303030"/>
                </a:solidFill>
                <a:latin typeface="Poppins" panose="00000500000000000000" pitchFamily="2" charset="0"/>
              </a:rPr>
              <a:t>2</a:t>
            </a:r>
            <a:r>
              <a:rPr lang="fr-FR" sz="40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. contenu : content first </a:t>
            </a:r>
            <a:endParaRPr lang="fr-FR" sz="4000" dirty="0"/>
          </a:p>
        </p:txBody>
      </p:sp>
      <p:pic>
        <p:nvPicPr>
          <p:cNvPr id="17410" name="Picture 2" descr="Put the user first - Think like an editor (content strategy and UX writing)  - OpenClassrooms">
            <a:extLst>
              <a:ext uri="{FF2B5EF4-FFF2-40B4-BE49-F238E27FC236}">
                <a16:creationId xmlns:a16="http://schemas.microsoft.com/office/drawing/2014/main" id="{E64B02FD-7A59-4C4E-9AA4-D9A49AB92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323" y="3429000"/>
            <a:ext cx="4697814" cy="264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C9F50304-9EB9-48B0-8723-A3AA2A12C48E}"/>
              </a:ext>
            </a:extLst>
          </p:cNvPr>
          <p:cNvSpPr txBox="1">
            <a:spLocks/>
          </p:cNvSpPr>
          <p:nvPr/>
        </p:nvSpPr>
        <p:spPr>
          <a:xfrm>
            <a:off x="390243" y="3237660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rédiger pour des humains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s’adapter à l’identité de la marque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offrir de la valeur </a:t>
            </a:r>
          </a:p>
        </p:txBody>
      </p:sp>
    </p:spTree>
    <p:extLst>
      <p:ext uri="{BB962C8B-B14F-4D97-AF65-F5344CB8AC3E}">
        <p14:creationId xmlns:p14="http://schemas.microsoft.com/office/powerpoint/2010/main" val="1195256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Les éléments du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22F4BC-DB0D-4981-A6D0-B75EB325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15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D5DBDA4-E4A0-4B2A-B48A-4D34008E26BC}"/>
              </a:ext>
            </a:extLst>
          </p:cNvPr>
          <p:cNvSpPr txBox="1">
            <a:spLocks/>
          </p:cNvSpPr>
          <p:nvPr/>
        </p:nvSpPr>
        <p:spPr>
          <a:xfrm>
            <a:off x="261777" y="418137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bg1"/>
                </a:solidFill>
                <a:latin typeface="Bebas Neue" panose="020B0606020202050201" pitchFamily="34" charset="0"/>
              </a:rPr>
              <a:t>rendre la lecture agréable</a:t>
            </a:r>
          </a:p>
          <a:p>
            <a:r>
              <a:rPr lang="fr-FR" dirty="0">
                <a:solidFill>
                  <a:schemeClr val="bg1"/>
                </a:solidFill>
                <a:latin typeface="Bebas Neue" panose="020B0606020202050201" pitchFamily="34" charset="0"/>
              </a:rPr>
              <a:t>engager</a:t>
            </a:r>
          </a:p>
          <a:p>
            <a:r>
              <a:rPr lang="fr-FR" dirty="0">
                <a:solidFill>
                  <a:schemeClr val="bg1"/>
                </a:solidFill>
                <a:latin typeface="Bebas Neue" panose="020B0606020202050201" pitchFamily="34" charset="0"/>
              </a:rPr>
              <a:t>persuader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2ADE6EC-ED68-45A8-BB53-6EFBAC4FB9D4}"/>
              </a:ext>
            </a:extLst>
          </p:cNvPr>
          <p:cNvSpPr txBox="1">
            <a:spLocks/>
          </p:cNvSpPr>
          <p:nvPr/>
        </p:nvSpPr>
        <p:spPr>
          <a:xfrm>
            <a:off x="261776" y="3046320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3200" i="1" dirty="0">
                <a:solidFill>
                  <a:schemeClr val="bg1"/>
                </a:solidFill>
                <a:latin typeface="Poppins" panose="00000500000000000000" pitchFamily="2" charset="0"/>
              </a:rPr>
              <a:t>pourquoi ?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FE6A709-B18F-4637-90D4-A8438F7C3E34}"/>
              </a:ext>
            </a:extLst>
          </p:cNvPr>
          <p:cNvSpPr txBox="1">
            <a:spLocks/>
          </p:cNvSpPr>
          <p:nvPr/>
        </p:nvSpPr>
        <p:spPr>
          <a:xfrm>
            <a:off x="261776" y="1406385"/>
            <a:ext cx="104608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000" b="0" i="0" dirty="0"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3. les techniques : bien rédiger</a:t>
            </a:r>
            <a:endParaRPr lang="fr-FR" sz="4000" dirty="0">
              <a:solidFill>
                <a:schemeClr val="bg1"/>
              </a:solidFill>
            </a:endParaRPr>
          </a:p>
        </p:txBody>
      </p:sp>
      <p:pic>
        <p:nvPicPr>
          <p:cNvPr id="10242" name="Picture 2" descr="Les différentes techniques de la peinture artistique">
            <a:extLst>
              <a:ext uri="{FF2B5EF4-FFF2-40B4-BE49-F238E27FC236}">
                <a16:creationId xmlns:a16="http://schemas.microsoft.com/office/drawing/2014/main" id="{2A0D29D3-EEF8-4243-A19C-F8FF1256A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093" y="2676621"/>
            <a:ext cx="5578130" cy="294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8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Les éléments du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22F4BC-DB0D-4981-A6D0-B75EB325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16</a:t>
            </a:fld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2ADE6EC-ED68-45A8-BB53-6EFBAC4FB9D4}"/>
              </a:ext>
            </a:extLst>
          </p:cNvPr>
          <p:cNvSpPr txBox="1">
            <a:spLocks/>
          </p:cNvSpPr>
          <p:nvPr/>
        </p:nvSpPr>
        <p:spPr>
          <a:xfrm>
            <a:off x="261776" y="2460525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3200" i="1" dirty="0">
              <a:solidFill>
                <a:schemeClr val="bg1"/>
              </a:solidFill>
              <a:latin typeface="Poppins" panose="00000500000000000000" pitchFamily="2" charset="0"/>
            </a:endParaRPr>
          </a:p>
        </p:txBody>
      </p:sp>
      <p:sp>
        <p:nvSpPr>
          <p:cNvPr id="7" name="AutoShape 8" descr="Amazon.fr - Building a StoryBrand: Clarify Your Message So Customers Will  Listen - Miller, Donald - Livres">
            <a:extLst>
              <a:ext uri="{FF2B5EF4-FFF2-40B4-BE49-F238E27FC236}">
                <a16:creationId xmlns:a16="http://schemas.microsoft.com/office/drawing/2014/main" id="{5BDF96F3-FC2C-4E1C-89CC-784FC2B734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C363897-9F9B-489F-8689-0EA4A62D53AF}"/>
              </a:ext>
            </a:extLst>
          </p:cNvPr>
          <p:cNvSpPr txBox="1">
            <a:spLocks/>
          </p:cNvSpPr>
          <p:nvPr/>
        </p:nvSpPr>
        <p:spPr>
          <a:xfrm>
            <a:off x="261776" y="1406385"/>
            <a:ext cx="104608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000" b="0" i="0" dirty="0"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3. les techniques : le titre</a:t>
            </a:r>
            <a:endParaRPr lang="fr-FR" sz="4000" dirty="0">
              <a:solidFill>
                <a:schemeClr val="bg1"/>
              </a:solidFill>
            </a:endParaRP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D1C32C45-6B00-42E1-B6B1-511F7CEA51DD}"/>
              </a:ext>
            </a:extLst>
          </p:cNvPr>
          <p:cNvSpPr txBox="1">
            <a:spLocks/>
          </p:cNvSpPr>
          <p:nvPr/>
        </p:nvSpPr>
        <p:spPr>
          <a:xfrm>
            <a:off x="261776" y="371638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>
                <a:solidFill>
                  <a:schemeClr val="bg1"/>
                </a:solidFill>
                <a:latin typeface="Bebas Neue" panose="020B0606020202050201" pitchFamily="34" charset="0"/>
              </a:rPr>
              <a:t>la technique U.S.I.N.E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UTILE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spécifique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inattendu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négatif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EFFET «  oh pu****, encore un ! »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6E4A5292-2E20-43DF-A425-A53E0B86C69D}"/>
              </a:ext>
            </a:extLst>
          </p:cNvPr>
          <p:cNvSpPr txBox="1">
            <a:spLocks/>
          </p:cNvSpPr>
          <p:nvPr/>
        </p:nvSpPr>
        <p:spPr>
          <a:xfrm>
            <a:off x="261776" y="3386766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3200" i="1" dirty="0">
              <a:solidFill>
                <a:schemeClr val="bg1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151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Les éléments du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22F4BC-DB0D-4981-A6D0-B75EB325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17</a:t>
            </a:fld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2ADE6EC-ED68-45A8-BB53-6EFBAC4FB9D4}"/>
              </a:ext>
            </a:extLst>
          </p:cNvPr>
          <p:cNvSpPr txBox="1">
            <a:spLocks/>
          </p:cNvSpPr>
          <p:nvPr/>
        </p:nvSpPr>
        <p:spPr>
          <a:xfrm>
            <a:off x="261776" y="3161648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400" dirty="0">
                <a:solidFill>
                  <a:schemeClr val="bg1"/>
                </a:solidFill>
                <a:latin typeface="Bebas Neue" panose="020B0606020202050201" pitchFamily="34" charset="0"/>
              </a:rPr>
              <a:t>exemples de bons titres</a:t>
            </a:r>
          </a:p>
        </p:txBody>
      </p:sp>
      <p:sp>
        <p:nvSpPr>
          <p:cNvPr id="7" name="AutoShape 8" descr="Amazon.fr - Building a StoryBrand: Clarify Your Message So Customers Will  Listen - Miller, Donald - Livres">
            <a:extLst>
              <a:ext uri="{FF2B5EF4-FFF2-40B4-BE49-F238E27FC236}">
                <a16:creationId xmlns:a16="http://schemas.microsoft.com/office/drawing/2014/main" id="{5BDF96F3-FC2C-4E1C-89CC-784FC2B734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C363897-9F9B-489F-8689-0EA4A62D53AF}"/>
              </a:ext>
            </a:extLst>
          </p:cNvPr>
          <p:cNvSpPr txBox="1">
            <a:spLocks/>
          </p:cNvSpPr>
          <p:nvPr/>
        </p:nvSpPr>
        <p:spPr>
          <a:xfrm>
            <a:off x="261776" y="1406385"/>
            <a:ext cx="104608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000" b="0" i="0" dirty="0"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3. les techniques : le titre</a:t>
            </a:r>
            <a:endParaRPr lang="fr-FR" sz="4000" dirty="0">
              <a:solidFill>
                <a:schemeClr val="bg1"/>
              </a:solidFill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6E4A5292-2E20-43DF-A425-A53E0B86C69D}"/>
              </a:ext>
            </a:extLst>
          </p:cNvPr>
          <p:cNvSpPr txBox="1">
            <a:spLocks/>
          </p:cNvSpPr>
          <p:nvPr/>
        </p:nvSpPr>
        <p:spPr>
          <a:xfrm>
            <a:off x="261776" y="4053082"/>
            <a:ext cx="7515242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i="1" dirty="0">
                <a:solidFill>
                  <a:schemeClr val="bg1"/>
                </a:solidFill>
                <a:latin typeface="Poppins" panose="00000500000000000000" pitchFamily="2" charset="0"/>
              </a:rPr>
              <a:t>« Ils ont rigolé quand je me suis assis au piano. Mais quand j’ai commencé à jouer… »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5A0759B-5F12-4C51-980D-97815EF9934F}"/>
              </a:ext>
            </a:extLst>
          </p:cNvPr>
          <p:cNvSpPr txBox="1">
            <a:spLocks/>
          </p:cNvSpPr>
          <p:nvPr/>
        </p:nvSpPr>
        <p:spPr>
          <a:xfrm>
            <a:off x="261776" y="5195938"/>
            <a:ext cx="7515242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i="1" dirty="0">
                <a:solidFill>
                  <a:schemeClr val="bg1"/>
                </a:solidFill>
                <a:latin typeface="Poppins" panose="00000500000000000000" pitchFamily="2" charset="0"/>
              </a:rPr>
              <a:t>« Il y a un interrupteur dans le cerveau des gens… et on va appuyer dessus » 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B2DFE376-7468-49EB-B931-1091DED375C5}"/>
              </a:ext>
            </a:extLst>
          </p:cNvPr>
          <p:cNvSpPr txBox="1">
            <a:spLocks/>
          </p:cNvSpPr>
          <p:nvPr/>
        </p:nvSpPr>
        <p:spPr>
          <a:xfrm>
            <a:off x="261776" y="6338795"/>
            <a:ext cx="7515242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i="1" dirty="0">
                <a:solidFill>
                  <a:schemeClr val="bg1"/>
                </a:solidFill>
                <a:latin typeface="Poppins" panose="00000500000000000000" pitchFamily="2" charset="0"/>
              </a:rPr>
              <a:t>« Comment ne plus rédiger des articles que personne ne lit » </a:t>
            </a:r>
          </a:p>
        </p:txBody>
      </p:sp>
    </p:spTree>
    <p:extLst>
      <p:ext uri="{BB962C8B-B14F-4D97-AF65-F5344CB8AC3E}">
        <p14:creationId xmlns:p14="http://schemas.microsoft.com/office/powerpoint/2010/main" val="3176871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Les éléments du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A5EFE1F-2F36-494B-9618-7FFFF3C8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18</a:t>
            </a:fld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082AB42-D4B1-4F54-9681-689316350D6E}"/>
              </a:ext>
            </a:extLst>
          </p:cNvPr>
          <p:cNvSpPr txBox="1">
            <a:spLocks/>
          </p:cNvSpPr>
          <p:nvPr/>
        </p:nvSpPr>
        <p:spPr>
          <a:xfrm>
            <a:off x="261776" y="1406385"/>
            <a:ext cx="104608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000" b="0" i="0" dirty="0"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un mot sur les titres putaclic</a:t>
            </a:r>
            <a:endParaRPr lang="fr-FR" sz="4000" dirty="0">
              <a:solidFill>
                <a:schemeClr val="bg1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FB79B91-50FB-4CFE-8594-22E0E6AAA29F}"/>
              </a:ext>
            </a:extLst>
          </p:cNvPr>
          <p:cNvSpPr txBox="1">
            <a:spLocks/>
          </p:cNvSpPr>
          <p:nvPr/>
        </p:nvSpPr>
        <p:spPr>
          <a:xfrm>
            <a:off x="354141" y="3073761"/>
            <a:ext cx="541858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bg1"/>
                </a:solidFill>
                <a:latin typeface="Bebas Neue" panose="020B0606020202050201" pitchFamily="34" charset="0"/>
              </a:rPr>
              <a:t>putaclic : un décalage entre la promesse et le contenu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03BE84A0-1E78-445B-9C6F-C83B7755FB05}"/>
              </a:ext>
            </a:extLst>
          </p:cNvPr>
          <p:cNvSpPr txBox="1">
            <a:spLocks/>
          </p:cNvSpPr>
          <p:nvPr/>
        </p:nvSpPr>
        <p:spPr>
          <a:xfrm>
            <a:off x="261776" y="5770470"/>
            <a:ext cx="8830815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Poppins" panose="00000500000000000000" pitchFamily="2" charset="0"/>
              </a:rPr>
              <a:t>augmente le taux de clic mais diminue la crédibilité et la confiance</a:t>
            </a:r>
          </a:p>
        </p:txBody>
      </p:sp>
    </p:spTree>
    <p:extLst>
      <p:ext uri="{BB962C8B-B14F-4D97-AF65-F5344CB8AC3E}">
        <p14:creationId xmlns:p14="http://schemas.microsoft.com/office/powerpoint/2010/main" val="579442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Les éléments du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22F4BC-DB0D-4981-A6D0-B75EB325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19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D5DBDA4-E4A0-4B2A-B48A-4D34008E26BC}"/>
              </a:ext>
            </a:extLst>
          </p:cNvPr>
          <p:cNvSpPr txBox="1">
            <a:spLocks/>
          </p:cNvSpPr>
          <p:nvPr/>
        </p:nvSpPr>
        <p:spPr>
          <a:xfrm>
            <a:off x="365367" y="3308147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>
                <a:solidFill>
                  <a:schemeClr val="bg1"/>
                </a:solidFill>
                <a:latin typeface="Bebas Neue" panose="020B0606020202050201" pitchFamily="34" charset="0"/>
              </a:rPr>
              <a:t>à bannir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phrases longues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longs paragraphes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paragraphes trop courts (une ligne)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conjonctions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les questions/exclamations à outrance</a:t>
            </a:r>
          </a:p>
        </p:txBody>
      </p:sp>
      <p:sp>
        <p:nvSpPr>
          <p:cNvPr id="7" name="AutoShape 8" descr="Amazon.fr - Building a StoryBrand: Clarify Your Message So Customers Will  Listen - Miller, Donald - Livres">
            <a:extLst>
              <a:ext uri="{FF2B5EF4-FFF2-40B4-BE49-F238E27FC236}">
                <a16:creationId xmlns:a16="http://schemas.microsoft.com/office/drawing/2014/main" id="{5BDF96F3-FC2C-4E1C-89CC-784FC2B734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C363897-9F9B-489F-8689-0EA4A62D53AF}"/>
              </a:ext>
            </a:extLst>
          </p:cNvPr>
          <p:cNvSpPr txBox="1">
            <a:spLocks/>
          </p:cNvSpPr>
          <p:nvPr/>
        </p:nvSpPr>
        <p:spPr>
          <a:xfrm>
            <a:off x="261776" y="1406385"/>
            <a:ext cx="104608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000" b="0" i="0" dirty="0"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3. les techniques : le rythme</a:t>
            </a:r>
            <a:endParaRPr lang="fr-FR" sz="4000" dirty="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10D0F7A-3C19-421A-B39B-48188EB61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673" y="3778158"/>
            <a:ext cx="3560387" cy="219938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2BB535B-29B7-4960-8678-5CD8A25CA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776" y="776143"/>
            <a:ext cx="3436179" cy="250045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7C33A1C-FD11-4A23-93C4-A9589987BC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537" b="71115"/>
          <a:stretch/>
        </p:blipFill>
        <p:spPr>
          <a:xfrm>
            <a:off x="7195616" y="5194712"/>
            <a:ext cx="636980" cy="78282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8302210-DD69-45C5-87E8-F741F8C4053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8567" b="71417"/>
          <a:stretch/>
        </p:blipFill>
        <p:spPr>
          <a:xfrm>
            <a:off x="7182863" y="2346328"/>
            <a:ext cx="572838" cy="70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23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Les éléments du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copywriting</a:t>
            </a:r>
            <a:endParaRPr lang="fr-FR" sz="6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22F4BC-DB0D-4981-A6D0-B75EB325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20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D5DBDA4-E4A0-4B2A-B48A-4D34008E26BC}"/>
              </a:ext>
            </a:extLst>
          </p:cNvPr>
          <p:cNvSpPr txBox="1">
            <a:spLocks/>
          </p:cNvSpPr>
          <p:nvPr/>
        </p:nvSpPr>
        <p:spPr>
          <a:xfrm>
            <a:off x="365367" y="3124047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utiliser des power </a:t>
            </a:r>
            <a:r>
              <a:rPr lang="fr-FR" sz="3200" dirty="0" err="1">
                <a:solidFill>
                  <a:schemeClr val="bg1"/>
                </a:solidFill>
                <a:latin typeface="Bebas Neue" panose="020B0606020202050201" pitchFamily="34" charset="0"/>
              </a:rPr>
              <a:t>words</a:t>
            </a:r>
            <a:endParaRPr lang="fr-FR" sz="3200" dirty="0">
              <a:solidFill>
                <a:schemeClr val="bg1"/>
              </a:solidFill>
              <a:latin typeface="Bebas Neue" panose="020B0606020202050201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éviter les «  très »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rédiger avec emphase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faire des analogies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Bebas Neue" panose="020B0606020202050201" pitchFamily="34" charset="0"/>
              </a:rPr>
              <a:t>utiliser des enchainements </a:t>
            </a:r>
          </a:p>
          <a:p>
            <a:endParaRPr lang="fr-FR" sz="32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7" name="AutoShape 8" descr="Amazon.fr - Building a StoryBrand: Clarify Your Message So Customers Will  Listen - Miller, Donald - Livres">
            <a:extLst>
              <a:ext uri="{FF2B5EF4-FFF2-40B4-BE49-F238E27FC236}">
                <a16:creationId xmlns:a16="http://schemas.microsoft.com/office/drawing/2014/main" id="{5BDF96F3-FC2C-4E1C-89CC-784FC2B734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C363897-9F9B-489F-8689-0EA4A62D53AF}"/>
              </a:ext>
            </a:extLst>
          </p:cNvPr>
          <p:cNvSpPr txBox="1">
            <a:spLocks/>
          </p:cNvSpPr>
          <p:nvPr/>
        </p:nvSpPr>
        <p:spPr>
          <a:xfrm>
            <a:off x="261776" y="1406385"/>
            <a:ext cx="104608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000" b="0" i="0" dirty="0"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3. les techniques : l’impact</a:t>
            </a:r>
            <a:endParaRPr lang="fr-FR" sz="4000" dirty="0">
              <a:solidFill>
                <a:schemeClr val="bg1"/>
              </a:solidFill>
            </a:endParaRPr>
          </a:p>
        </p:txBody>
      </p:sp>
      <p:pic>
        <p:nvPicPr>
          <p:cNvPr id="14338" name="Picture 2" descr="Power Word Images, Stock Photos &amp;amp; Vectors | Shutterstock">
            <a:extLst>
              <a:ext uri="{FF2B5EF4-FFF2-40B4-BE49-F238E27FC236}">
                <a16:creationId xmlns:a16="http://schemas.microsoft.com/office/drawing/2014/main" id="{008F52EB-E0B1-4CDF-BABB-316B2343BC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20"/>
          <a:stretch/>
        </p:blipFill>
        <p:spPr bwMode="auto">
          <a:xfrm>
            <a:off x="7116203" y="1908092"/>
            <a:ext cx="4932653" cy="304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itre 1">
            <a:extLst>
              <a:ext uri="{FF2B5EF4-FFF2-40B4-BE49-F238E27FC236}">
                <a16:creationId xmlns:a16="http://schemas.microsoft.com/office/drawing/2014/main" id="{3A126C32-4375-46B0-9670-A5EEE0315D52}"/>
              </a:ext>
            </a:extLst>
          </p:cNvPr>
          <p:cNvSpPr txBox="1">
            <a:spLocks/>
          </p:cNvSpPr>
          <p:nvPr/>
        </p:nvSpPr>
        <p:spPr>
          <a:xfrm>
            <a:off x="503363" y="5606070"/>
            <a:ext cx="104608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b="0" i="0" dirty="0"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utile =&gt; indispensable</a:t>
            </a:r>
          </a:p>
          <a:p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</a:rPr>
              <a:t>satisfaisant =&gt; stupéfiant </a:t>
            </a:r>
          </a:p>
          <a:p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</a:rPr>
              <a:t>compliqué =&gt; fastidieux </a:t>
            </a:r>
          </a:p>
          <a:p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</a:rPr>
              <a:t>très efficace =&gt; performant 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935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NEXT STEP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83288" y="3993661"/>
            <a:ext cx="1162542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cadre d’application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6600" dirty="0" err="1">
                <a:solidFill>
                  <a:schemeClr val="bg1"/>
                </a:solidFill>
                <a:latin typeface="Poppins" panose="00000500000000000000" pitchFamily="2" charset="0"/>
              </a:rPr>
              <a:t>copywriting</a:t>
            </a: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 &amp; </a:t>
            </a:r>
            <a:r>
              <a:rPr lang="fr-FR" sz="6600" dirty="0" err="1">
                <a:solidFill>
                  <a:schemeClr val="bg1"/>
                </a:solidFill>
                <a:latin typeface="Poppins" panose="00000500000000000000" pitchFamily="2" charset="0"/>
              </a:rPr>
              <a:t>seo</a:t>
            </a: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performance</a:t>
            </a:r>
            <a:endParaRPr lang="fr-FR" sz="66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EEB3360-C8BE-4C8A-9532-72FAF102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883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594</Words>
  <Application>Microsoft Office PowerPoint</Application>
  <PresentationFormat>Grand écran</PresentationFormat>
  <Paragraphs>160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8" baseType="lpstr">
      <vt:lpstr>Arial</vt:lpstr>
      <vt:lpstr>Bebas Neue</vt:lpstr>
      <vt:lpstr>Calibri</vt:lpstr>
      <vt:lpstr>Calibri Light</vt:lpstr>
      <vt:lpstr>Poppins</vt:lpstr>
      <vt:lpstr>Silka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Lading page</dc:title>
  <dc:creator>Fayçal Sellam</dc:creator>
  <cp:lastModifiedBy>Adel Akouche</cp:lastModifiedBy>
  <cp:revision>11</cp:revision>
  <dcterms:created xsi:type="dcterms:W3CDTF">2021-11-16T19:28:52Z</dcterms:created>
  <dcterms:modified xsi:type="dcterms:W3CDTF">2023-12-21T08:41:25Z</dcterms:modified>
</cp:coreProperties>
</file>