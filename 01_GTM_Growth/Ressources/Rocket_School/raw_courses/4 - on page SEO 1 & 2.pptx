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303" r:id="rId3"/>
    <p:sldId id="304" r:id="rId4"/>
    <p:sldId id="305" r:id="rId5"/>
    <p:sldId id="307" r:id="rId6"/>
    <p:sldId id="306" r:id="rId7"/>
    <p:sldId id="308" r:id="rId8"/>
    <p:sldId id="309" r:id="rId9"/>
    <p:sldId id="298" r:id="rId10"/>
    <p:sldId id="264" r:id="rId11"/>
    <p:sldId id="265" r:id="rId12"/>
    <p:sldId id="310" r:id="rId13"/>
    <p:sldId id="311" r:id="rId14"/>
    <p:sldId id="312" r:id="rId15"/>
    <p:sldId id="313" r:id="rId16"/>
    <p:sldId id="315" r:id="rId17"/>
    <p:sldId id="316" r:id="rId18"/>
    <p:sldId id="318" r:id="rId19"/>
    <p:sldId id="317" r:id="rId20"/>
    <p:sldId id="320" r:id="rId21"/>
    <p:sldId id="321" r:id="rId22"/>
    <p:sldId id="335" r:id="rId23"/>
    <p:sldId id="319" r:id="rId24"/>
    <p:sldId id="323" r:id="rId25"/>
    <p:sldId id="334" r:id="rId26"/>
    <p:sldId id="322" r:id="rId27"/>
    <p:sldId id="325" r:id="rId28"/>
    <p:sldId id="326" r:id="rId29"/>
    <p:sldId id="327" r:id="rId30"/>
    <p:sldId id="328" r:id="rId31"/>
    <p:sldId id="330" r:id="rId32"/>
    <p:sldId id="329" r:id="rId33"/>
    <p:sldId id="331" r:id="rId34"/>
    <p:sldId id="333" r:id="rId35"/>
    <p:sldId id="276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00619E"/>
    <a:srgbClr val="1871A9"/>
    <a:srgbClr val="BEC2E8"/>
    <a:srgbClr val="1F4E7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4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01/12/2023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01/12/2023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01/12/2023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01/12/2023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01/12/2023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01/12/2023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01/12/2023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01/12/2023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01/12/2023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01/12/2023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01/12/2023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01/12/2023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otheweb.com/learning_center/tool-test-google-title-meta-description-lengths/" TargetMode="External"/><Relationship Id="rId2" Type="http://schemas.openxmlformats.org/officeDocument/2006/relationships/hyperlink" Target="http://www.chaussettes-paradise.com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sigraph.com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ds.google.com/aw/keywordplanner/home?ocid=716600119&amp;euid=528300426&amp;__u=6568991674&amp;uscid=716600119&amp;__c=9307796031&amp;authuser=0&amp;sourceid%3Dawo&amp;subid=fr-fr-et-g-aw-a-tools-kwp-awhp_xin1%21o2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sdfsdf" TargetMode="External"/><Relationship Id="rId2" Type="http://schemas.openxmlformats.org/officeDocument/2006/relationships/hyperlink" Target="sdfsd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sjd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introduction au SEO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44967" y="4391209"/>
            <a:ext cx="685125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4 : </a:t>
            </a:r>
          </a:p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PAGE SEO</a:t>
            </a: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rappel time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</a:t>
            </a:fld>
            <a:endParaRPr lang="fr-FR"/>
          </a:p>
        </p:txBody>
      </p:sp>
      <p:pic>
        <p:nvPicPr>
          <p:cNvPr id="16388" name="Picture 4" descr="Off-Page SEO: What It Is &amp; Why You Need It [+a Helpful Checklist]">
            <a:extLst>
              <a:ext uri="{FF2B5EF4-FFF2-40B4-BE49-F238E27FC236}">
                <a16:creationId xmlns:a16="http://schemas.microsoft.com/office/drawing/2014/main" id="{8C0A6E53-5D54-6DCE-A88E-7D5F5EC25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2024138"/>
            <a:ext cx="7258050" cy="483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15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879764" y="1624045"/>
            <a:ext cx="1043247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maillage interne 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3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363683" y="4176667"/>
            <a:ext cx="44819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SITE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46C7761-3D52-4F03-8B2D-BBD2488D90BD}"/>
              </a:ext>
            </a:extLst>
          </p:cNvPr>
          <p:cNvSpPr txBox="1">
            <a:spLocks/>
          </p:cNvSpPr>
          <p:nvPr/>
        </p:nvSpPr>
        <p:spPr>
          <a:xfrm>
            <a:off x="6958445" y="4176667"/>
            <a:ext cx="52578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site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6E8C97-B113-11FE-0B5A-0096C84AB05E}"/>
              </a:ext>
            </a:extLst>
          </p:cNvPr>
          <p:cNvSpPr txBox="1">
            <a:spLocks/>
          </p:cNvSpPr>
          <p:nvPr/>
        </p:nvSpPr>
        <p:spPr>
          <a:xfrm>
            <a:off x="5261264" y="4390934"/>
            <a:ext cx="12815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ou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308384-CE62-22BB-6307-D5A390F09F2B}"/>
              </a:ext>
            </a:extLst>
          </p:cNvPr>
          <p:cNvCxnSpPr>
            <a:cxnSpLocks/>
          </p:cNvCxnSpPr>
          <p:nvPr/>
        </p:nvCxnSpPr>
        <p:spPr>
          <a:xfrm flipH="1">
            <a:off x="540327" y="5448222"/>
            <a:ext cx="392083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39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157845" y="1631451"/>
            <a:ext cx="748838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BACKLINKING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4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7138555" y="4390934"/>
            <a:ext cx="44819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SITE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6E8C97-B113-11FE-0B5A-0096C84AB05E}"/>
              </a:ext>
            </a:extLst>
          </p:cNvPr>
          <p:cNvSpPr txBox="1">
            <a:spLocks/>
          </p:cNvSpPr>
          <p:nvPr/>
        </p:nvSpPr>
        <p:spPr>
          <a:xfrm>
            <a:off x="5261264" y="4390934"/>
            <a:ext cx="12815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ou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4E0A72D2-7C86-349E-F5F4-E246BD9BDE1F}"/>
              </a:ext>
            </a:extLst>
          </p:cNvPr>
          <p:cNvSpPr txBox="1">
            <a:spLocks/>
          </p:cNvSpPr>
          <p:nvPr/>
        </p:nvSpPr>
        <p:spPr>
          <a:xfrm>
            <a:off x="571501" y="4390934"/>
            <a:ext cx="52578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site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21F59AB-CD89-FF1E-0F40-3DF9D40F2BC1}"/>
              </a:ext>
            </a:extLst>
          </p:cNvPr>
          <p:cNvCxnSpPr>
            <a:cxnSpLocks/>
          </p:cNvCxnSpPr>
          <p:nvPr/>
        </p:nvCxnSpPr>
        <p:spPr>
          <a:xfrm flipH="1">
            <a:off x="734292" y="5662489"/>
            <a:ext cx="446116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87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1143000" y="1506437"/>
            <a:ext cx="99060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optimisation de la vitesse de chargement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5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46C7761-3D52-4F03-8B2D-BBD2488D90BD}"/>
              </a:ext>
            </a:extLst>
          </p:cNvPr>
          <p:cNvSpPr txBox="1">
            <a:spLocks/>
          </p:cNvSpPr>
          <p:nvPr/>
        </p:nvSpPr>
        <p:spPr>
          <a:xfrm>
            <a:off x="335972" y="4294275"/>
            <a:ext cx="52578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site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6E8C97-B113-11FE-0B5A-0096C84AB05E}"/>
              </a:ext>
            </a:extLst>
          </p:cNvPr>
          <p:cNvSpPr txBox="1">
            <a:spLocks/>
          </p:cNvSpPr>
          <p:nvPr/>
        </p:nvSpPr>
        <p:spPr>
          <a:xfrm>
            <a:off x="5261264" y="4390934"/>
            <a:ext cx="12815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ou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D284A74-AF54-9CC5-A566-F1A98B481D12}"/>
              </a:ext>
            </a:extLst>
          </p:cNvPr>
          <p:cNvSpPr txBox="1">
            <a:spLocks/>
          </p:cNvSpPr>
          <p:nvPr/>
        </p:nvSpPr>
        <p:spPr>
          <a:xfrm>
            <a:off x="7221684" y="4294275"/>
            <a:ext cx="44819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SITE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F553C0E-684E-4B9B-1234-FD1CC1D3E858}"/>
              </a:ext>
            </a:extLst>
          </p:cNvPr>
          <p:cNvCxnSpPr>
            <a:cxnSpLocks/>
          </p:cNvCxnSpPr>
          <p:nvPr/>
        </p:nvCxnSpPr>
        <p:spPr>
          <a:xfrm flipH="1">
            <a:off x="7349837" y="5513797"/>
            <a:ext cx="392083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28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1589808" y="1624045"/>
            <a:ext cx="99060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optimisation d’image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6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363683" y="4176667"/>
            <a:ext cx="44819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SITE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46C7761-3D52-4F03-8B2D-BBD2488D90BD}"/>
              </a:ext>
            </a:extLst>
          </p:cNvPr>
          <p:cNvSpPr txBox="1">
            <a:spLocks/>
          </p:cNvSpPr>
          <p:nvPr/>
        </p:nvSpPr>
        <p:spPr>
          <a:xfrm>
            <a:off x="6958445" y="4176667"/>
            <a:ext cx="52578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site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6E8C97-B113-11FE-0B5A-0096C84AB05E}"/>
              </a:ext>
            </a:extLst>
          </p:cNvPr>
          <p:cNvSpPr txBox="1">
            <a:spLocks/>
          </p:cNvSpPr>
          <p:nvPr/>
        </p:nvSpPr>
        <p:spPr>
          <a:xfrm>
            <a:off x="5261264" y="4390934"/>
            <a:ext cx="12815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ou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308384-CE62-22BB-6307-D5A390F09F2B}"/>
              </a:ext>
            </a:extLst>
          </p:cNvPr>
          <p:cNvCxnSpPr>
            <a:cxnSpLocks/>
          </p:cNvCxnSpPr>
          <p:nvPr/>
        </p:nvCxnSpPr>
        <p:spPr>
          <a:xfrm flipH="1">
            <a:off x="491836" y="5396189"/>
            <a:ext cx="392083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6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1143000" y="1506437"/>
            <a:ext cx="99060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établir une fiche établissement 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7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363683" y="4176667"/>
            <a:ext cx="44819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SITE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46C7761-3D52-4F03-8B2D-BBD2488D90BD}"/>
              </a:ext>
            </a:extLst>
          </p:cNvPr>
          <p:cNvSpPr txBox="1">
            <a:spLocks/>
          </p:cNvSpPr>
          <p:nvPr/>
        </p:nvSpPr>
        <p:spPr>
          <a:xfrm>
            <a:off x="6958445" y="4176667"/>
            <a:ext cx="52578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site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6E8C97-B113-11FE-0B5A-0096C84AB05E}"/>
              </a:ext>
            </a:extLst>
          </p:cNvPr>
          <p:cNvSpPr txBox="1">
            <a:spLocks/>
          </p:cNvSpPr>
          <p:nvPr/>
        </p:nvSpPr>
        <p:spPr>
          <a:xfrm>
            <a:off x="5261264" y="4390934"/>
            <a:ext cx="12815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ou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308384-CE62-22BB-6307-D5A390F09F2B}"/>
              </a:ext>
            </a:extLst>
          </p:cNvPr>
          <p:cNvCxnSpPr>
            <a:cxnSpLocks/>
          </p:cNvCxnSpPr>
          <p:nvPr/>
        </p:nvCxnSpPr>
        <p:spPr>
          <a:xfrm flipH="1">
            <a:off x="363683" y="5451608"/>
            <a:ext cx="437111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23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1143000" y="1506437"/>
            <a:ext cx="99060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établir une fiche établissement 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8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363683" y="4176667"/>
            <a:ext cx="44819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SITE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46C7761-3D52-4F03-8B2D-BBD2488D90BD}"/>
              </a:ext>
            </a:extLst>
          </p:cNvPr>
          <p:cNvSpPr txBox="1">
            <a:spLocks/>
          </p:cNvSpPr>
          <p:nvPr/>
        </p:nvSpPr>
        <p:spPr>
          <a:xfrm>
            <a:off x="6958445" y="4176667"/>
            <a:ext cx="525780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site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6E8C97-B113-11FE-0B5A-0096C84AB05E}"/>
              </a:ext>
            </a:extLst>
          </p:cNvPr>
          <p:cNvSpPr txBox="1">
            <a:spLocks/>
          </p:cNvSpPr>
          <p:nvPr/>
        </p:nvSpPr>
        <p:spPr>
          <a:xfrm>
            <a:off x="5261264" y="4390934"/>
            <a:ext cx="128154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ou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308384-CE62-22BB-6307-D5A390F09F2B}"/>
              </a:ext>
            </a:extLst>
          </p:cNvPr>
          <p:cNvCxnSpPr>
            <a:cxnSpLocks/>
          </p:cNvCxnSpPr>
          <p:nvPr/>
        </p:nvCxnSpPr>
        <p:spPr>
          <a:xfrm flipH="1">
            <a:off x="7180120" y="5448222"/>
            <a:ext cx="437111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157ECB7-4B39-9EDB-A74A-93CA35C960AA}"/>
              </a:ext>
            </a:extLst>
          </p:cNvPr>
          <p:cNvCxnSpPr/>
          <p:nvPr/>
        </p:nvCxnSpPr>
        <p:spPr>
          <a:xfrm>
            <a:off x="498764" y="3429000"/>
            <a:ext cx="3851563" cy="29273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96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piliers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1. on</a:t>
            </a:r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 page SEO</a:t>
            </a:r>
            <a:endParaRPr lang="fr-FR" sz="6600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9</a:t>
            </a:fld>
            <a:endParaRPr lang="fr-FR"/>
          </a:p>
        </p:txBody>
      </p:sp>
      <p:pic>
        <p:nvPicPr>
          <p:cNvPr id="4098" name="Picture 2" descr="SEO on-page: optimiser ses pages web pour une meilleure visibilité">
            <a:extLst>
              <a:ext uri="{FF2B5EF4-FFF2-40B4-BE49-F238E27FC236}">
                <a16:creationId xmlns:a16="http://schemas.microsoft.com/office/drawing/2014/main" id="{7087F2B5-E477-EE1D-1918-4353EDB63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777239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Your Guide to Optimize On-Page SEO">
            <a:extLst>
              <a:ext uri="{FF2B5EF4-FFF2-40B4-BE49-F238E27FC236}">
                <a16:creationId xmlns:a16="http://schemas.microsoft.com/office/drawing/2014/main" id="{0F28D51C-27B2-2146-20B7-8A5EFFB88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5369"/>
            <a:ext cx="5334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F62A5A7-16D4-55A8-364D-B64386B5F7CE}"/>
              </a:ext>
            </a:extLst>
          </p:cNvPr>
          <p:cNvSpPr txBox="1">
            <a:spLocks/>
          </p:cNvSpPr>
          <p:nvPr/>
        </p:nvSpPr>
        <p:spPr>
          <a:xfrm>
            <a:off x="8715375" y="5456254"/>
            <a:ext cx="3295502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actions réalisées sur le site.</a:t>
            </a:r>
          </a:p>
          <a:p>
            <a:pPr algn="r"/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algn="r"/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algn="r"/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algn="r"/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algn="r"/>
            <a:r>
              <a:rPr lang="fr-FR" sz="1600" i="1" dirty="0">
                <a:solidFill>
                  <a:srgbClr val="303030"/>
                </a:solidFill>
                <a:latin typeface="Poppins" panose="00000500000000000000" pitchFamily="2" charset="0"/>
              </a:rPr>
              <a:t>maillage interne, optimisation, création de contenu,  balisage, etc.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867312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20533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602511" y="3817324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l’URL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-titre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signaux utilisateurs (user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signals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balises titres (H1, H2, H3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optimisation des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LSI – indexation sémantique latente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maillage interne (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internal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linking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75609" y="476983"/>
            <a:ext cx="720533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 page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- </a:t>
            </a:r>
          </a:p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optimiser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510509" y="5872189"/>
            <a:ext cx="6870430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  <a:latin typeface="Poppins" panose="00000500000000000000" pitchFamily="2" charset="0"/>
              </a:rPr>
              <a:t>ce sont des options faciles à mettre en place qui vous permettront d’assurer le minimum nécessaire en terme de </a:t>
            </a:r>
          </a:p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  <a:latin typeface="Poppins" panose="00000500000000000000" pitchFamily="2" charset="0"/>
              </a:rPr>
              <a:t>on-page SEO. </a:t>
            </a:r>
            <a:endParaRPr lang="fr-FR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026" name="Picture 2" descr="35 Best SEO Memes on the Internet (Hilarious)">
            <a:extLst>
              <a:ext uri="{FF2B5EF4-FFF2-40B4-BE49-F238E27FC236}">
                <a16:creationId xmlns:a16="http://schemas.microsoft.com/office/drawing/2014/main" id="{22910163-5195-822A-0E75-473E30804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330" y="2155028"/>
            <a:ext cx="4995973" cy="332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130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8626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L’url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87DA3E-1957-A9A1-D3A0-9CCE042A097A}"/>
              </a:ext>
            </a:extLst>
          </p:cNvPr>
          <p:cNvSpPr txBox="1">
            <a:spLocks/>
          </p:cNvSpPr>
          <p:nvPr/>
        </p:nvSpPr>
        <p:spPr>
          <a:xfrm>
            <a:off x="304307" y="1509368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idéalement, votre mot-clé principal doit figurer dans vos URL.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A5B90FF-1CC6-F0E3-F8BF-E432C000E237}"/>
              </a:ext>
            </a:extLst>
          </p:cNvPr>
          <p:cNvSpPr txBox="1">
            <a:spLocks/>
          </p:cNvSpPr>
          <p:nvPr/>
        </p:nvSpPr>
        <p:spPr>
          <a:xfrm>
            <a:off x="304307" y="2766335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3DDC407-71F3-BCE8-4FF9-4D0C7A2EFB18}"/>
              </a:ext>
            </a:extLst>
          </p:cNvPr>
          <p:cNvSpPr txBox="1">
            <a:spLocks/>
          </p:cNvSpPr>
          <p:nvPr/>
        </p:nvSpPr>
        <p:spPr>
          <a:xfrm>
            <a:off x="304306" y="3501693"/>
            <a:ext cx="726027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https://truc.com/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categorie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/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souscategorie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/mot-clé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34B0947-9E8B-DE1F-F1F0-1743C8192138}"/>
              </a:ext>
            </a:extLst>
          </p:cNvPr>
          <p:cNvSpPr txBox="1">
            <a:spLocks/>
          </p:cNvSpPr>
          <p:nvPr/>
        </p:nvSpPr>
        <p:spPr>
          <a:xfrm>
            <a:off x="304306" y="4500890"/>
            <a:ext cx="726027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https://truc.com/716Husna2kd7idgzq1écestnulqs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AB719360-BD2C-AEF8-29AB-3E6A47E3A8F3}"/>
              </a:ext>
            </a:extLst>
          </p:cNvPr>
          <p:cNvCxnSpPr>
            <a:cxnSpLocks/>
          </p:cNvCxnSpPr>
          <p:nvPr/>
        </p:nvCxnSpPr>
        <p:spPr>
          <a:xfrm flipH="1">
            <a:off x="7259782" y="1781260"/>
            <a:ext cx="1354478" cy="19179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C3CECE9-DDDC-C9BF-060A-5F398F7D0727}"/>
              </a:ext>
            </a:extLst>
          </p:cNvPr>
          <p:cNvCxnSpPr>
            <a:cxnSpLocks/>
          </p:cNvCxnSpPr>
          <p:nvPr/>
        </p:nvCxnSpPr>
        <p:spPr>
          <a:xfrm flipH="1">
            <a:off x="7006754" y="3024154"/>
            <a:ext cx="1607506" cy="21804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re 1">
            <a:extLst>
              <a:ext uri="{FF2B5EF4-FFF2-40B4-BE49-F238E27FC236}">
                <a16:creationId xmlns:a16="http://schemas.microsoft.com/office/drawing/2014/main" id="{F2DA90B4-0319-91A7-4DC2-299FB7BA7B11}"/>
              </a:ext>
            </a:extLst>
          </p:cNvPr>
          <p:cNvSpPr txBox="1">
            <a:spLocks/>
          </p:cNvSpPr>
          <p:nvPr/>
        </p:nvSpPr>
        <p:spPr>
          <a:xfrm>
            <a:off x="7754447" y="670750"/>
            <a:ext cx="257354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 lien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50BF00C0-2D90-74B6-88A6-92B1DE0C8D0B}"/>
              </a:ext>
            </a:extLst>
          </p:cNvPr>
          <p:cNvSpPr txBox="1">
            <a:spLocks/>
          </p:cNvSpPr>
          <p:nvPr/>
        </p:nvSpPr>
        <p:spPr>
          <a:xfrm>
            <a:off x="8867288" y="2343585"/>
            <a:ext cx="392802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PAS bon lien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5C77EA9F-3BA5-D66D-2128-49B01B0616AF}"/>
              </a:ext>
            </a:extLst>
          </p:cNvPr>
          <p:cNvSpPr txBox="1">
            <a:spLocks/>
          </p:cNvSpPr>
          <p:nvPr/>
        </p:nvSpPr>
        <p:spPr>
          <a:xfrm>
            <a:off x="304307" y="5577740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l’important est d’avoir un URL bien organisé et qui contient votre mot-clé.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0C17AD5-6D3C-0016-FE2A-CD71B6E7E77A}"/>
              </a:ext>
            </a:extLst>
          </p:cNvPr>
          <p:cNvSpPr txBox="1">
            <a:spLocks/>
          </p:cNvSpPr>
          <p:nvPr/>
        </p:nvSpPr>
        <p:spPr>
          <a:xfrm>
            <a:off x="8334045" y="5941128"/>
            <a:ext cx="4162262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faites des URL d’environ 60 mots et évitez le keyword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stuffing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. Une mention suffit. </a:t>
            </a:r>
          </a:p>
        </p:txBody>
      </p:sp>
    </p:spTree>
    <p:extLst>
      <p:ext uri="{BB962C8B-B14F-4D97-AF65-F5344CB8AC3E}">
        <p14:creationId xmlns:p14="http://schemas.microsoft.com/office/powerpoint/2010/main" val="7018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1086" y="-115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-TITLE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87DA3E-1957-A9A1-D3A0-9CCE042A097A}"/>
              </a:ext>
            </a:extLst>
          </p:cNvPr>
          <p:cNvSpPr txBox="1">
            <a:spLocks/>
          </p:cNvSpPr>
          <p:nvPr/>
        </p:nvSpPr>
        <p:spPr>
          <a:xfrm>
            <a:off x="282841" y="2261099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meta-title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est le titre de la page qui apparaît dans la SERP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votre mot-clé doit nécessairement figurer dans votre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meta-title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afin que Google puisse l’identifier au moment de crawler votre page.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A5B90FF-1CC6-F0E3-F8BF-E432C000E237}"/>
              </a:ext>
            </a:extLst>
          </p:cNvPr>
          <p:cNvSpPr txBox="1">
            <a:spLocks/>
          </p:cNvSpPr>
          <p:nvPr/>
        </p:nvSpPr>
        <p:spPr>
          <a:xfrm>
            <a:off x="240011" y="3158023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3DDC407-71F3-BCE8-4FF9-4D0C7A2EFB18}"/>
              </a:ext>
            </a:extLst>
          </p:cNvPr>
          <p:cNvSpPr txBox="1">
            <a:spLocks/>
          </p:cNvSpPr>
          <p:nvPr/>
        </p:nvSpPr>
        <p:spPr>
          <a:xfrm>
            <a:off x="295466" y="4174351"/>
            <a:ext cx="7260275" cy="38623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 Chaussettes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Goldorak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rouge – Chaussettes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Paradise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34B0947-9E8B-DE1F-F1F0-1743C8192138}"/>
              </a:ext>
            </a:extLst>
          </p:cNvPr>
          <p:cNvSpPr txBox="1">
            <a:spLocks/>
          </p:cNvSpPr>
          <p:nvPr/>
        </p:nvSpPr>
        <p:spPr>
          <a:xfrm>
            <a:off x="295467" y="4907985"/>
            <a:ext cx="726027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 Les meilleures chaussettes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Goldorak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livrées chez vous 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AB719360-BD2C-AEF8-29AB-3E6A47E3A8F3}"/>
              </a:ext>
            </a:extLst>
          </p:cNvPr>
          <p:cNvCxnSpPr>
            <a:cxnSpLocks/>
          </p:cNvCxnSpPr>
          <p:nvPr/>
        </p:nvCxnSpPr>
        <p:spPr>
          <a:xfrm flipH="1">
            <a:off x="7228346" y="2365481"/>
            <a:ext cx="1354478" cy="19179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C3CECE9-DDDC-C9BF-060A-5F398F7D0727}"/>
              </a:ext>
            </a:extLst>
          </p:cNvPr>
          <p:cNvCxnSpPr>
            <a:cxnSpLocks/>
          </p:cNvCxnSpPr>
          <p:nvPr/>
        </p:nvCxnSpPr>
        <p:spPr>
          <a:xfrm flipH="1">
            <a:off x="7351911" y="3103103"/>
            <a:ext cx="1607506" cy="2180471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re 1">
            <a:extLst>
              <a:ext uri="{FF2B5EF4-FFF2-40B4-BE49-F238E27FC236}">
                <a16:creationId xmlns:a16="http://schemas.microsoft.com/office/drawing/2014/main" id="{F2DA90B4-0319-91A7-4DC2-299FB7BA7B11}"/>
              </a:ext>
            </a:extLst>
          </p:cNvPr>
          <p:cNvSpPr txBox="1">
            <a:spLocks/>
          </p:cNvSpPr>
          <p:nvPr/>
        </p:nvSpPr>
        <p:spPr>
          <a:xfrm>
            <a:off x="7346860" y="1309345"/>
            <a:ext cx="454083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GOOD META-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title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08C0253-040D-AB84-36EB-1857D478ABFC}"/>
              </a:ext>
            </a:extLst>
          </p:cNvPr>
          <p:cNvSpPr txBox="1">
            <a:spLocks/>
          </p:cNvSpPr>
          <p:nvPr/>
        </p:nvSpPr>
        <p:spPr>
          <a:xfrm>
            <a:off x="295467" y="5888364"/>
            <a:ext cx="726027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 Commander des chaussettes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Goldorak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maintenant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BA0F1DB-6DF9-01F2-4206-8CE9270FFD5B}"/>
              </a:ext>
            </a:extLst>
          </p:cNvPr>
          <p:cNvSpPr txBox="1">
            <a:spLocks/>
          </p:cNvSpPr>
          <p:nvPr/>
        </p:nvSpPr>
        <p:spPr>
          <a:xfrm>
            <a:off x="8035883" y="2607717"/>
            <a:ext cx="454083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GOOD META-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title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77D692A-FE4A-F2AB-3CF3-C5D9202C6C43}"/>
              </a:ext>
            </a:extLst>
          </p:cNvPr>
          <p:cNvCxnSpPr>
            <a:cxnSpLocks/>
          </p:cNvCxnSpPr>
          <p:nvPr/>
        </p:nvCxnSpPr>
        <p:spPr>
          <a:xfrm flipH="1">
            <a:off x="7229097" y="4351350"/>
            <a:ext cx="1607506" cy="2180471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re 1">
            <a:extLst>
              <a:ext uri="{FF2B5EF4-FFF2-40B4-BE49-F238E27FC236}">
                <a16:creationId xmlns:a16="http://schemas.microsoft.com/office/drawing/2014/main" id="{F3063887-AF52-FE74-6C21-ECFEC487195E}"/>
              </a:ext>
            </a:extLst>
          </p:cNvPr>
          <p:cNvSpPr txBox="1">
            <a:spLocks/>
          </p:cNvSpPr>
          <p:nvPr/>
        </p:nvSpPr>
        <p:spPr>
          <a:xfrm>
            <a:off x="7512682" y="4788967"/>
            <a:ext cx="454083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GOOD META-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title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TOO </a:t>
            </a: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27162474-B56A-5234-8044-0F5BE90CCA70}"/>
              </a:ext>
            </a:extLst>
          </p:cNvPr>
          <p:cNvSpPr txBox="1">
            <a:spLocks/>
          </p:cNvSpPr>
          <p:nvPr/>
        </p:nvSpPr>
        <p:spPr>
          <a:xfrm>
            <a:off x="3239545" y="3407455"/>
            <a:ext cx="454083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>
                <a:solidFill>
                  <a:schemeClr val="accent2">
                    <a:lumMod val="75000"/>
                  </a:schemeClr>
                </a:solidFill>
                <a:latin typeface="Bebas Neue" panose="020B0606020202050201" pitchFamily="34" charset="0"/>
              </a:rPr>
              <a:t>notoriété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650A54E0-EEFA-2105-1BA3-717309FE0413}"/>
              </a:ext>
            </a:extLst>
          </p:cNvPr>
          <p:cNvSpPr txBox="1">
            <a:spLocks/>
          </p:cNvSpPr>
          <p:nvPr/>
        </p:nvSpPr>
        <p:spPr>
          <a:xfrm>
            <a:off x="3239545" y="4530099"/>
            <a:ext cx="454083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>
                <a:solidFill>
                  <a:schemeClr val="accent2">
                    <a:lumMod val="75000"/>
                  </a:schemeClr>
                </a:solidFill>
                <a:latin typeface="Bebas Neue" panose="020B0606020202050201" pitchFamily="34" charset="0"/>
              </a:rPr>
              <a:t>AVANTAGE CONCURRENTIEL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66F791D0-B787-32CA-71C5-1A08D81B3548}"/>
              </a:ext>
            </a:extLst>
          </p:cNvPr>
          <p:cNvSpPr txBox="1">
            <a:spLocks/>
          </p:cNvSpPr>
          <p:nvPr/>
        </p:nvSpPr>
        <p:spPr>
          <a:xfrm>
            <a:off x="3070308" y="5531347"/>
            <a:ext cx="454083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>
                <a:solidFill>
                  <a:schemeClr val="accent2">
                    <a:lumMod val="75000"/>
                  </a:schemeClr>
                </a:solidFill>
                <a:latin typeface="Bebas Neue" panose="020B0606020202050201" pitchFamily="34" charset="0"/>
              </a:rPr>
              <a:t>call to action – incitation</a:t>
            </a: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F8526086-4E8D-5B17-8A12-AFCDBE4DBA99}"/>
              </a:ext>
            </a:extLst>
          </p:cNvPr>
          <p:cNvSpPr txBox="1">
            <a:spLocks/>
          </p:cNvSpPr>
          <p:nvPr/>
        </p:nvSpPr>
        <p:spPr>
          <a:xfrm>
            <a:off x="1183641" y="3530658"/>
            <a:ext cx="1069653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0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bref </a:t>
            </a:r>
          </a:p>
        </p:txBody>
      </p:sp>
    </p:spTree>
    <p:extLst>
      <p:ext uri="{BB962C8B-B14F-4D97-AF65-F5344CB8AC3E}">
        <p14:creationId xmlns:p14="http://schemas.microsoft.com/office/powerpoint/2010/main" val="363450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20" grpId="0"/>
      <p:bldP spid="21" grpId="0"/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-TITLE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87DA3E-1957-A9A1-D3A0-9CCE042A097A}"/>
              </a:ext>
            </a:extLst>
          </p:cNvPr>
          <p:cNvSpPr txBox="1">
            <a:spLocks/>
          </p:cNvSpPr>
          <p:nvPr/>
        </p:nvSpPr>
        <p:spPr>
          <a:xfrm>
            <a:off x="304307" y="1330406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voici ce que seraient de mauvais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meta-titles</a:t>
            </a:r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6EB0EAA-7544-8DE4-7F2D-F20084D67C1F}"/>
              </a:ext>
            </a:extLst>
          </p:cNvPr>
          <p:cNvSpPr txBox="1">
            <a:spLocks/>
          </p:cNvSpPr>
          <p:nvPr/>
        </p:nvSpPr>
        <p:spPr>
          <a:xfrm>
            <a:off x="304308" y="1986209"/>
            <a:ext cx="979565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 Chaussettes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Goldorak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Rouge Homme disponible dans notre maga…</a:t>
            </a: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9AA943EA-2961-11F4-F4ED-AEE6F8291908}"/>
              </a:ext>
            </a:extLst>
          </p:cNvPr>
          <p:cNvSpPr txBox="1">
            <a:spLocks/>
          </p:cNvSpPr>
          <p:nvPr/>
        </p:nvSpPr>
        <p:spPr>
          <a:xfrm>
            <a:off x="304307" y="2814851"/>
            <a:ext cx="979565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  <a:hlinkClick r:id="rId2"/>
              </a:rPr>
              <a:t>www.chaussettes-paradise.com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– accueil 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24069E4F-AB32-D008-37A5-CEA0755F8B4E}"/>
              </a:ext>
            </a:extLst>
          </p:cNvPr>
          <p:cNvSpPr txBox="1">
            <a:spLocks/>
          </p:cNvSpPr>
          <p:nvPr/>
        </p:nvSpPr>
        <p:spPr>
          <a:xfrm>
            <a:off x="304306" y="3658894"/>
            <a:ext cx="979565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 La référence de vente de chaussettes stylées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733818C-0110-DD63-F4CA-D6CBA7D67D74}"/>
              </a:ext>
            </a:extLst>
          </p:cNvPr>
          <p:cNvSpPr txBox="1"/>
          <p:nvPr/>
        </p:nvSpPr>
        <p:spPr>
          <a:xfrm>
            <a:off x="5749636" y="6379982"/>
            <a:ext cx="8700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Poppins" panose="00000500000000000000" pitchFamily="2" charset="0"/>
                <a:cs typeface="Poppins" panose="00000500000000000000" pitchFamily="2" charset="0"/>
              </a:rPr>
              <a:t>Faites vos </a:t>
            </a:r>
            <a:r>
              <a:rPr lang="fr-FR" sz="1400" dirty="0" err="1">
                <a:latin typeface="Poppins" panose="00000500000000000000" pitchFamily="2" charset="0"/>
                <a:cs typeface="Poppins" panose="00000500000000000000" pitchFamily="2" charset="0"/>
              </a:rPr>
              <a:t>meta</a:t>
            </a:r>
            <a:r>
              <a:rPr lang="fr-FR" sz="1400" dirty="0">
                <a:latin typeface="Poppins" panose="00000500000000000000" pitchFamily="2" charset="0"/>
                <a:cs typeface="Poppins" panose="00000500000000000000" pitchFamily="2" charset="0"/>
              </a:rPr>
              <a:t>-descriptions et vos </a:t>
            </a:r>
            <a:r>
              <a:rPr lang="fr-FR" sz="1400" dirty="0" err="1">
                <a:latin typeface="Poppins" panose="00000500000000000000" pitchFamily="2" charset="0"/>
                <a:cs typeface="Poppins" panose="00000500000000000000" pitchFamily="2" charset="0"/>
              </a:rPr>
              <a:t>meta-titles</a:t>
            </a:r>
            <a:r>
              <a:rPr lang="fr-FR" sz="1400" dirty="0">
                <a:latin typeface="Poppins" panose="00000500000000000000" pitchFamily="2" charset="0"/>
                <a:cs typeface="Poppins" panose="00000500000000000000" pitchFamily="2" charset="0"/>
              </a:rPr>
              <a:t> sur </a:t>
            </a:r>
            <a:r>
              <a:rPr lang="fr-FR" sz="14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le  site </a:t>
            </a:r>
            <a:r>
              <a:rPr lang="fr-FR" sz="1400" dirty="0" err="1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ToTheWeb</a:t>
            </a:r>
            <a:endParaRPr lang="fr-FR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669A1211-A08B-8C51-2C21-15037E33271A}"/>
              </a:ext>
            </a:extLst>
          </p:cNvPr>
          <p:cNvSpPr txBox="1">
            <a:spLocks/>
          </p:cNvSpPr>
          <p:nvPr/>
        </p:nvSpPr>
        <p:spPr>
          <a:xfrm>
            <a:off x="449274" y="5024910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AU-DELA De montrer a google le thème de votre page vous devez avant tout inciter les gens à cliquer.</a:t>
            </a:r>
          </a:p>
        </p:txBody>
      </p:sp>
    </p:spTree>
    <p:extLst>
      <p:ext uri="{BB962C8B-B14F-4D97-AF65-F5344CB8AC3E}">
        <p14:creationId xmlns:p14="http://schemas.microsoft.com/office/powerpoint/2010/main" val="187849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-87122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LA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-DESCRIPTION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1B6F22D-D1CD-3EC9-3BC2-B38F99E22F07}"/>
              </a:ext>
            </a:extLst>
          </p:cNvPr>
          <p:cNvSpPr txBox="1">
            <a:spLocks/>
          </p:cNvSpPr>
          <p:nvPr/>
        </p:nvSpPr>
        <p:spPr>
          <a:xfrm>
            <a:off x="304306" y="2591598"/>
            <a:ext cx="690005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-description est le texte en description qui apparaît dans la SERP en dessous du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meta-title</a:t>
            </a: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votre mot-clé doit nécessairement figurer dans votre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-description afin que Google puisse l’identifier au moment de crawler votre page, encore une fois. 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B6BBE60-E5F3-6F25-4FBC-330B97B8DE1E}"/>
              </a:ext>
            </a:extLst>
          </p:cNvPr>
          <p:cNvSpPr txBox="1">
            <a:spLocks/>
          </p:cNvSpPr>
          <p:nvPr/>
        </p:nvSpPr>
        <p:spPr>
          <a:xfrm>
            <a:off x="304307" y="3375200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0D9083F-55A0-B245-9B43-FC361C22BBC0}"/>
              </a:ext>
            </a:extLst>
          </p:cNvPr>
          <p:cNvSpPr txBox="1">
            <a:spLocks/>
          </p:cNvSpPr>
          <p:nvPr/>
        </p:nvSpPr>
        <p:spPr>
          <a:xfrm>
            <a:off x="304306" y="4465810"/>
            <a:ext cx="7883730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1. Découvrez les saveurs de Bernard, artisan-chocolatier depuis 1962 et reconnu meilleur chocolatier d’Amiens 2022.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EFE64C8-5A32-2D1B-4E83-58CA3F4DA0DC}"/>
              </a:ext>
            </a:extLst>
          </p:cNvPr>
          <p:cNvSpPr txBox="1">
            <a:spLocks/>
          </p:cNvSpPr>
          <p:nvPr/>
        </p:nvSpPr>
        <p:spPr>
          <a:xfrm>
            <a:off x="304306" y="5589742"/>
            <a:ext cx="7883730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2. Consultez notre catalogue de chocolats et confiseries pour pâques et bénéficiez de 50% de remise.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10EA355-67A6-F58E-8AF4-1DEA824E0122}"/>
              </a:ext>
            </a:extLst>
          </p:cNvPr>
          <p:cNvCxnSpPr>
            <a:cxnSpLocks/>
          </p:cNvCxnSpPr>
          <p:nvPr/>
        </p:nvCxnSpPr>
        <p:spPr>
          <a:xfrm flipH="1">
            <a:off x="6848989" y="1539438"/>
            <a:ext cx="2119746" cy="101560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re 1">
            <a:extLst>
              <a:ext uri="{FF2B5EF4-FFF2-40B4-BE49-F238E27FC236}">
                <a16:creationId xmlns:a16="http://schemas.microsoft.com/office/drawing/2014/main" id="{D2725540-DD83-AFC7-D413-EB5073E53868}"/>
              </a:ext>
            </a:extLst>
          </p:cNvPr>
          <p:cNvSpPr txBox="1">
            <a:spLocks/>
          </p:cNvSpPr>
          <p:nvPr/>
        </p:nvSpPr>
        <p:spPr>
          <a:xfrm>
            <a:off x="8390573" y="659365"/>
            <a:ext cx="394639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lorsque vous mettez votre mot-clé dans la </a:t>
            </a:r>
          </a:p>
          <a:p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-description Google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mettra en gras dans la SERP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DBE18FF-D562-A6F2-ABEB-070539DE276F}"/>
              </a:ext>
            </a:extLst>
          </p:cNvPr>
          <p:cNvCxnSpPr>
            <a:cxnSpLocks/>
          </p:cNvCxnSpPr>
          <p:nvPr/>
        </p:nvCxnSpPr>
        <p:spPr>
          <a:xfrm flipH="1">
            <a:off x="7807201" y="4099262"/>
            <a:ext cx="2563092" cy="91992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re 1">
            <a:extLst>
              <a:ext uri="{FF2B5EF4-FFF2-40B4-BE49-F238E27FC236}">
                <a16:creationId xmlns:a16="http://schemas.microsoft.com/office/drawing/2014/main" id="{3888B81E-1F16-B0E1-A71B-F9DA3A46C8FA}"/>
              </a:ext>
            </a:extLst>
          </p:cNvPr>
          <p:cNvSpPr txBox="1">
            <a:spLocks/>
          </p:cNvSpPr>
          <p:nvPr/>
        </p:nvSpPr>
        <p:spPr>
          <a:xfrm>
            <a:off x="6175670" y="3700852"/>
            <a:ext cx="690005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GOOD META-description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CB8623A-67FE-3C12-5DE1-124BD658A6DF}"/>
              </a:ext>
            </a:extLst>
          </p:cNvPr>
          <p:cNvCxnSpPr>
            <a:cxnSpLocks/>
          </p:cNvCxnSpPr>
          <p:nvPr/>
        </p:nvCxnSpPr>
        <p:spPr>
          <a:xfrm flipH="1">
            <a:off x="8074781" y="5278713"/>
            <a:ext cx="2563092" cy="91992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re 1">
            <a:extLst>
              <a:ext uri="{FF2B5EF4-FFF2-40B4-BE49-F238E27FC236}">
                <a16:creationId xmlns:a16="http://schemas.microsoft.com/office/drawing/2014/main" id="{A7443A48-DD70-D8E6-BF20-1BD3E66A8CE7}"/>
              </a:ext>
            </a:extLst>
          </p:cNvPr>
          <p:cNvSpPr txBox="1">
            <a:spLocks/>
          </p:cNvSpPr>
          <p:nvPr/>
        </p:nvSpPr>
        <p:spPr>
          <a:xfrm>
            <a:off x="4155232" y="4942386"/>
            <a:ext cx="883245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GOOD META-description AUSSI</a:t>
            </a:r>
          </a:p>
        </p:txBody>
      </p:sp>
    </p:spTree>
    <p:extLst>
      <p:ext uri="{BB962C8B-B14F-4D97-AF65-F5344CB8AC3E}">
        <p14:creationId xmlns:p14="http://schemas.microsoft.com/office/powerpoint/2010/main" val="71515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LA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-DESCRIPTION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1B6F22D-D1CD-3EC9-3BC2-B38F99E22F07}"/>
              </a:ext>
            </a:extLst>
          </p:cNvPr>
          <p:cNvSpPr txBox="1">
            <a:spLocks/>
          </p:cNvSpPr>
          <p:nvPr/>
        </p:nvSpPr>
        <p:spPr>
          <a:xfrm>
            <a:off x="304307" y="2012460"/>
            <a:ext cx="690005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-description n’est pas un facteur de référencement en soi mais peut contribuer à augmenter votre taux de clic, qui est un facteur de référencement.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0C466F-0639-C190-D428-315839A507BE}"/>
              </a:ext>
            </a:extLst>
          </p:cNvPr>
          <p:cNvSpPr txBox="1">
            <a:spLocks/>
          </p:cNvSpPr>
          <p:nvPr/>
        </p:nvSpPr>
        <p:spPr>
          <a:xfrm>
            <a:off x="304307" y="5587590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comme pour le </a:t>
            </a: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-titre, rédigez votre </a:t>
            </a: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-description de façon à inciter l’utilisateur à cliquer.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D86CFC24-756F-F3AD-C3E3-D96BB958AD7F}"/>
              </a:ext>
            </a:extLst>
          </p:cNvPr>
          <p:cNvSpPr txBox="1">
            <a:spLocks/>
          </p:cNvSpPr>
          <p:nvPr/>
        </p:nvSpPr>
        <p:spPr>
          <a:xfrm>
            <a:off x="304307" y="3018062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mauvais exemple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45D74CB7-AAA6-8F5E-BFD4-1D16FCF5CEF8}"/>
              </a:ext>
            </a:extLst>
          </p:cNvPr>
          <p:cNvSpPr txBox="1">
            <a:spLocks/>
          </p:cNvSpPr>
          <p:nvPr/>
        </p:nvSpPr>
        <p:spPr>
          <a:xfrm>
            <a:off x="304307" y="4024245"/>
            <a:ext cx="7883730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Bernard est artisan-chocolatier depuis 1962, il dispose d’une grande expérience et a été élu meilleur artisan choco…</a:t>
            </a:r>
          </a:p>
        </p:txBody>
      </p:sp>
    </p:spTree>
    <p:extLst>
      <p:ext uri="{BB962C8B-B14F-4D97-AF65-F5344CB8AC3E}">
        <p14:creationId xmlns:p14="http://schemas.microsoft.com/office/powerpoint/2010/main" val="339143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les balises titres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1B6F22D-D1CD-3EC9-3BC2-B38F99E22F07}"/>
              </a:ext>
            </a:extLst>
          </p:cNvPr>
          <p:cNvSpPr txBox="1">
            <a:spLocks/>
          </p:cNvSpPr>
          <p:nvPr/>
        </p:nvSpPr>
        <p:spPr>
          <a:xfrm>
            <a:off x="304060" y="1689118"/>
            <a:ext cx="690005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les balises titres permettent de faciliter la compréhension du à la fois pour Google, mais aussi pour les utilisateurs.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0C466F-0639-C190-D428-315839A507BE}"/>
              </a:ext>
            </a:extLst>
          </p:cNvPr>
          <p:cNvSpPr txBox="1">
            <a:spLocks/>
          </p:cNvSpPr>
          <p:nvPr/>
        </p:nvSpPr>
        <p:spPr>
          <a:xfrm>
            <a:off x="304307" y="5673424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il est important de bien organiser ses titres afin que la lecture soit fluide et agréable.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4B8599B-CAC1-A1B3-C565-6E3C09AEE67E}"/>
              </a:ext>
            </a:extLst>
          </p:cNvPr>
          <p:cNvSpPr txBox="1">
            <a:spLocks/>
          </p:cNvSpPr>
          <p:nvPr/>
        </p:nvSpPr>
        <p:spPr>
          <a:xfrm>
            <a:off x="304060" y="4000219"/>
            <a:ext cx="908907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est important d’intégrer votre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mot-cLé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dans votre titres et notamment le H1.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tachez de n’avoir qu’un seul H1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est suggéré d’insérer des LSI sur les autres balises ou, si possible, d’insérer le mot-clé (attention au keyword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stuffing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évitez d’avoir une balise-titre similaire à votre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meta-title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. </a:t>
            </a:r>
          </a:p>
        </p:txBody>
      </p:sp>
      <p:pic>
        <p:nvPicPr>
          <p:cNvPr id="2050" name="Picture 2" descr="Quel est l'intérêt des balises H1, H2, H3 pour votre SEO ? - Semji">
            <a:extLst>
              <a:ext uri="{FF2B5EF4-FFF2-40B4-BE49-F238E27FC236}">
                <a16:creationId xmlns:a16="http://schemas.microsoft.com/office/drawing/2014/main" id="{88604E4A-B73B-59F2-6A83-CEB7C534E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123" y="-18560"/>
            <a:ext cx="42862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663272E-C6C6-F526-3AB4-187AC659A9A6}"/>
              </a:ext>
            </a:extLst>
          </p:cNvPr>
          <p:cNvCxnSpPr>
            <a:cxnSpLocks/>
          </p:cNvCxnSpPr>
          <p:nvPr/>
        </p:nvCxnSpPr>
        <p:spPr>
          <a:xfrm flipV="1">
            <a:off x="7675418" y="0"/>
            <a:ext cx="4516582" cy="254119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618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les images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1B6F22D-D1CD-3EC9-3BC2-B38F99E22F07}"/>
              </a:ext>
            </a:extLst>
          </p:cNvPr>
          <p:cNvSpPr txBox="1">
            <a:spLocks/>
          </p:cNvSpPr>
          <p:nvPr/>
        </p:nvSpPr>
        <p:spPr>
          <a:xfrm>
            <a:off x="304307" y="2377699"/>
            <a:ext cx="849357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est nécessaire d’attribuer des balise-alt (alt-tag) à vos images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alt-tag est un texte alternatif qui a pour vocation de décrire l’image concernée aux personnes qui ne peuvent pas la voir (personnes malvoyantes).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alt permet aussi de décrire à Google ce qui se trouve sur vos images.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0C466F-0639-C190-D428-315839A507BE}"/>
              </a:ext>
            </a:extLst>
          </p:cNvPr>
          <p:cNvSpPr txBox="1">
            <a:spLocks/>
          </p:cNvSpPr>
          <p:nvPr/>
        </p:nvSpPr>
        <p:spPr>
          <a:xfrm>
            <a:off x="304307" y="5249127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décrivez littéralement ce qu’il y a sur l’image, il ne faut pas nécessairement ajouter vos mots-clés dans les noms </a:t>
            </a: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dES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fichiers ou dans la balise-alt. 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4B8599B-CAC1-A1B3-C565-6E3C09AEE67E}"/>
              </a:ext>
            </a:extLst>
          </p:cNvPr>
          <p:cNvSpPr txBox="1">
            <a:spLocks/>
          </p:cNvSpPr>
          <p:nvPr/>
        </p:nvSpPr>
        <p:spPr>
          <a:xfrm>
            <a:off x="304307" y="3571175"/>
            <a:ext cx="908907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Décrivez littéralement ce qu’il y a sur votre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renommez vos images en leur donnant des noms descriptifs</a:t>
            </a:r>
          </a:p>
        </p:txBody>
      </p:sp>
    </p:spTree>
    <p:extLst>
      <p:ext uri="{BB962C8B-B14F-4D97-AF65-F5344CB8AC3E}">
        <p14:creationId xmlns:p14="http://schemas.microsoft.com/office/powerpoint/2010/main" val="3989429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les images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0C466F-0639-C190-D428-315839A507BE}"/>
              </a:ext>
            </a:extLst>
          </p:cNvPr>
          <p:cNvSpPr txBox="1">
            <a:spLocks/>
          </p:cNvSpPr>
          <p:nvPr/>
        </p:nvSpPr>
        <p:spPr>
          <a:xfrm>
            <a:off x="304307" y="5249127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décrivez littéralement ce qu’il y a sur l’image, il ne faut pas nécessairement ajouter vos mots-clés dans les noms DES </a:t>
            </a: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fichierS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ou dans la balise-alt. 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4B8599B-CAC1-A1B3-C565-6E3C09AEE67E}"/>
              </a:ext>
            </a:extLst>
          </p:cNvPr>
          <p:cNvSpPr txBox="1">
            <a:spLocks/>
          </p:cNvSpPr>
          <p:nvPr/>
        </p:nvSpPr>
        <p:spPr>
          <a:xfrm>
            <a:off x="304307" y="3571175"/>
            <a:ext cx="908907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pic>
        <p:nvPicPr>
          <p:cNvPr id="6148" name="Picture 4" descr="Images de Homme Heureux – Téléchargement gratuit sur Freepik">
            <a:extLst>
              <a:ext uri="{FF2B5EF4-FFF2-40B4-BE49-F238E27FC236}">
                <a16:creationId xmlns:a16="http://schemas.microsoft.com/office/drawing/2014/main" id="{9FCD437E-004F-D6EA-4A78-ED1F4DAB6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618" y="1973802"/>
            <a:ext cx="3035382" cy="202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erman. Le nouveau chat bizarre préféré du web">
            <a:extLst>
              <a:ext uri="{FF2B5EF4-FFF2-40B4-BE49-F238E27FC236}">
                <a16:creationId xmlns:a16="http://schemas.microsoft.com/office/drawing/2014/main" id="{CC613C35-E9D3-AFA8-E533-A36EC4292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02" y="1973802"/>
            <a:ext cx="3038192" cy="202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Voici la plus longue voiture banane au monde">
            <a:extLst>
              <a:ext uri="{FF2B5EF4-FFF2-40B4-BE49-F238E27FC236}">
                <a16:creationId xmlns:a16="http://schemas.microsoft.com/office/drawing/2014/main" id="{5FC70B57-4FF4-1E2E-81F9-F02665D54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451" y="1973802"/>
            <a:ext cx="3372647" cy="202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701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LA LSI (LATENT SEMANTIC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INDEXATIon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)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1B6F22D-D1CD-3EC9-3BC2-B38F99E22F07}"/>
              </a:ext>
            </a:extLst>
          </p:cNvPr>
          <p:cNvSpPr txBox="1">
            <a:spLocks/>
          </p:cNvSpPr>
          <p:nvPr/>
        </p:nvSpPr>
        <p:spPr>
          <a:xfrm>
            <a:off x="304307" y="2336589"/>
            <a:ext cx="849357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depuis l’update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Hummingbird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Google est capable d’assimiler un contexte en analysant les mots-clés connexes.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faut alors intégrer dans les contenus du site des mots reliés qui puissent donner du contexte à Google.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4B8599B-CAC1-A1B3-C565-6E3C09AEE67E}"/>
              </a:ext>
            </a:extLst>
          </p:cNvPr>
          <p:cNvSpPr txBox="1">
            <a:spLocks/>
          </p:cNvSpPr>
          <p:nvPr/>
        </p:nvSpPr>
        <p:spPr>
          <a:xfrm>
            <a:off x="318408" y="3291761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les LSI ne sont pas nécessairement des synonymes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les LSI doivent être présents dans vos contenus de manière naturelle 	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449274" y="4306660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318408" y="5151444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Pizza =&gt; croûte, fromage, four, sauce, garnir, ingrédients, pizza maison,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mozarella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, etc.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FDBB2E48-A27A-327C-9D99-E485B430DDAC}"/>
              </a:ext>
            </a:extLst>
          </p:cNvPr>
          <p:cNvSpPr txBox="1">
            <a:spLocks/>
          </p:cNvSpPr>
          <p:nvPr/>
        </p:nvSpPr>
        <p:spPr>
          <a:xfrm>
            <a:off x="7100141" y="6012112"/>
            <a:ext cx="50918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600" i="1" dirty="0">
                <a:solidFill>
                  <a:srgbClr val="303030"/>
                </a:solidFill>
                <a:latin typeface="Poppins" panose="00000500000000000000" pitchFamily="2" charset="0"/>
              </a:rPr>
              <a:t>trouvez des LSI facilement avec </a:t>
            </a:r>
            <a:r>
              <a:rPr lang="fr-FR" sz="1600" i="1" dirty="0">
                <a:solidFill>
                  <a:srgbClr val="303030"/>
                </a:solidFill>
                <a:latin typeface="Poppins" panose="00000500000000000000" pitchFamily="2" charset="0"/>
                <a:hlinkClick r:id="rId2"/>
              </a:rPr>
              <a:t>LSIgraph.com</a:t>
            </a:r>
            <a:endParaRPr lang="fr-FR" sz="1600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013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les mots-clés dans le contenu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449274" y="3553382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0" y="4766338"/>
            <a:ext cx="1353427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chaussettes : mot-clé très concurrentiel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chaussettes vertes : mot-clé moins concurrentiel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chaussettes vertes à rayures jaune : mot-clé non exploité = opportunité de positionnement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318408" y="1845071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de manière générale, voici les règles à retenir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choisir un mot-clé principal et un choisir un mot-clé secondaire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considérer le niveau de concurrence et prendre les dispositions adéquates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privilégiez les mots-clés de longue traine (</a:t>
            </a:r>
            <a:r>
              <a:rPr lang="fr-FR" sz="2000" i="1" u="sng" dirty="0">
                <a:solidFill>
                  <a:srgbClr val="303030"/>
                </a:solidFill>
                <a:latin typeface="Poppins" panose="00000500000000000000" pitchFamily="2" charset="0"/>
              </a:rPr>
              <a:t>long </a:t>
            </a:r>
            <a:r>
              <a:rPr lang="fr-FR" sz="2000" i="1" u="sng" dirty="0" err="1">
                <a:solidFill>
                  <a:srgbClr val="303030"/>
                </a:solidFill>
                <a:latin typeface="Poppins" panose="00000500000000000000" pitchFamily="2" charset="0"/>
              </a:rPr>
              <a:t>tail</a:t>
            </a:r>
            <a:r>
              <a:rPr lang="fr-FR" sz="2000" i="1" u="sng" dirty="0">
                <a:solidFill>
                  <a:srgbClr val="303030"/>
                </a:solidFill>
                <a:latin typeface="Poppins" panose="00000500000000000000" pitchFamily="2" charset="0"/>
              </a:rPr>
              <a:t> keyword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6111EF2-4190-53CD-8C05-B1481B13FF52}"/>
              </a:ext>
            </a:extLst>
          </p:cNvPr>
          <p:cNvSpPr txBox="1">
            <a:spLocks/>
          </p:cNvSpPr>
          <p:nvPr/>
        </p:nvSpPr>
        <p:spPr>
          <a:xfrm>
            <a:off x="304307" y="5657373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Long 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tail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keyword a un meilleur taux de conversion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16F86A78-DA68-0EAE-B8CC-F0E2C3FD1BEF}"/>
              </a:ext>
            </a:extLst>
          </p:cNvPr>
          <p:cNvSpPr txBox="1">
            <a:spLocks/>
          </p:cNvSpPr>
          <p:nvPr/>
        </p:nvSpPr>
        <p:spPr>
          <a:xfrm>
            <a:off x="318408" y="2751019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pouvez consulter les données de votre mot-clé sur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  <a:hlinkClick r:id="rId2"/>
              </a:rPr>
              <a:t>Google Keyword Planner</a:t>
            </a: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89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304307" y="130292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d’autres exemples ?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304307" y="1778075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 photographe freelance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photographe mariage plein air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photographe publicité alimentaire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photographe portraits d’entreprise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51B0D756-66A3-7E22-ADD4-365B8DC845CE}"/>
              </a:ext>
            </a:extLst>
          </p:cNvPr>
          <p:cNvSpPr txBox="1">
            <a:spLocks/>
          </p:cNvSpPr>
          <p:nvPr/>
        </p:nvSpPr>
        <p:spPr>
          <a:xfrm>
            <a:off x="304307" y="2712711"/>
            <a:ext cx="11555184" cy="528496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 business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developer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? </a:t>
            </a:r>
          </a:p>
        </p:txBody>
      </p:sp>
    </p:spTree>
    <p:extLst>
      <p:ext uri="{BB962C8B-B14F-4D97-AF65-F5344CB8AC3E}">
        <p14:creationId xmlns:p14="http://schemas.microsoft.com/office/powerpoint/2010/main" val="398343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bas Neue" panose="020B0606020202050201" pitchFamily="34" charset="0"/>
                <a:ea typeface="+mj-ea"/>
                <a:cs typeface="+mj-cs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3680336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j-ea"/>
              <a:cs typeface="+mj-cs"/>
            </a:endParaRP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j-ea"/>
              <a:cs typeface="+mj-cs"/>
            </a:endParaRP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j-ea"/>
              <a:cs typeface="+mj-cs"/>
            </a:endParaRP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+mj-cs"/>
              </a:rPr>
              <a:t>on-page SEO part 2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B3360-C8BE-4C8A-9532-72FAF102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50E92-4701-4803-BF4A-1BCEAA5421B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683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faire du maillage interne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449274" y="3716401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398078" y="4870610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une phrase tirée d’un article de blog : </a:t>
            </a:r>
          </a:p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« L’augmentation de capital concerne tous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  <a:hlinkClick r:id="rId2" action="ppaction://hlinkfile"/>
              </a:rPr>
              <a:t>les types de formes juridiques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, que ce soit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  <a:hlinkClick r:id="rId2" action="ppaction://hlinkfile"/>
              </a:rPr>
              <a:t>une SARL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,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  <a:hlinkClick r:id="rId3" action="ppaction://hlinkfile"/>
              </a:rPr>
              <a:t>une SAS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ou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  <a:hlinkClick r:id="rId2" action="ppaction://hlinkfile"/>
              </a:rPr>
              <a:t>une SASU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. »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304307" y="3139726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créer des liens pertinents dans sur votre site favorise son référencement.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ils incitent également vos utilisateurs à parcourir plus de page sur votre 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transférer l’autorité d’une page à une autre.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« 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transférer l’autorité 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» 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si vous mettez le lien d’une page à faible autorité sur votre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homepage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celle-ci profitera de son autorité et ainsi être mieux référencée. 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6111EF2-4190-53CD-8C05-B1481B13FF52}"/>
              </a:ext>
            </a:extLst>
          </p:cNvPr>
          <p:cNvSpPr txBox="1">
            <a:spLocks/>
          </p:cNvSpPr>
          <p:nvPr/>
        </p:nvSpPr>
        <p:spPr>
          <a:xfrm>
            <a:off x="304307" y="5657373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LIENS INTERNES DOIVENT être pertinents </a:t>
            </a:r>
          </a:p>
        </p:txBody>
      </p:sp>
    </p:spTree>
    <p:extLst>
      <p:ext uri="{BB962C8B-B14F-4D97-AF65-F5344CB8AC3E}">
        <p14:creationId xmlns:p14="http://schemas.microsoft.com/office/powerpoint/2010/main" val="290288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faire du maillage externe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304307" y="3230668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exemple?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796156" y="4193842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encore une phrase tirée d’un article de blog : </a:t>
            </a:r>
          </a:p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« toutefois, cette formalité juridique n’est plus obligatoire depuis le 1</a:t>
            </a:r>
            <a:r>
              <a:rPr lang="fr-FR" sz="2000" i="1" baseline="30000" dirty="0">
                <a:solidFill>
                  <a:srgbClr val="303030"/>
                </a:solidFill>
                <a:latin typeface="Poppins" panose="00000500000000000000" pitchFamily="2" charset="0"/>
              </a:rPr>
              <a:t>er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janvier 2019 suive à la révision de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  <a:hlinkClick r:id="rId2" action="ppaction://hlinkfile"/>
              </a:rPr>
              <a:t>l’article 1234 alinéa 4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de la Loi du truc. »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1017639" y="2975634"/>
            <a:ext cx="1102939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ajouter des liens externes vers des domaines à forte autorité améliore votre référencement.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Google comprend plus facilement votre domaine d’activité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offre de la valeur ajoutée pour l’utilisateur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augmente la confiance de votre 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6111EF2-4190-53CD-8C05-B1481B13FF52}"/>
              </a:ext>
            </a:extLst>
          </p:cNvPr>
          <p:cNvSpPr txBox="1">
            <a:spLocks/>
          </p:cNvSpPr>
          <p:nvPr/>
        </p:nvSpPr>
        <p:spPr>
          <a:xfrm>
            <a:off x="224637" y="5476583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LIENS externes DOIVENT être pertinents</a:t>
            </a:r>
          </a:p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aussi </a:t>
            </a:r>
          </a:p>
        </p:txBody>
      </p:sp>
    </p:spTree>
    <p:extLst>
      <p:ext uri="{BB962C8B-B14F-4D97-AF65-F5344CB8AC3E}">
        <p14:creationId xmlns:p14="http://schemas.microsoft.com/office/powerpoint/2010/main" val="174431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faire du maillage externe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304307" y="1705546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attention aux liens brisés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346882" y="3377895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liens brisés renvoient vers des pages qui n’existent plus.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renvoyer vers des liens brisés affecte considérablement le référencement de la page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6111EF2-4190-53CD-8C05-B1481B13FF52}"/>
              </a:ext>
            </a:extLst>
          </p:cNvPr>
          <p:cNvSpPr txBox="1">
            <a:spLocks/>
          </p:cNvSpPr>
          <p:nvPr/>
        </p:nvSpPr>
        <p:spPr>
          <a:xfrm>
            <a:off x="369604" y="4464048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333AE03E-F0F4-D318-9D22-2695FDA63B1D}"/>
              </a:ext>
            </a:extLst>
          </p:cNvPr>
          <p:cNvSpPr txBox="1">
            <a:spLocks/>
          </p:cNvSpPr>
          <p:nvPr/>
        </p:nvSpPr>
        <p:spPr>
          <a:xfrm>
            <a:off x="289934" y="5771847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avez inséré un lien vers une page produit d’une collection qui n’existe plus.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mentionnez le blog d’une entreprise qui a fermé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mentionnez un article de presse qui a été supprimé</a:t>
            </a:r>
          </a:p>
        </p:txBody>
      </p:sp>
    </p:spTree>
    <p:extLst>
      <p:ext uri="{BB962C8B-B14F-4D97-AF65-F5344CB8AC3E}">
        <p14:creationId xmlns:p14="http://schemas.microsoft.com/office/powerpoint/2010/main" val="4272472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Faire face à la concurrence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318408" y="4086873"/>
            <a:ext cx="1353427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longueur des textes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pertinence des liens internes et externes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optimisation des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-descriptions/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title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et attributs 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types de médias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satisfaction de l’intention de recherche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variations du mot-clé : synonymes, LSI, mot-clé secondaire, etc.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318408" y="1645708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pour Google, pour gagner des places sur la SERP, votre page doit être considérée comme «  meilleure » que celles qui existent et sur tous les plans, y compris le on-page SEO.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6111EF2-4190-53CD-8C05-B1481B13FF52}"/>
              </a:ext>
            </a:extLst>
          </p:cNvPr>
          <p:cNvSpPr txBox="1">
            <a:spLocks/>
          </p:cNvSpPr>
          <p:nvPr/>
        </p:nvSpPr>
        <p:spPr>
          <a:xfrm>
            <a:off x="304307" y="5657373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ce n’est que la partie on-site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16F86A78-DA68-0EAE-B8CC-F0E2C3FD1BEF}"/>
              </a:ext>
            </a:extLst>
          </p:cNvPr>
          <p:cNvSpPr txBox="1">
            <a:spLocks/>
          </p:cNvSpPr>
          <p:nvPr/>
        </p:nvSpPr>
        <p:spPr>
          <a:xfrm>
            <a:off x="304307" y="2451549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Que veut dire « meilleure » ?</a:t>
            </a:r>
          </a:p>
        </p:txBody>
      </p:sp>
    </p:spTree>
    <p:extLst>
      <p:ext uri="{BB962C8B-B14F-4D97-AF65-F5344CB8AC3E}">
        <p14:creationId xmlns:p14="http://schemas.microsoft.com/office/powerpoint/2010/main" val="356285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r>
              <a:rPr lang="fr-FR" dirty="0"/>
              <a:t>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l’intention de recherche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304307" y="3237285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types de pages et intentions de recherche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318408" y="5542601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pages locales : 	ville/lieu (Fiche d’entreprise, mairie, jardin, salle de concert…)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de produit : 	achat de produit (boutiques e-commerce)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de catégorie :	achat de produit –aussi-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d’information :	répond à une question (blog, page d’accueil)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annuaire : 	trouver des sites (pages avec des liens organisés par thèmes)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comparative : 	comparer des offres (tops, comparatifs,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pratique :	page proposant un outil (calculateur, convertisseur,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304307" y="2038154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pour être référencé sur un mot-clé, vous devez impérativement combler l’intention de recherche de l’utilisateur.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question à se poser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« 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en tapant mon mot-clé sur Google, que voulait faire l’utilisateur ? 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0186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FF12EFD-47CB-5BA0-B844-5F436C63CD4D}"/>
              </a:ext>
            </a:extLst>
          </p:cNvPr>
          <p:cNvSpPr txBox="1">
            <a:spLocks/>
          </p:cNvSpPr>
          <p:nvPr/>
        </p:nvSpPr>
        <p:spPr>
          <a:xfrm>
            <a:off x="144967" y="3039685"/>
            <a:ext cx="879744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6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C’EST MEGA </a:t>
            </a:r>
          </a:p>
          <a:p>
            <a:r>
              <a:rPr lang="fr-FR" sz="16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IMPORTANT</a:t>
            </a:r>
          </a:p>
          <a:p>
            <a:endParaRPr lang="fr-FR" sz="166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B0EEB6A-743B-1FC7-3CFB-CF2095793022}"/>
              </a:ext>
            </a:extLst>
          </p:cNvPr>
          <p:cNvSpPr/>
          <p:nvPr/>
        </p:nvSpPr>
        <p:spPr>
          <a:xfrm>
            <a:off x="144967" y="3948545"/>
            <a:ext cx="11201906" cy="26600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318408" y="5542601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pages locales : 	ville/lieu (Fiche d’entreprise, mairie, jardin, salle de concert…)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de produit : 	achat de produit (boutiques e-commerce)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de catégorie :	achat de produit –aussi-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d’information :	répond à une question (blog, page d’accueil)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annuaire : 	trouver des sites (pages avec des liens organisés par thèmes)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comparative : 	comparer des offres (tops, comparatifs,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pratique :	page proposant un outil (calculateur, convertisseur,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89877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l’intention de recherche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304307" y="2711729"/>
            <a:ext cx="11369951" cy="3822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7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725EC-130C-D628-FA46-EAC36A8AE86A}"/>
              </a:ext>
            </a:extLst>
          </p:cNvPr>
          <p:cNvSpPr txBox="1">
            <a:spLocks/>
          </p:cNvSpPr>
          <p:nvPr/>
        </p:nvSpPr>
        <p:spPr>
          <a:xfrm>
            <a:off x="318408" y="1637320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pour connaître l’intention de recherche des utilisateurs vous pouvez utiliser des outils comme SEM Rush ou allez vérifier vous-même en regardant les leaders dans la SERP.</a:t>
            </a:r>
          </a:p>
        </p:txBody>
      </p:sp>
    </p:spTree>
    <p:extLst>
      <p:ext uri="{BB962C8B-B14F-4D97-AF65-F5344CB8AC3E}">
        <p14:creationId xmlns:p14="http://schemas.microsoft.com/office/powerpoint/2010/main" val="241199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BBB15D1-EA86-A02C-88D9-BF30CB2EB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2" y="-14257"/>
            <a:ext cx="10651299" cy="6872257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EA4BCB1-545A-F098-4D40-8A3583C17A06}"/>
              </a:ext>
            </a:extLst>
          </p:cNvPr>
          <p:cNvSpPr txBox="1">
            <a:spLocks/>
          </p:cNvSpPr>
          <p:nvPr/>
        </p:nvSpPr>
        <p:spPr>
          <a:xfrm>
            <a:off x="1269617" y="-191238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mot-clé : artisan </a:t>
            </a:r>
            <a:r>
              <a:rPr lang="fr-FR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kebabier</a:t>
            </a:r>
            <a:endParaRPr lang="fr-FR" sz="36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DDD8881-C3D2-4E1D-3D2E-D3EA3651642C}"/>
              </a:ext>
            </a:extLst>
          </p:cNvPr>
          <p:cNvSpPr txBox="1">
            <a:spLocks/>
          </p:cNvSpPr>
          <p:nvPr/>
        </p:nvSpPr>
        <p:spPr>
          <a:xfrm>
            <a:off x="304307" y="2711729"/>
            <a:ext cx="11369951" cy="3822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39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autre ?</a:t>
            </a:r>
          </a:p>
        </p:txBody>
      </p:sp>
    </p:spTree>
    <p:extLst>
      <p:ext uri="{BB962C8B-B14F-4D97-AF65-F5344CB8AC3E}">
        <p14:creationId xmlns:p14="http://schemas.microsoft.com/office/powerpoint/2010/main" val="2338769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19A825D-9B46-DFFC-D46F-2364D433E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81"/>
            <a:ext cx="12191299" cy="6681019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EA4BCB1-545A-F098-4D40-8A3583C17A06}"/>
              </a:ext>
            </a:extLst>
          </p:cNvPr>
          <p:cNvSpPr txBox="1">
            <a:spLocks/>
          </p:cNvSpPr>
          <p:nvPr/>
        </p:nvSpPr>
        <p:spPr>
          <a:xfrm>
            <a:off x="430202" y="1492545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mot-clé : OUTIL POUR Créer des cours</a:t>
            </a:r>
          </a:p>
        </p:txBody>
      </p:sp>
    </p:spTree>
    <p:extLst>
      <p:ext uri="{BB962C8B-B14F-4D97-AF65-F5344CB8AC3E}">
        <p14:creationId xmlns:p14="http://schemas.microsoft.com/office/powerpoint/2010/main" val="42358879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intention de recherche et tunnel de vente </a:t>
            </a:r>
          </a:p>
        </p:txBody>
      </p:sp>
      <p:pic>
        <p:nvPicPr>
          <p:cNvPr id="1026" name="Picture 2" descr="What is a marketing funnel? | Sprout Social">
            <a:extLst>
              <a:ext uri="{FF2B5EF4-FFF2-40B4-BE49-F238E27FC236}">
                <a16:creationId xmlns:a16="http://schemas.microsoft.com/office/drawing/2014/main" id="{A42F92D9-4973-F786-32C6-397D6EA80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033" y="1381417"/>
            <a:ext cx="57150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DD1A38D4-2F23-5371-DED2-7FE695545224}"/>
              </a:ext>
            </a:extLst>
          </p:cNvPr>
          <p:cNvSpPr txBox="1">
            <a:spLocks/>
          </p:cNvSpPr>
          <p:nvPr/>
        </p:nvSpPr>
        <p:spPr>
          <a:xfrm>
            <a:off x="304307" y="3125589"/>
            <a:ext cx="650416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supposez que votre page est bien positionnée dans </a:t>
            </a:r>
            <a:r>
              <a:rPr lang="fr-FR" sz="2000">
                <a:solidFill>
                  <a:srgbClr val="303030"/>
                </a:solidFill>
                <a:latin typeface="Poppins" panose="00000500000000000000" pitchFamily="2" charset="0"/>
              </a:rPr>
              <a:t>la SERP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et répond efficacement à l’intention de recherche.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recevez beaucoup de trafic. 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Qu’allez-vous en faire ?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7C1F200-8442-A24F-09DC-AD5F192A0729}"/>
              </a:ext>
            </a:extLst>
          </p:cNvPr>
          <p:cNvSpPr txBox="1">
            <a:spLocks/>
          </p:cNvSpPr>
          <p:nvPr/>
        </p:nvSpPr>
        <p:spPr>
          <a:xfrm>
            <a:off x="224637" y="560676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il faut penser au tunnel de vente</a:t>
            </a:r>
          </a:p>
        </p:txBody>
      </p:sp>
    </p:spTree>
    <p:extLst>
      <p:ext uri="{BB962C8B-B14F-4D97-AF65-F5344CB8AC3E}">
        <p14:creationId xmlns:p14="http://schemas.microsoft.com/office/powerpoint/2010/main" val="3373949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intention de recherche et tunnel de vente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DD1A38D4-2F23-5371-DED2-7FE695545224}"/>
              </a:ext>
            </a:extLst>
          </p:cNvPr>
          <p:cNvSpPr txBox="1">
            <a:spLocks/>
          </p:cNvSpPr>
          <p:nvPr/>
        </p:nvSpPr>
        <p:spPr>
          <a:xfrm>
            <a:off x="284970" y="4470401"/>
            <a:ext cx="1121093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457200" indent="-457200">
              <a:buFont typeface="+mj-lt"/>
              <a:buAutoNum type="arabicPeriod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une page de blog répond à une question et invite à offrir plus d’informations utiles sur d’autres pages du site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l’utilisateur accorde plus de confiance au site et parcourt les pages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l’utilisateur consulte les offres que propose de le site et souscrit à un abonnement pour du contenu premium et supplémentaire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site continue d’être alimenté en contenu et l’utilisateur revient régulièrement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l’utilisateur est satisfait et fait la promotion du site à ses amis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7C1F200-8442-A24F-09DC-AD5F192A0729}"/>
              </a:ext>
            </a:extLst>
          </p:cNvPr>
          <p:cNvSpPr txBox="1">
            <a:spLocks/>
          </p:cNvSpPr>
          <p:nvPr/>
        </p:nvSpPr>
        <p:spPr>
          <a:xfrm>
            <a:off x="284970" y="1355865"/>
            <a:ext cx="24443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8798D6-77C1-9094-7F80-CB482D5E266B}"/>
              </a:ext>
            </a:extLst>
          </p:cNvPr>
          <p:cNvSpPr txBox="1">
            <a:spLocks/>
          </p:cNvSpPr>
          <p:nvPr/>
        </p:nvSpPr>
        <p:spPr>
          <a:xfrm>
            <a:off x="449274" y="5510837"/>
            <a:ext cx="254688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epic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win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0BC0DA2-15CD-8E8D-6009-B6281E6A66C1}"/>
              </a:ext>
            </a:extLst>
          </p:cNvPr>
          <p:cNvSpPr txBox="1">
            <a:spLocks/>
          </p:cNvSpPr>
          <p:nvPr/>
        </p:nvSpPr>
        <p:spPr>
          <a:xfrm>
            <a:off x="449274" y="2140411"/>
            <a:ext cx="117427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un site qui offre des services juridiques pour les auto-entrepreneurs</a:t>
            </a:r>
          </a:p>
        </p:txBody>
      </p:sp>
    </p:spTree>
    <p:extLst>
      <p:ext uri="{BB962C8B-B14F-4D97-AF65-F5344CB8AC3E}">
        <p14:creationId xmlns:p14="http://schemas.microsoft.com/office/powerpoint/2010/main" val="369403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3680336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cas pratique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B3360-C8BE-4C8A-9532-72FAF102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1776</Words>
  <Application>Microsoft Office PowerPoint</Application>
  <PresentationFormat>Grand écran</PresentationFormat>
  <Paragraphs>249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2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²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Adel Akouche</cp:lastModifiedBy>
  <cp:revision>30</cp:revision>
  <dcterms:created xsi:type="dcterms:W3CDTF">2021-11-16T19:28:52Z</dcterms:created>
  <dcterms:modified xsi:type="dcterms:W3CDTF">2023-12-01T13:11:30Z</dcterms:modified>
</cp:coreProperties>
</file>