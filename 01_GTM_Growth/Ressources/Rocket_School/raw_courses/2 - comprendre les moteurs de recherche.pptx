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4" r:id="rId3"/>
    <p:sldId id="317" r:id="rId4"/>
    <p:sldId id="318" r:id="rId5"/>
    <p:sldId id="319" r:id="rId6"/>
    <p:sldId id="320" r:id="rId7"/>
    <p:sldId id="321" r:id="rId8"/>
    <p:sldId id="322" r:id="rId9"/>
    <p:sldId id="263" r:id="rId10"/>
    <p:sldId id="332" r:id="rId11"/>
    <p:sldId id="331" r:id="rId12"/>
    <p:sldId id="323" r:id="rId13"/>
    <p:sldId id="324" r:id="rId14"/>
    <p:sldId id="325" r:id="rId15"/>
    <p:sldId id="328" r:id="rId16"/>
    <p:sldId id="333" r:id="rId17"/>
    <p:sldId id="326" r:id="rId18"/>
    <p:sldId id="327" r:id="rId19"/>
    <p:sldId id="329" r:id="rId20"/>
    <p:sldId id="330" r:id="rId21"/>
    <p:sldId id="334" r:id="rId22"/>
    <p:sldId id="335" r:id="rId23"/>
    <p:sldId id="337" r:id="rId24"/>
    <p:sldId id="336" r:id="rId25"/>
    <p:sldId id="310" r:id="rId26"/>
    <p:sldId id="311" r:id="rId27"/>
    <p:sldId id="339" r:id="rId28"/>
    <p:sldId id="34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9E"/>
    <a:srgbClr val="1871A9"/>
    <a:srgbClr val="BEC2E8"/>
    <a:srgbClr val="B4C7E7"/>
    <a:srgbClr val="1F4E7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8" autoAdjust="0"/>
    <p:restoredTop sz="94660"/>
  </p:normalViewPr>
  <p:slideViewPr>
    <p:cSldViewPr snapToGrid="0">
      <p:cViewPr varScale="1">
        <p:scale>
          <a:sx n="72" d="100"/>
          <a:sy n="72" d="100"/>
        </p:scale>
        <p:origin x="49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08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10/10/2024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10/10/2024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8HtO7Gd5q0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introduction au SEO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44967" y="4391209"/>
            <a:ext cx="685125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2 : comprendre les moteurs de recherche</a:t>
            </a: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>
            <a:normAutofit/>
          </a:bodyPr>
          <a:lstStyle/>
          <a:p>
            <a:endParaRPr lang="fr-FR" sz="5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438152" y="2496641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peu d’histoire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6CE6F4-DCA4-9780-D73B-E7785E1D1F02}"/>
              </a:ext>
            </a:extLst>
          </p:cNvPr>
          <p:cNvSpPr txBox="1">
            <a:spLocks/>
          </p:cNvSpPr>
          <p:nvPr/>
        </p:nvSpPr>
        <p:spPr>
          <a:xfrm>
            <a:off x="3705226" y="5595539"/>
            <a:ext cx="80424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ces 15 dernières années, l’algorithme de Google a beaucoup évolué afin de s’adapter aux besoins des utilisateurs et aux comportements des éditeurs de sites internet.</a:t>
            </a:r>
            <a:endParaRPr lang="fr-FR" sz="18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42D73C5-4FCC-5884-2F4A-066253C46EA7}"/>
              </a:ext>
            </a:extLst>
          </p:cNvPr>
          <p:cNvSpPr txBox="1">
            <a:spLocks/>
          </p:cNvSpPr>
          <p:nvPr/>
        </p:nvSpPr>
        <p:spPr>
          <a:xfrm>
            <a:off x="6378043" y="6107720"/>
            <a:ext cx="580283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800" dirty="0">
                <a:solidFill>
                  <a:srgbClr val="303030"/>
                </a:solidFill>
                <a:latin typeface="Poppins" panose="00000500000000000000" pitchFamily="2" charset="0"/>
              </a:rPr>
              <a:t>c’est très grand n’est-ce pas ? 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6328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602511" y="3403834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Les premiers réseaux informatiques, tels que le réseau ARPANET, ont été créés dans les années 60</a:t>
            </a:r>
          </a:p>
          <a:p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internet est devenu public en 1991 et son utilisation </a:t>
            </a:r>
            <a:r>
              <a:rPr lang="fr-FR" sz="2400" b="1" dirty="0">
                <a:solidFill>
                  <a:srgbClr val="303030"/>
                </a:solidFill>
                <a:latin typeface="Poppins" panose="00000500000000000000" pitchFamily="2" charset="0"/>
              </a:rPr>
              <a:t>et le nombre de sites </a:t>
            </a: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a rapidement augmenté </a:t>
            </a:r>
          </a:p>
          <a:p>
            <a:endParaRPr lang="fr-FR" sz="2400" b="1" u="sng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91547" y="170672"/>
            <a:ext cx="320702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HISTORIQUE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1030" name="Picture 6" descr="Cahier à spirale « ARPANET | Réseaux à commutation de paquets | Précurseur  Internet », par typo-n-quotes | Redbubble">
            <a:extLst>
              <a:ext uri="{FF2B5EF4-FFF2-40B4-BE49-F238E27FC236}">
                <a16:creationId xmlns:a16="http://schemas.microsoft.com/office/drawing/2014/main" id="{F92AAF72-FE7E-85B4-E1BF-DF392844F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48" y="1947904"/>
            <a:ext cx="3662140" cy="366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876668F-CC0C-0949-05BF-EA1436D2767D}"/>
              </a:ext>
            </a:extLst>
          </p:cNvPr>
          <p:cNvSpPr txBox="1">
            <a:spLocks/>
          </p:cNvSpPr>
          <p:nvPr/>
        </p:nvSpPr>
        <p:spPr>
          <a:xfrm>
            <a:off x="407273" y="5234904"/>
            <a:ext cx="6848020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3600" b="1" dirty="0"/>
              <a:t>c’est à ce moment que les moteurs de recherche sont apparus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8A08C2C-5668-0CD4-040E-3472D4632658}"/>
              </a:ext>
            </a:extLst>
          </p:cNvPr>
          <p:cNvSpPr txBox="1">
            <a:spLocks/>
          </p:cNvSpPr>
          <p:nvPr/>
        </p:nvSpPr>
        <p:spPr>
          <a:xfrm>
            <a:off x="8011661" y="336324"/>
            <a:ext cx="320702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1991</a:t>
            </a:r>
          </a:p>
        </p:txBody>
      </p:sp>
    </p:spTree>
    <p:extLst>
      <p:ext uri="{BB962C8B-B14F-4D97-AF65-F5344CB8AC3E}">
        <p14:creationId xmlns:p14="http://schemas.microsoft.com/office/powerpoint/2010/main" val="155678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72728" y="4537141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Archie était le premier moteur de recherche, lancé en 1990, mais il était limité aux sites FTP.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rgbClr val="303030"/>
                </a:solidFill>
                <a:latin typeface="Poppins" panose="00000500000000000000" pitchFamily="2" charset="0"/>
              </a:rPr>
              <a:t>WebCrawler</a:t>
            </a: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 a été lancé en 1994 et était le premier moteur de recherche à indexer les pages web.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AltaVista a été lancé en 1995 et a rapidement pris la première place des moteurs de recherche.</a:t>
            </a:r>
            <a:endParaRPr lang="fr-FR" sz="2400" b="1" u="sng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91547" y="170672"/>
            <a:ext cx="320702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HISTORIQUE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1026" name="Picture 2" descr="AltaVista put out to pasture ... but how fare its '90s comrades?">
            <a:extLst>
              <a:ext uri="{FF2B5EF4-FFF2-40B4-BE49-F238E27FC236}">
                <a16:creationId xmlns:a16="http://schemas.microsoft.com/office/drawing/2014/main" id="{85FA0861-E04B-548F-EB75-767C1B091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249" y="1315165"/>
            <a:ext cx="41529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E8BED87-A2FA-3B58-7B74-C42DB7B69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647" y="4360292"/>
            <a:ext cx="3544958" cy="236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A890D61-41A5-6E92-CE5B-14C32F1F8B5D}"/>
              </a:ext>
            </a:extLst>
          </p:cNvPr>
          <p:cNvSpPr txBox="1">
            <a:spLocks/>
          </p:cNvSpPr>
          <p:nvPr/>
        </p:nvSpPr>
        <p:spPr>
          <a:xfrm>
            <a:off x="1214816" y="5745004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1600" dirty="0">
                <a:solidFill>
                  <a:srgbClr val="303030"/>
                </a:solidFill>
                <a:latin typeface="Poppins" panose="00000500000000000000" pitchFamily="2" charset="0"/>
              </a:rPr>
              <a:t>le File Transfer Protocol (FTP) est un protocole de transfert de fichiers par Internet.</a:t>
            </a:r>
            <a:endParaRPr lang="fr-FR" sz="1600" b="1" u="sng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E97F3A3-DBE5-83C2-D95D-99F6CD8A70B5}"/>
              </a:ext>
            </a:extLst>
          </p:cNvPr>
          <p:cNvSpPr txBox="1">
            <a:spLocks/>
          </p:cNvSpPr>
          <p:nvPr/>
        </p:nvSpPr>
        <p:spPr>
          <a:xfrm>
            <a:off x="8011661" y="336324"/>
            <a:ext cx="320702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early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90’s</a:t>
            </a:r>
          </a:p>
        </p:txBody>
      </p:sp>
    </p:spTree>
    <p:extLst>
      <p:ext uri="{BB962C8B-B14F-4D97-AF65-F5344CB8AC3E}">
        <p14:creationId xmlns:p14="http://schemas.microsoft.com/office/powerpoint/2010/main" val="191606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96493" y="5113346"/>
            <a:ext cx="754757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 Google a été créé en 1998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Google a rapidement pris la première place des moteurs de recherche en raison de son algorithme PageRank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</a:rPr>
              <a:t>PageRank a classé les pages en fonction de leur popularité et de leur pertinence, plutôt que de leur nombre de mots-clés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u="sng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91547" y="170672"/>
            <a:ext cx="320702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HISTORIQUE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CE22BC-804D-B017-62E1-ADC2AA281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70037"/>
            <a:ext cx="5655083" cy="158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3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727568" y="131338"/>
            <a:ext cx="6268279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mot sur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pagerank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4098" name="Picture 2" descr="PageRank algorithm: how it works - YouTube">
            <a:extLst>
              <a:ext uri="{FF2B5EF4-FFF2-40B4-BE49-F238E27FC236}">
                <a16:creationId xmlns:a16="http://schemas.microsoft.com/office/drawing/2014/main" id="{EC44AC3B-BD71-E177-CDB2-35F44FB51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83" y="1443754"/>
            <a:ext cx="7058650" cy="397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FB22B5B-C304-C5EC-40F3-DDA38FDC7A09}"/>
              </a:ext>
            </a:extLst>
          </p:cNvPr>
          <p:cNvSpPr txBox="1">
            <a:spLocks/>
          </p:cNvSpPr>
          <p:nvPr/>
        </p:nvSpPr>
        <p:spPr>
          <a:xfrm>
            <a:off x="3180249" y="5669373"/>
            <a:ext cx="446625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  <a:latin typeface="Poppins" panose="00000500000000000000" pitchFamily="2" charset="0"/>
                <a:hlinkClick r:id="rId3"/>
              </a:rPr>
              <a:t>si vous voulez en savoir plus </a:t>
            </a:r>
            <a:endParaRPr lang="fr-FR" sz="2400" b="1" u="sng" dirty="0"/>
          </a:p>
        </p:txBody>
      </p:sp>
    </p:spTree>
    <p:extLst>
      <p:ext uri="{BB962C8B-B14F-4D97-AF65-F5344CB8AC3E}">
        <p14:creationId xmlns:p14="http://schemas.microsoft.com/office/powerpoint/2010/main" val="370982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510748" y="126439"/>
            <a:ext cx="666249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parts de marché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5122" name="Picture 2" descr="Search Engine Market Share in 2023 [Mar '23 Update] | Oberlo">
            <a:extLst>
              <a:ext uri="{FF2B5EF4-FFF2-40B4-BE49-F238E27FC236}">
                <a16:creationId xmlns:a16="http://schemas.microsoft.com/office/drawing/2014/main" id="{786278E0-6535-69B8-9A31-967F4FFAC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748" y="1493942"/>
            <a:ext cx="8971722" cy="458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555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510748" y="126439"/>
            <a:ext cx="666249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parts de marché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6146" name="Picture 2" descr="Search Engines Optimization and positioning (SEM, SEO) - ComPart Multimedia">
            <a:extLst>
              <a:ext uri="{FF2B5EF4-FFF2-40B4-BE49-F238E27FC236}">
                <a16:creationId xmlns:a16="http://schemas.microsoft.com/office/drawing/2014/main" id="{7A80F7C3-758A-BDAF-5B2B-0FFCBD443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945" y="1416183"/>
            <a:ext cx="8092109" cy="485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88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Fonctionnement des moteurs de recherche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324670" y="595331"/>
            <a:ext cx="10060020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processus de classement</a:t>
            </a:r>
            <a:endParaRPr lang="fr-FR" sz="5400" dirty="0"/>
          </a:p>
        </p:txBody>
      </p:sp>
      <p:pic>
        <p:nvPicPr>
          <p:cNvPr id="7174" name="Picture 6" descr="How To Get Your Landing Page Index In Search Engine">
            <a:extLst>
              <a:ext uri="{FF2B5EF4-FFF2-40B4-BE49-F238E27FC236}">
                <a16:creationId xmlns:a16="http://schemas.microsoft.com/office/drawing/2014/main" id="{2D19CBC1-85AA-D7C9-382B-60FBF2469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09" y="3215461"/>
            <a:ext cx="6478656" cy="323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15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360010" y="338420"/>
            <a:ext cx="687126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PROCESSUS DE CLASSEMENT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81EA902-1EDA-110F-755B-D490FD0D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534" y="1395708"/>
            <a:ext cx="6980736" cy="49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2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300287" y="4137745"/>
            <a:ext cx="5434830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est le processus par lequel les moteurs de recherche parcourent le web pour trouver et indexer des pages web.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but du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est de trouver toutes les pages web existantes pour les indexer dans leur base de données.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Fonctionnement des moteurs de recherche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1. le </a:t>
            </a:r>
            <a:r>
              <a:rPr lang="fr-FR" sz="5400" dirty="0" err="1">
                <a:solidFill>
                  <a:srgbClr val="303030"/>
                </a:solidFill>
                <a:latin typeface="Poppins" panose="00000500000000000000" pitchFamily="2" charset="0"/>
              </a:rPr>
              <a:t>crawling</a:t>
            </a:r>
            <a:endParaRPr lang="fr-FR" sz="5400" dirty="0"/>
          </a:p>
        </p:txBody>
      </p:sp>
      <p:pic>
        <p:nvPicPr>
          <p:cNvPr id="7172" name="Picture 4" descr="How to build a web crawler? - Scraping-bot.io">
            <a:extLst>
              <a:ext uri="{FF2B5EF4-FFF2-40B4-BE49-F238E27FC236}">
                <a16:creationId xmlns:a16="http://schemas.microsoft.com/office/drawing/2014/main" id="{E7EBC6BC-F753-31C1-FDCC-3C5EC372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201" y="1217908"/>
            <a:ext cx="485775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83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6521685" y="4217258"/>
            <a:ext cx="5434830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robots d'exploration sont des programmes informatiques utilisés par les moteurs de recherche pour parcourir le web.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Ils sont également connus sous le nom de spiders ou de bots.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robots d'exploration suivent les liens présents sur les pages web pour découvrir de nouvelles pages.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Fonctionnement des moteurs de recherche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1. le </a:t>
            </a:r>
            <a:r>
              <a:rPr lang="fr-FR" sz="5400" dirty="0" err="1">
                <a:solidFill>
                  <a:srgbClr val="303030"/>
                </a:solidFill>
                <a:latin typeface="Poppins" panose="00000500000000000000" pitchFamily="2" charset="0"/>
              </a:rPr>
              <a:t>crawling</a:t>
            </a:r>
            <a:endParaRPr lang="fr-FR" sz="5400" dirty="0"/>
          </a:p>
        </p:txBody>
      </p:sp>
      <p:pic>
        <p:nvPicPr>
          <p:cNvPr id="7170" name="Picture 2" descr="What is a Web Crawler?">
            <a:extLst>
              <a:ext uri="{FF2B5EF4-FFF2-40B4-BE49-F238E27FC236}">
                <a16:creationId xmlns:a16="http://schemas.microsoft.com/office/drawing/2014/main" id="{23849135-9D6F-521B-C03A-04524519B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91" y="2678571"/>
            <a:ext cx="5569646" cy="313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50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324670" y="3517992"/>
            <a:ext cx="5434830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moteurs de recherche découvrent les pages web </a:t>
            </a:r>
            <a:r>
              <a:rPr lang="fr-FR" sz="2000" b="1" u="sng" dirty="0">
                <a:solidFill>
                  <a:srgbClr val="303030"/>
                </a:solidFill>
                <a:latin typeface="Poppins" panose="00000500000000000000" pitchFamily="2" charset="0"/>
              </a:rPr>
              <a:t>grâce aux liens présents sur les pages déjà indexées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robots d'exploration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suivent ces liens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pour découvrir de nouvelles pages.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Fonctionnement des moteurs de recherche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1. le </a:t>
            </a:r>
            <a:r>
              <a:rPr lang="fr-FR" sz="5400" dirty="0" err="1">
                <a:solidFill>
                  <a:srgbClr val="303030"/>
                </a:solidFill>
                <a:latin typeface="Poppins" panose="00000500000000000000" pitchFamily="2" charset="0"/>
              </a:rPr>
              <a:t>crawling</a:t>
            </a:r>
            <a:endParaRPr lang="fr-FR" sz="5400" dirty="0"/>
          </a:p>
        </p:txBody>
      </p:sp>
      <p:pic>
        <p:nvPicPr>
          <p:cNvPr id="8194" name="Picture 2" descr="Link Juice | La transmission du Link Juice">
            <a:extLst>
              <a:ext uri="{FF2B5EF4-FFF2-40B4-BE49-F238E27FC236}">
                <a16:creationId xmlns:a16="http://schemas.microsoft.com/office/drawing/2014/main" id="{5D65FBA1-F2B8-7992-CC68-07C0CA08D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78264"/>
            <a:ext cx="5603529" cy="449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982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583737" y="360488"/>
            <a:ext cx="63515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CONCEPT DE « 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link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juice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 »</a:t>
            </a:r>
          </a:p>
        </p:txBody>
      </p:sp>
      <p:pic>
        <p:nvPicPr>
          <p:cNvPr id="9218" name="Picture 2" descr="Comment obtenir plus de visibilité locale ?">
            <a:extLst>
              <a:ext uri="{FF2B5EF4-FFF2-40B4-BE49-F238E27FC236}">
                <a16:creationId xmlns:a16="http://schemas.microsoft.com/office/drawing/2014/main" id="{DB9206D8-19AA-134D-3FC6-1F59C5C1F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48" t="11298"/>
          <a:stretch/>
        </p:blipFill>
        <p:spPr bwMode="auto">
          <a:xfrm>
            <a:off x="2680236" y="1778264"/>
            <a:ext cx="6255027" cy="465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183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>
            <a:normAutofit/>
          </a:bodyPr>
          <a:lstStyle/>
          <a:p>
            <a:endParaRPr lang="fr-FR" sz="5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224637" y="2900356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15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PLUS UN SITE EST FACILE à crawler et mieux il sera référencé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42D73C5-4FCC-5884-2F4A-066253C46EA7}"/>
              </a:ext>
            </a:extLst>
          </p:cNvPr>
          <p:cNvSpPr txBox="1">
            <a:spLocks/>
          </p:cNvSpPr>
          <p:nvPr/>
        </p:nvSpPr>
        <p:spPr>
          <a:xfrm>
            <a:off x="6378043" y="6107720"/>
            <a:ext cx="580283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800" dirty="0">
                <a:solidFill>
                  <a:srgbClr val="303030"/>
                </a:solidFill>
                <a:latin typeface="Poppins" panose="00000500000000000000" pitchFamily="2" charset="0"/>
              </a:rPr>
              <a:t>c’est très grand n’est-ce pas ? 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932628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937896" y="360488"/>
            <a:ext cx="773970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CONCEPT DE « crawl budget»</a:t>
            </a:r>
          </a:p>
        </p:txBody>
      </p:sp>
      <p:pic>
        <p:nvPicPr>
          <p:cNvPr id="14338" name="Picture 2" descr="What is Crawl Budget? And Why Does It Matter for SEO?">
            <a:extLst>
              <a:ext uri="{FF2B5EF4-FFF2-40B4-BE49-F238E27FC236}">
                <a16:creationId xmlns:a16="http://schemas.microsoft.com/office/drawing/2014/main" id="{45F58751-C390-AAB5-AB48-500C43586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795" y="1566539"/>
            <a:ext cx="6771218" cy="514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245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5607" y="3153551"/>
            <a:ext cx="5434830" cy="99731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de bloquer l'accès des robots d'exploration à certaines parties d'un site web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OPTIMISATION DU CRAWLING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robots.txt</a:t>
            </a:r>
            <a:endParaRPr lang="fr-FR" sz="5400" dirty="0"/>
          </a:p>
        </p:txBody>
      </p:sp>
      <p:pic>
        <p:nvPicPr>
          <p:cNvPr id="10242" name="Picture 2" descr="Le guide du robots.txt | Agence 90">
            <a:extLst>
              <a:ext uri="{FF2B5EF4-FFF2-40B4-BE49-F238E27FC236}">
                <a16:creationId xmlns:a16="http://schemas.microsoft.com/office/drawing/2014/main" id="{2DCBCE34-09CC-1BCA-F517-2B80F9461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336" y="1801530"/>
            <a:ext cx="5565764" cy="420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585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r>
              <a:rPr lang="fr-FR" dirty="0"/>
              <a:t> 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5607" y="4470401"/>
            <a:ext cx="5434830" cy="99731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de donner des instructions spécifiques aux robots d'exploration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« 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noindex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 » par exemple indique aux robots d'exploration de ne pas indexer une  page.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« 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nofollow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 » indique aux robots de ne pas suivre un lien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OPTIMISATION DU CRAWLING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balises </a:t>
            </a:r>
            <a:r>
              <a:rPr lang="fr-FR" sz="54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endParaRPr lang="fr-FR" sz="5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ED26FAF-2D21-E3C5-163F-6E4C409DC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60" y="1797602"/>
            <a:ext cx="5980750" cy="451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2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324670" y="4513005"/>
            <a:ext cx="5434830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L'indexation est le processus par lequel les informations collectées lors du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crawling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sont stockées dans la base de données d'un moteur de recherche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aux moteurs de recherche de fournir des résultats pertinents pour les requêtes de recherche des utilisateurs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Fonctionnement des moteurs de recherche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2. l’indexation</a:t>
            </a:r>
            <a:endParaRPr lang="fr-FR" sz="5400" dirty="0"/>
          </a:p>
        </p:txBody>
      </p:sp>
      <p:pic>
        <p:nvPicPr>
          <p:cNvPr id="12290" name="Picture 2" descr="The Basics of How Search Engine Indexing Works">
            <a:extLst>
              <a:ext uri="{FF2B5EF4-FFF2-40B4-BE49-F238E27FC236}">
                <a16:creationId xmlns:a16="http://schemas.microsoft.com/office/drawing/2014/main" id="{EC389856-FC7D-FB7A-AF52-9AF30E7F4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981" y="2094733"/>
            <a:ext cx="5778333" cy="436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177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295481" y="4530136"/>
            <a:ext cx="6182147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contenu (mots clés, LSI, pertinence, clarté, médias,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liens entrants (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backlinks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structure de la page (utilisation des balises HTML)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balises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(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meta-title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-description)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vitesse de la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facteurs sociaux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optimiser l’indexation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1099268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rgbClr val="303030"/>
                </a:solidFill>
                <a:latin typeface="Poppins" panose="00000500000000000000" pitchFamily="2" charset="0"/>
              </a:rPr>
              <a:t>Les moteurs de recherche utilisent une variété de critères pour indexer les pages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891170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324670" y="3956414"/>
            <a:ext cx="5434830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processus par lequel les moteurs de recherche ordonnent les pages indexées dans leur base de données en fonction de leur pertinence pour une requête de recherche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but du classement est de fournir des résultats de recherche pertinents et de qualité aux utilisateurs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Fonctionnement des moteurs de recherche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3. le classement</a:t>
            </a:r>
            <a:endParaRPr lang="fr-FR" sz="5400" dirty="0"/>
          </a:p>
        </p:txBody>
      </p:sp>
      <p:pic>
        <p:nvPicPr>
          <p:cNvPr id="15362" name="Picture 2" descr="Google SERP : signification, fonctionnalités, exemples">
            <a:extLst>
              <a:ext uri="{FF2B5EF4-FFF2-40B4-BE49-F238E27FC236}">
                <a16:creationId xmlns:a16="http://schemas.microsoft.com/office/drawing/2014/main" id="{38A07FD5-E9DE-6670-6B6A-61CAD010A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2DEEF"/>
              </a:clrFrom>
              <a:clrTo>
                <a:srgbClr val="C2DE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802" y="2322841"/>
            <a:ext cx="7985866" cy="419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971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324670" y="3868130"/>
            <a:ext cx="7427852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moteurs de recherche utilisent une variété de critères pour classer les pages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pertinence du contenu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autorité (la qualité et la quantité de liens entrants)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fraîcheur du contenu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réponse à l’intention de recherche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338420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Fonctionnement des moteurs de recherche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22977-8A7E-1B07-6C92-CCF1E22BAA6B}"/>
              </a:ext>
            </a:extLst>
          </p:cNvPr>
          <p:cNvSpPr txBox="1">
            <a:spLocks/>
          </p:cNvSpPr>
          <p:nvPr/>
        </p:nvSpPr>
        <p:spPr>
          <a:xfrm>
            <a:off x="515214" y="744242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  <a:latin typeface="Poppins" panose="00000500000000000000" pitchFamily="2" charset="0"/>
              </a:rPr>
              <a:t>3. le classement</a:t>
            </a:r>
            <a:endParaRPr lang="fr-FR" sz="5400" dirty="0"/>
          </a:p>
        </p:txBody>
      </p:sp>
    </p:spTree>
    <p:extLst>
      <p:ext uri="{BB962C8B-B14F-4D97-AF65-F5344CB8AC3E}">
        <p14:creationId xmlns:p14="http://schemas.microsoft.com/office/powerpoint/2010/main" val="861130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332383" y="131338"/>
            <a:ext cx="705865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vous vous souvenez de ça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pic>
        <p:nvPicPr>
          <p:cNvPr id="4098" name="Picture 2" descr="PageRank algorithm: how it works - YouTube">
            <a:extLst>
              <a:ext uri="{FF2B5EF4-FFF2-40B4-BE49-F238E27FC236}">
                <a16:creationId xmlns:a16="http://schemas.microsoft.com/office/drawing/2014/main" id="{EC44AC3B-BD71-E177-CDB2-35F44FB51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383" y="1443754"/>
            <a:ext cx="7058650" cy="397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E4EE144-3157-DCE1-EC06-F336602980F2}"/>
              </a:ext>
            </a:extLst>
          </p:cNvPr>
          <p:cNvSpPr txBox="1">
            <a:spLocks/>
          </p:cNvSpPr>
          <p:nvPr/>
        </p:nvSpPr>
        <p:spPr>
          <a:xfrm>
            <a:off x="1971256" y="4970844"/>
            <a:ext cx="8249487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ça sert justement à classer les liens en fonction de la qualité et de la quantité des liens pointant vers une page </a:t>
            </a:r>
          </a:p>
        </p:txBody>
      </p:sp>
    </p:spTree>
    <p:extLst>
      <p:ext uri="{BB962C8B-B14F-4D97-AF65-F5344CB8AC3E}">
        <p14:creationId xmlns:p14="http://schemas.microsoft.com/office/powerpoint/2010/main" val="3708323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324670" y="4304856"/>
            <a:ext cx="6233035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pénalités et conséquences sur le classement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moteurs de recherche peuvent infliger des pénalités à un site web qui enfreint leurs directives pour le référencement, telles que le spam de liens ou le contenu de faible qualité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pénalités peuvent entraîner une baisse de classement ou même une exclusion complète du site web des résultats de recherche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324670" y="776363"/>
            <a:ext cx="1172236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pénalités et conséquences sur le classement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21E0605-0109-8E13-8218-91AE66BD1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330" y="3922644"/>
            <a:ext cx="5334922" cy="29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20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589478" y="3293978"/>
            <a:ext cx="1043247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3900" dirty="0">
                <a:solidFill>
                  <a:schemeClr val="bg1"/>
                </a:solidFill>
                <a:latin typeface="Bebas Neue" panose="020B0606020202050201" pitchFamily="34" charset="0"/>
              </a:rPr>
              <a:t>questions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>
                <a:solidFill>
                  <a:schemeClr val="bg1"/>
                </a:solidFill>
              </a:rPr>
              <a:t>25</a:t>
            </a:fld>
            <a:endParaRPr lang="fr-FR">
              <a:solidFill>
                <a:schemeClr val="bg1"/>
              </a:solidFill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2308384-CE62-22BB-6307-D5A390F09F2B}"/>
              </a:ext>
            </a:extLst>
          </p:cNvPr>
          <p:cNvCxnSpPr>
            <a:cxnSpLocks/>
          </p:cNvCxnSpPr>
          <p:nvPr/>
        </p:nvCxnSpPr>
        <p:spPr>
          <a:xfrm flipH="1">
            <a:off x="7718193" y="5041507"/>
            <a:ext cx="392083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19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1005279" y="1409778"/>
            <a:ext cx="1043247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800" dirty="0">
                <a:solidFill>
                  <a:schemeClr val="bg1"/>
                </a:solidFill>
                <a:latin typeface="Bebas Neue" panose="020B0606020202050201" pitchFamily="34" charset="0"/>
              </a:rPr>
              <a:t>comment GOOGLE S’est imposé sur son marché ?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>
                <a:solidFill>
                  <a:schemeClr val="bg1"/>
                </a:solidFill>
              </a:rPr>
              <a:t>26</a:t>
            </a:fld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3609557" y="4005967"/>
            <a:ext cx="5223916" cy="15880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grâce à </a:t>
            </a:r>
            <a:r>
              <a:rPr lang="fr-FR" sz="6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pagerank</a:t>
            </a:r>
            <a:endParaRPr lang="fr-FR" sz="6600" dirty="0">
              <a:solidFill>
                <a:schemeClr val="accent1">
                  <a:lumMod val="60000"/>
                  <a:lumOff val="40000"/>
                </a:schemeClr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74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596348" y="1409778"/>
            <a:ext cx="1084140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800" dirty="0">
                <a:solidFill>
                  <a:schemeClr val="bg1"/>
                </a:solidFill>
                <a:latin typeface="Bebas Neue" panose="020B0606020202050201" pitchFamily="34" charset="0"/>
              </a:rPr>
              <a:t>C’est quoi le crawl budget ?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>
                <a:solidFill>
                  <a:schemeClr val="bg1"/>
                </a:solidFill>
              </a:rPr>
              <a:t>27</a:t>
            </a:fld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3484042" y="4005967"/>
            <a:ext cx="5223916" cy="15880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le temps alloué à un bot pour crawler un site</a:t>
            </a:r>
          </a:p>
        </p:txBody>
      </p:sp>
    </p:spTree>
    <p:extLst>
      <p:ext uri="{BB962C8B-B14F-4D97-AF65-F5344CB8AC3E}">
        <p14:creationId xmlns:p14="http://schemas.microsoft.com/office/powerpoint/2010/main" val="230485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596348" y="1409778"/>
            <a:ext cx="1084140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800" dirty="0">
                <a:solidFill>
                  <a:schemeClr val="bg1"/>
                </a:solidFill>
                <a:latin typeface="Bebas Neue" panose="020B0606020202050201" pitchFamily="34" charset="0"/>
              </a:rPr>
              <a:t>CITEZ UNE Méthode d’optimisation de </a:t>
            </a:r>
            <a:r>
              <a:rPr lang="fr-FR" sz="8800" dirty="0" err="1">
                <a:solidFill>
                  <a:schemeClr val="bg1"/>
                </a:solidFill>
                <a:latin typeface="Bebas Neue" panose="020B0606020202050201" pitchFamily="34" charset="0"/>
              </a:rPr>
              <a:t>crawling</a:t>
            </a:r>
            <a:endParaRPr lang="fr-FR" sz="88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>
                <a:solidFill>
                  <a:schemeClr val="bg1"/>
                </a:solidFill>
              </a:rPr>
              <a:t>28</a:t>
            </a:fld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2C97CA-31FF-8D84-2250-5F2C917F640A}"/>
              </a:ext>
            </a:extLst>
          </p:cNvPr>
          <p:cNvSpPr txBox="1">
            <a:spLocks/>
          </p:cNvSpPr>
          <p:nvPr/>
        </p:nvSpPr>
        <p:spPr>
          <a:xfrm>
            <a:off x="3386684" y="4151740"/>
            <a:ext cx="5223916" cy="15880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600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ROBOTS.</a:t>
            </a:r>
            <a:r>
              <a:rPr lang="fr-FR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TXT</a:t>
            </a:r>
          </a:p>
          <a:p>
            <a:pPr algn="ctr"/>
            <a:r>
              <a:rPr lang="fr-FR" sz="6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nollow</a:t>
            </a:r>
            <a:endParaRPr lang="fr-FR" sz="6600" dirty="0">
              <a:solidFill>
                <a:schemeClr val="accent1">
                  <a:lumMod val="60000"/>
                  <a:lumOff val="40000"/>
                </a:schemeClr>
              </a:solidFill>
              <a:latin typeface="Bebas Neue" panose="020B0606020202050201" pitchFamily="34" charset="0"/>
            </a:endParaRPr>
          </a:p>
          <a:p>
            <a:pPr algn="ctr"/>
            <a:r>
              <a:rPr lang="fr-FR" sz="6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meta</a:t>
            </a:r>
            <a:r>
              <a:rPr lang="fr-FR" sz="6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ebas Neue" panose="020B0606020202050201" pitchFamily="34" charset="0"/>
              </a:rPr>
              <a:t>noindex</a:t>
            </a:r>
            <a:endParaRPr lang="fr-FR" sz="6600" dirty="0">
              <a:solidFill>
                <a:schemeClr val="accent1">
                  <a:lumMod val="60000"/>
                  <a:lumOff val="40000"/>
                </a:schemeClr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74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2886</TotalTime>
  <Words>834</Words>
  <Application>Microsoft Office PowerPoint</Application>
  <PresentationFormat>Grand écran</PresentationFormat>
  <Paragraphs>117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Adel Akouche</cp:lastModifiedBy>
  <cp:revision>28</cp:revision>
  <dcterms:created xsi:type="dcterms:W3CDTF">2021-11-16T19:28:52Z</dcterms:created>
  <dcterms:modified xsi:type="dcterms:W3CDTF">2024-10-10T09:13:50Z</dcterms:modified>
</cp:coreProperties>
</file>