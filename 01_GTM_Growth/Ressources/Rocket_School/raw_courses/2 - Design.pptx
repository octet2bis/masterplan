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63" r:id="rId4"/>
    <p:sldId id="284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4" r:id="rId18"/>
    <p:sldId id="276" r:id="rId19"/>
    <p:sldId id="279" r:id="rId20"/>
    <p:sldId id="281" r:id="rId21"/>
    <p:sldId id="282" r:id="rId22"/>
    <p:sldId id="285" r:id="rId23"/>
    <p:sldId id="286" r:id="rId24"/>
    <p:sldId id="290" r:id="rId25"/>
    <p:sldId id="291" r:id="rId26"/>
    <p:sldId id="292" r:id="rId27"/>
    <p:sldId id="293" r:id="rId28"/>
    <p:sldId id="280" r:id="rId29"/>
    <p:sldId id="294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B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F66FB-E6A4-4564-B18C-D1F38528371C}" type="datetimeFigureOut">
              <a:rPr lang="fr-FR" smtClean="0"/>
              <a:t>24/11/2022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64EFA-5835-4AEE-8C5C-A466EFA86A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55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DCD2B5-A2C4-4D94-96A7-F9E06640F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0E72A-9F18-427D-9659-427BA5E3A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D864E9-B811-4698-89A6-943A3C91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890E43-2238-434F-BF86-D9F3AD46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DE7488-7003-40EA-B12D-50B2CD45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63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C79B6-37CA-48C1-BC3F-B1BC5EB7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EEC782-6DED-4F78-BBF0-4C29BB5F3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AF6A6-ADF7-47C5-BFBF-C6B3BD7C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D2707D-6782-4F0B-8AC1-839DCA66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BDCA5D-6981-4B48-ACE6-539962B6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107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CF08AA-92E9-4924-BFE8-95003FDC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02EA24-91FF-477F-8D32-AA41DA44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03AEF1-6B19-486C-8DC1-3AADEA8E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A58EB9-3BC6-4E24-9C69-D1B6DFFB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A703BE-734C-481E-ACBD-89F7E0CC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46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CBCF5D-103B-4B6C-87EE-C31C55F2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81D8CA-F613-46F1-B84B-BBEE53189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2A5F24-49C5-4080-867D-D1856EAC9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1FD020-54CD-46CE-8266-CAD7C185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AA57E7-5DCA-4BF7-83A8-24FB186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EFDF19-8551-46C5-B71F-1C175DA4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37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45307E-391C-457B-9419-BBF08C10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C0C5F3-BFF9-41A8-81AB-8F19EEF65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A9DA4A-FB12-4391-8BED-16AD34288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6A8C034-6DD0-4BD6-9BC6-CF88AE078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9800CD-D481-48E3-9CF0-154CB4887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D643F9-43C8-49F1-892D-F98AC382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673113-8B18-46C7-AACD-8E9578865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3288D28-D72A-4039-BBB8-42217D83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1A02D-359B-4E5A-B610-8F7D4E57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C236D31-9C3F-4A34-AD44-147909FE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CC00557-4393-4B54-A254-1B04590F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2F0FCD-2573-4C62-B04E-491DF2A2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48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EF431A6-933C-4F9E-B439-4158FA880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FD6601-9831-4808-9B6E-B47624D5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4A52BB-62C1-48CC-B932-7EE15E3F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9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E8BC5-EA04-48D7-B3DD-8AB5194B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8ACF1-582A-4A73-92C1-006C2A4C9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068C24-DD74-414B-A231-1ED7A892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135839-DC17-4EEF-AF16-CF60549F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2F040B-D77E-4C64-9A6C-8F3A43691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6C8C8A-1222-4834-9788-71485D9A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1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090A9-B59D-47F0-8F62-69B3810C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E4BDBE0-830B-4A1B-8D0D-93FDAE510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0500A6-0756-4F62-98EE-28ABF0469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C04A2D-20C1-4ED8-AA7D-EE189C52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FE39D6-5DA1-4C5C-8C95-E7194362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A88744-DC79-4CFD-811D-45EA2AD8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82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0413D-9CFD-475C-A24A-302E20BF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482C0C-BFD8-431D-B6BF-0CA1D203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581FEE-00C7-4FEA-8CC9-66AABFCE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318E33-BF2E-4991-BB57-6EF3B8D3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B9F73E-AA51-4745-B948-F0B51460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18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9D4B5E8-6A0D-4501-BECF-DEE278DB7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6D32CC-B464-468D-ACD4-E8B8CB2A7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39BF34-6CD7-477D-8691-2B9A854A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3CFDCD-8177-4EC8-B362-A1F7A552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702883-B7D1-4B1F-997C-7D40A1F6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007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29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0A61911-10F0-4145-A994-E40EB564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D86AB7-D1CE-4752-8DD5-069D457D7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BDA9CF-DEFB-4961-A269-922C69ED6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6465BD-51D0-4350-8232-8D64D3B69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3A599B-09C4-4A43-9E22-E78BF962E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0BFB3-04A2-4225-B01E-C26AF18CA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60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://www.code-couleur.com/" TargetMode="Externa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www.code-couleur.com/" TargetMode="Externa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" TargetMode="External"/><Relationship Id="rId2" Type="http://schemas.openxmlformats.org/officeDocument/2006/relationships/hyperlink" Target="http://www.fontpair.co/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UX/UI &amp; Landing Page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3311" y="4391209"/>
            <a:ext cx="654291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2 : design </a:t>
            </a:r>
            <a:b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</a:b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3668"/>
            <a:chOff x="574159" y="-896088"/>
            <a:chExt cx="6298362" cy="25736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127050" y="624957"/>
              <a:ext cx="1849263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704591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Identité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Science ?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Introduction à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l’ui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design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7890BA-5E57-4796-BCF3-85DD7C8F2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04" y="2440760"/>
            <a:ext cx="5481422" cy="308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3D4F26F-7DB1-4F3D-8AE5-4DF81EC3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B8C4EB-40FA-4312-9F98-BCCDE1AF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85209" y="4470401"/>
            <a:ext cx="6351526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b="1" dirty="0">
                <a:solidFill>
                  <a:srgbClr val="303030"/>
                </a:solidFill>
              </a:rPr>
              <a:t>l’aspect visuel d’une marque </a:t>
            </a:r>
            <a:r>
              <a:rPr lang="fr-FR" sz="2000" dirty="0">
                <a:solidFill>
                  <a:srgbClr val="303030"/>
                </a:solidFill>
              </a:rPr>
              <a:t>représente son identité. Elle représente l’ensemble des éléments qui permettent de l'identifier.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85209" y="3632085"/>
            <a:ext cx="742111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design : À quoi ça sert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7DC7829-1F74-4AA4-87F4-FC9FC83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51" y="453862"/>
            <a:ext cx="7811132" cy="2907135"/>
          </a:xfrm>
          <a:prstGeom prst="rect">
            <a:avLst/>
          </a:prstGeom>
        </p:spPr>
      </p:pic>
      <p:pic>
        <p:nvPicPr>
          <p:cNvPr id="4098" name="Picture 2" descr="adidas Brand Design Study on Behance">
            <a:extLst>
              <a:ext uri="{FF2B5EF4-FFF2-40B4-BE49-F238E27FC236}">
                <a16:creationId xmlns:a16="http://schemas.microsoft.com/office/drawing/2014/main" id="{B4B1CDBF-E2CD-468F-A4DD-5E054D5C8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886" y="2376460"/>
            <a:ext cx="3385905" cy="421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CBFC8009-8974-44D0-AAB1-167225D1CA1B}"/>
              </a:ext>
            </a:extLst>
          </p:cNvPr>
          <p:cNvSpPr txBox="1">
            <a:spLocks/>
          </p:cNvSpPr>
          <p:nvPr/>
        </p:nvSpPr>
        <p:spPr>
          <a:xfrm>
            <a:off x="-33695" y="6324988"/>
            <a:ext cx="6870430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2800" b="1" i="0" dirty="0">
                <a:solidFill>
                  <a:schemeClr val="accent5">
                    <a:lumMod val="50000"/>
                  </a:schemeClr>
                </a:solidFill>
                <a:effectLst/>
                <a:latin typeface="Poppins" panose="00000500000000000000" pitchFamily="2" charset="0"/>
              </a:rPr>
              <a:t>outre représenter, le design sert aussi à attirer. Intriguer.</a:t>
            </a:r>
            <a:endParaRPr lang="fr-FR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85209" y="4470401"/>
            <a:ext cx="6351526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b="1" dirty="0">
                <a:solidFill>
                  <a:srgbClr val="B4C7E7"/>
                </a:solidFill>
              </a:rPr>
              <a:t>l’aspect visuel d’une marque </a:t>
            </a:r>
            <a:r>
              <a:rPr lang="fr-FR" sz="2000" dirty="0">
                <a:solidFill>
                  <a:srgbClr val="B4C7E7"/>
                </a:solidFill>
              </a:rPr>
              <a:t>représente son identité. </a:t>
            </a:r>
            <a:r>
              <a:rPr lang="fr-FR" sz="2000" dirty="0">
                <a:solidFill>
                  <a:srgbClr val="303030"/>
                </a:solidFill>
              </a:rPr>
              <a:t>Elle représente l’ensemble des éléments qui permettent de l'identifier.</a:t>
            </a:r>
            <a:endParaRPr lang="fr-FR" sz="2000" dirty="0"/>
          </a:p>
        </p:txBody>
      </p:sp>
      <p:pic>
        <p:nvPicPr>
          <p:cNvPr id="17410" name="Picture 2" descr="McDonald&amp;#39;s — Wikipédia">
            <a:extLst>
              <a:ext uri="{FF2B5EF4-FFF2-40B4-BE49-F238E27FC236}">
                <a16:creationId xmlns:a16="http://schemas.microsoft.com/office/drawing/2014/main" id="{E13CAC0D-5A50-403D-8CA2-01A5A5783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709" y="738249"/>
            <a:ext cx="2853120" cy="249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Swoosh — Wikipédia">
            <a:extLst>
              <a:ext uri="{FF2B5EF4-FFF2-40B4-BE49-F238E27FC236}">
                <a16:creationId xmlns:a16="http://schemas.microsoft.com/office/drawing/2014/main" id="{33DD2656-4D8A-4CDB-8FA2-EBACB3D96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087" y="4439438"/>
            <a:ext cx="5829913" cy="21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B071599F-4315-4943-8D60-7E1FDAF54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09" y="447701"/>
            <a:ext cx="2266718" cy="269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 descr="Starbucks — Wikipédia">
            <a:extLst>
              <a:ext uri="{FF2B5EF4-FFF2-40B4-BE49-F238E27FC236}">
                <a16:creationId xmlns:a16="http://schemas.microsoft.com/office/drawing/2014/main" id="{A9A13992-32DA-493F-88F9-867584113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060" y="738250"/>
            <a:ext cx="2470158" cy="249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79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</a:rPr>
              <a:t>1.  concept</a:t>
            </a:r>
            <a:endParaRPr lang="fr-FR" sz="6600" dirty="0"/>
          </a:p>
        </p:txBody>
      </p:sp>
      <p:pic>
        <p:nvPicPr>
          <p:cNvPr id="5122" name="Picture 2" descr="Create a beautiful logo for the art of sleep | concours de Logo | 99designs">
            <a:extLst>
              <a:ext uri="{FF2B5EF4-FFF2-40B4-BE49-F238E27FC236}">
                <a16:creationId xmlns:a16="http://schemas.microsoft.com/office/drawing/2014/main" id="{F7DEF18D-7000-4B88-9123-68CF85E5F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82"/>
          <a:stretch/>
        </p:blipFill>
        <p:spPr bwMode="auto">
          <a:xfrm>
            <a:off x="6755088" y="1321161"/>
            <a:ext cx="4762500" cy="421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mazon logo | Registrar">
            <a:extLst>
              <a:ext uri="{FF2B5EF4-FFF2-40B4-BE49-F238E27FC236}">
                <a16:creationId xmlns:a16="http://schemas.microsoft.com/office/drawing/2014/main" id="{E2EC12B1-6E8A-4603-B3F7-9607CA93E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68" y="3294538"/>
            <a:ext cx="4543135" cy="191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Mark checkmark done good ok yes icon - Very Basic Android L Lollipop">
            <a:extLst>
              <a:ext uri="{FF2B5EF4-FFF2-40B4-BE49-F238E27FC236}">
                <a16:creationId xmlns:a16="http://schemas.microsoft.com/office/drawing/2014/main" id="{2455A96B-75F3-43D5-A705-305AA245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954" y="5033276"/>
            <a:ext cx="1751162" cy="175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Cancel, close button, cross, delete symbol, x mark icon - Download on  Iconfinder">
            <a:extLst>
              <a:ext uri="{FF2B5EF4-FFF2-40B4-BE49-F238E27FC236}">
                <a16:creationId xmlns:a16="http://schemas.microsoft.com/office/drawing/2014/main" id="{94C03A91-EBDD-44F9-AFD7-7E63FDAD5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843" y="5360361"/>
            <a:ext cx="1096991" cy="109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F405B08-52C3-4FB4-9684-4C07E175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B248F5-4CE5-4E86-A549-D18F3F0D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93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Nike poster by Anton Burmistrov | 창의 포스터, 포스터 디자인, 그래픽 디자인 포스터">
            <a:extLst>
              <a:ext uri="{FF2B5EF4-FFF2-40B4-BE49-F238E27FC236}">
                <a16:creationId xmlns:a16="http://schemas.microsoft.com/office/drawing/2014/main" id="{B1FBA105-D266-4CBB-9BCF-47F2FC3EB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4851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89A1150-8074-446A-A0F0-B996025F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0"/>
            <a:ext cx="4838700" cy="685800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DFC35E-4DD6-4DE1-8711-0A4FF9BA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282059-4CFA-4DE9-988B-1FFEABE9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554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261777" y="2832875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</a:rPr>
              <a:t>2</a:t>
            </a:r>
            <a:r>
              <a:rPr lang="fr-FR" sz="6600" b="0" i="0" dirty="0">
                <a:solidFill>
                  <a:srgbClr val="303030"/>
                </a:solidFill>
                <a:effectLst/>
              </a:rPr>
              <a:t>.  e</a:t>
            </a:r>
            <a:r>
              <a:rPr lang="fr-FR" sz="6600" dirty="0">
                <a:solidFill>
                  <a:srgbClr val="303030"/>
                </a:solidFill>
              </a:rPr>
              <a:t>xploiter l’espace</a:t>
            </a:r>
            <a:endParaRPr lang="fr-FR" sz="6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7352A23-BE7D-44AA-8FA7-68A91D737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764"/>
          <a:stretch/>
        </p:blipFill>
        <p:spPr>
          <a:xfrm>
            <a:off x="4154035" y="3839905"/>
            <a:ext cx="7794660" cy="276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6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8636187-272D-4177-8F2C-B771E5A8A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39" y="1871932"/>
            <a:ext cx="5314792" cy="311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F702018-E182-4CFE-863A-53A743B1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84" y="1871932"/>
            <a:ext cx="5314792" cy="311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0AE9B5C7-82D8-4DF6-8F52-6B13A4FE0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3" y="281339"/>
            <a:ext cx="5744261" cy="382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White space design - 20 striking examples and best practices - Justinmind">
            <a:extLst>
              <a:ext uri="{FF2B5EF4-FFF2-40B4-BE49-F238E27FC236}">
                <a16:creationId xmlns:a16="http://schemas.microsoft.com/office/drawing/2014/main" id="{4354D8F5-5637-4F38-ABE2-42A7451F0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34" y="2240951"/>
            <a:ext cx="5706135" cy="433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White space design - 20 striking examples and best practices - Justinmind">
            <a:extLst>
              <a:ext uri="{FF2B5EF4-FFF2-40B4-BE49-F238E27FC236}">
                <a16:creationId xmlns:a16="http://schemas.microsoft.com/office/drawing/2014/main" id="{42F0E6A8-1A4B-4594-9ED0-8CC57CAA4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5"/>
          <a:stretch/>
        </p:blipFill>
        <p:spPr bwMode="auto">
          <a:xfrm>
            <a:off x="291143" y="3899141"/>
            <a:ext cx="5744261" cy="84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48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261777" y="2832875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</a:rPr>
              <a:t>3</a:t>
            </a:r>
            <a:r>
              <a:rPr lang="fr-FR" sz="6600" b="0" i="0" dirty="0">
                <a:solidFill>
                  <a:srgbClr val="303030"/>
                </a:solidFill>
                <a:effectLst/>
              </a:rPr>
              <a:t>.  h</a:t>
            </a:r>
            <a:r>
              <a:rPr lang="fr-FR" sz="6600" dirty="0">
                <a:solidFill>
                  <a:srgbClr val="303030"/>
                </a:solidFill>
              </a:rPr>
              <a:t>iérarchiser le contenu</a:t>
            </a:r>
            <a:endParaRPr lang="fr-FR" sz="66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F1C9C55-062F-4CE3-B8AF-7D88BD103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75"/>
          <a:stretch/>
        </p:blipFill>
        <p:spPr bwMode="auto">
          <a:xfrm>
            <a:off x="3315991" y="3873260"/>
            <a:ext cx="8375678" cy="253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33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E1E812-03C1-4E45-BAA3-4CFE27B9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37" y="1088119"/>
            <a:ext cx="6325302" cy="498487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99B1BD5-1393-48FF-A34C-0C4E892A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230" y="1088118"/>
            <a:ext cx="4932803" cy="498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4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7" y="1911370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</a:rPr>
              <a:t>4.  rester simple</a:t>
            </a:r>
            <a:endParaRPr lang="fr-FR" sz="6600" dirty="0"/>
          </a:p>
        </p:txBody>
      </p:sp>
      <p:pic>
        <p:nvPicPr>
          <p:cNvPr id="11266" name="Picture 2" descr="Minimalist Logo Design by Fauzi Mutaqin on Dribbble">
            <a:extLst>
              <a:ext uri="{FF2B5EF4-FFF2-40B4-BE49-F238E27FC236}">
                <a16:creationId xmlns:a16="http://schemas.microsoft.com/office/drawing/2014/main" id="{9F8F6E4F-74CE-41A6-A28B-1D8113B08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9" y="2935907"/>
            <a:ext cx="4635757" cy="347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34360E9-8EDC-4C1D-8CDF-F1D240662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41" y="2935907"/>
            <a:ext cx="4390472" cy="347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5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ED09B293-BE30-4DB4-8D17-24EFB7C2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51" y="778048"/>
            <a:ext cx="10610436" cy="530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85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5" y="191137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5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</a:t>
            </a:r>
            <a:r>
              <a:rPr lang="fr-FR" sz="6600" dirty="0">
                <a:solidFill>
                  <a:srgbClr val="303030"/>
                </a:solidFill>
              </a:rPr>
              <a:t>c</a:t>
            </a:r>
            <a:r>
              <a:rPr lang="fr-FR" sz="6600" b="0" i="0" dirty="0">
                <a:solidFill>
                  <a:srgbClr val="303030"/>
                </a:solidFill>
                <a:effectLst/>
              </a:rPr>
              <a:t>onnaître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 les couleurs</a:t>
            </a:r>
            <a:endParaRPr lang="fr-FR" sz="660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64E8CC1-CA98-4B0B-87BC-C9F4EFFA6963}"/>
              </a:ext>
            </a:extLst>
          </p:cNvPr>
          <p:cNvSpPr txBox="1">
            <a:spLocks/>
          </p:cNvSpPr>
          <p:nvPr/>
        </p:nvSpPr>
        <p:spPr>
          <a:xfrm>
            <a:off x="9099184" y="6018284"/>
            <a:ext cx="297419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  <a:hlinkClick r:id="rId2"/>
              </a:rPr>
              <a:t>www.code-couleur.com</a:t>
            </a:r>
            <a:endParaRPr lang="fr-FR" sz="1800" dirty="0"/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8B5DD89A-1460-4AB7-9443-AB9CBD662B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 bwMode="auto">
          <a:xfrm>
            <a:off x="739687" y="2661650"/>
            <a:ext cx="5263412" cy="390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678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7" y="719456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/>
              <a:t>un peu de lecture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64E8CC1-CA98-4B0B-87BC-C9F4EFFA6963}"/>
              </a:ext>
            </a:extLst>
          </p:cNvPr>
          <p:cNvSpPr txBox="1">
            <a:spLocks/>
          </p:cNvSpPr>
          <p:nvPr/>
        </p:nvSpPr>
        <p:spPr>
          <a:xfrm>
            <a:off x="8995668" y="6297282"/>
            <a:ext cx="2974195" cy="355475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  <a:hlinkClick r:id="rId2"/>
              </a:rPr>
              <a:t>www.code-couleur.com</a:t>
            </a:r>
            <a:endParaRPr lang="fr-FR" sz="18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2CB40E-5CD9-47F6-AEF5-07B7DC9058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0" t="1394"/>
          <a:stretch/>
        </p:blipFill>
        <p:spPr>
          <a:xfrm>
            <a:off x="278986" y="1647644"/>
            <a:ext cx="10963065" cy="407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44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5" y="191137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6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</a:t>
            </a:r>
            <a:r>
              <a:rPr lang="fr-FR" sz="6600" dirty="0">
                <a:solidFill>
                  <a:srgbClr val="303030"/>
                </a:solidFill>
              </a:rPr>
              <a:t>limiter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 les couleurs</a:t>
            </a:r>
            <a:endParaRPr lang="fr-FR" sz="6600" dirty="0"/>
          </a:p>
        </p:txBody>
      </p:sp>
      <p:pic>
        <p:nvPicPr>
          <p:cNvPr id="16386" name="Picture 2" descr="Apprendre à associer les couleurs grâce à la roue chromatique">
            <a:extLst>
              <a:ext uri="{FF2B5EF4-FFF2-40B4-BE49-F238E27FC236}">
                <a16:creationId xmlns:a16="http://schemas.microsoft.com/office/drawing/2014/main" id="{1374CD73-F95E-4424-8761-E30EC92A3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230" y="3178577"/>
            <a:ext cx="3718512" cy="278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Blue and Pink Logo Color Combination">
            <a:extLst>
              <a:ext uri="{FF2B5EF4-FFF2-40B4-BE49-F238E27FC236}">
                <a16:creationId xmlns:a16="http://schemas.microsoft.com/office/drawing/2014/main" id="{3AA4184C-685D-4F11-AF29-8C04C64CE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67" y="2955280"/>
            <a:ext cx="3064991" cy="150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Black and Yellow Logo Color Combination">
            <a:extLst>
              <a:ext uri="{FF2B5EF4-FFF2-40B4-BE49-F238E27FC236}">
                <a16:creationId xmlns:a16="http://schemas.microsoft.com/office/drawing/2014/main" id="{B887D793-B111-4055-B0C0-4A78282FD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67" y="5061803"/>
            <a:ext cx="3066622" cy="150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Orange and Blue Logo Color Combination">
            <a:extLst>
              <a:ext uri="{FF2B5EF4-FFF2-40B4-BE49-F238E27FC236}">
                <a16:creationId xmlns:a16="http://schemas.microsoft.com/office/drawing/2014/main" id="{A83E0B35-8942-46DA-9072-99963791FD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6394" name="Picture 10" descr="Teal and Coral Color Combination">
            <a:extLst>
              <a:ext uri="{FF2B5EF4-FFF2-40B4-BE49-F238E27FC236}">
                <a16:creationId xmlns:a16="http://schemas.microsoft.com/office/drawing/2014/main" id="{174D2E7A-48F1-43C4-AF3E-852C0FA77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042" y="2967346"/>
            <a:ext cx="3066455" cy="150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6" name="Picture 12" descr="Orange and Blue Logo Color Combination">
            <a:extLst>
              <a:ext uri="{FF2B5EF4-FFF2-40B4-BE49-F238E27FC236}">
                <a16:creationId xmlns:a16="http://schemas.microsoft.com/office/drawing/2014/main" id="{363630AE-B443-43F7-AC11-C9C6B90FC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502" y="5061803"/>
            <a:ext cx="3064995" cy="150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812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5" y="191137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</a:rPr>
              <a:t>6</a:t>
            </a:r>
            <a:r>
              <a:rPr lang="fr-FR" sz="6600" b="0" i="0" dirty="0">
                <a:solidFill>
                  <a:srgbClr val="303030"/>
                </a:solidFill>
                <a:effectLst/>
              </a:rPr>
              <a:t>.  </a:t>
            </a:r>
            <a:r>
              <a:rPr lang="fr-FR" sz="6600" dirty="0">
                <a:solidFill>
                  <a:srgbClr val="303030"/>
                </a:solidFill>
              </a:rPr>
              <a:t>limiter</a:t>
            </a:r>
            <a:r>
              <a:rPr lang="fr-FR" sz="6600" b="0" i="0" dirty="0">
                <a:solidFill>
                  <a:srgbClr val="303030"/>
                </a:solidFill>
                <a:effectLst/>
              </a:rPr>
              <a:t> les couleurs</a:t>
            </a:r>
            <a:endParaRPr lang="fr-FR" sz="66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8DE9A14-18C1-48F7-A3FE-867B8DCB9BAA}"/>
              </a:ext>
            </a:extLst>
          </p:cNvPr>
          <p:cNvGrpSpPr/>
          <p:nvPr/>
        </p:nvGrpSpPr>
        <p:grpSpPr>
          <a:xfrm>
            <a:off x="351536" y="3174125"/>
            <a:ext cx="11380388" cy="2990170"/>
            <a:chOff x="351536" y="3036102"/>
            <a:chExt cx="11380388" cy="2990170"/>
          </a:xfrm>
        </p:grpSpPr>
        <p:pic>
          <p:nvPicPr>
            <p:cNvPr id="15362" name="Picture 2" descr="DuckDuckJuice logo">
              <a:extLst>
                <a:ext uri="{FF2B5EF4-FFF2-40B4-BE49-F238E27FC236}">
                  <a16:creationId xmlns:a16="http://schemas.microsoft.com/office/drawing/2014/main" id="{8B8848EC-9594-4E3F-81B3-3964212F17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7729" y="3036102"/>
              <a:ext cx="2974195" cy="297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64" name="Picture 4" descr="Kenjis Ramen Grill logo ">
              <a:extLst>
                <a:ext uri="{FF2B5EF4-FFF2-40B4-BE49-F238E27FC236}">
                  <a16:creationId xmlns:a16="http://schemas.microsoft.com/office/drawing/2014/main" id="{81273EFE-BA90-4F82-BF19-04DE06616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700" y="3036102"/>
              <a:ext cx="4458889" cy="298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1BE8A821-44FC-4BE2-A959-21A9A565A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1536" y="3044090"/>
              <a:ext cx="2982182" cy="2982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2118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à considérer pour un bon design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5" y="191137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</a:rPr>
              <a:t>7.  </a:t>
            </a:r>
            <a:r>
              <a:rPr lang="fr-FR" sz="6600" dirty="0">
                <a:solidFill>
                  <a:srgbClr val="303030"/>
                </a:solidFill>
              </a:rPr>
              <a:t>limiter</a:t>
            </a:r>
            <a:r>
              <a:rPr lang="fr-FR" sz="6600" b="0" i="0" dirty="0">
                <a:solidFill>
                  <a:srgbClr val="303030"/>
                </a:solidFill>
                <a:effectLst/>
              </a:rPr>
              <a:t> les polices</a:t>
            </a:r>
            <a:endParaRPr lang="fr-FR" sz="6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9F0FDB-1D9F-49F1-B1DA-6DFFF36C9209}"/>
              </a:ext>
            </a:extLst>
          </p:cNvPr>
          <p:cNvSpPr txBox="1"/>
          <p:nvPr/>
        </p:nvSpPr>
        <p:spPr>
          <a:xfrm>
            <a:off x="259486" y="3276748"/>
            <a:ext cx="805408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 err="1">
                <a:latin typeface="Bebas Neue" panose="020B0606020202050201" pitchFamily="34" charset="0"/>
              </a:rPr>
              <a:t>Bebas</a:t>
            </a:r>
            <a:r>
              <a:rPr lang="fr-FR" sz="13800" dirty="0">
                <a:latin typeface="Bebas Neue" panose="020B0606020202050201" pitchFamily="34" charset="0"/>
              </a:rPr>
              <a:t> Neue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699B43-CBDE-4529-B11B-B28B0C825316}"/>
              </a:ext>
            </a:extLst>
          </p:cNvPr>
          <p:cNvSpPr txBox="1"/>
          <p:nvPr/>
        </p:nvSpPr>
        <p:spPr>
          <a:xfrm>
            <a:off x="259486" y="4360801"/>
            <a:ext cx="805408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 err="1">
                <a:latin typeface="Silka" panose="00000500000000000000" pitchFamily="50" charset="0"/>
              </a:rPr>
              <a:t>Silka</a:t>
            </a:r>
            <a:endParaRPr lang="fr-FR" sz="13800" dirty="0">
              <a:latin typeface="Silka" panose="00000500000000000000" pitchFamily="50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1F1B0D-5EBB-4CFF-A580-6DF40C45F98B}"/>
              </a:ext>
            </a:extLst>
          </p:cNvPr>
          <p:cNvSpPr txBox="1"/>
          <p:nvPr/>
        </p:nvSpPr>
        <p:spPr>
          <a:xfrm>
            <a:off x="8573059" y="3500197"/>
            <a:ext cx="324493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3200" b="0" i="0" dirty="0">
                <a:solidFill>
                  <a:srgbClr val="000000"/>
                </a:solidFill>
                <a:effectLst/>
                <a:latin typeface="Bebas Neue" panose="020B0606020202050201" pitchFamily="34" charset="0"/>
              </a:rPr>
              <a:t>Qu'est-ce que le Lorem Ipsum?</a:t>
            </a:r>
          </a:p>
          <a:p>
            <a:pPr algn="l"/>
            <a:endParaRPr lang="fr-FR" sz="1400" b="0" i="0" dirty="0">
              <a:solidFill>
                <a:srgbClr val="000000"/>
              </a:solidFill>
              <a:effectLst/>
              <a:latin typeface="Bebas Neue" panose="020B0606020202050201" pitchFamily="34" charset="0"/>
            </a:endParaRPr>
          </a:p>
          <a:p>
            <a:pPr algn="just"/>
            <a:r>
              <a:rPr lang="fr-FR" sz="1400" b="0" i="0" dirty="0">
                <a:solidFill>
                  <a:srgbClr val="000000"/>
                </a:solidFill>
                <a:effectLst/>
                <a:latin typeface="Silka" panose="00000500000000000000" pitchFamily="50" charset="0"/>
              </a:rPr>
              <a:t>Le </a:t>
            </a:r>
            <a:r>
              <a:rPr lang="fr-FR" sz="1400" b="1" i="0" dirty="0">
                <a:solidFill>
                  <a:srgbClr val="000000"/>
                </a:solidFill>
                <a:effectLst/>
                <a:latin typeface="Silka" panose="00000500000000000000" pitchFamily="50" charset="0"/>
              </a:rPr>
              <a:t>Lorem Ipsum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Silka" panose="00000500000000000000" pitchFamily="50" charset="0"/>
              </a:rPr>
              <a:t> est simplement du faux texte employé dans la composition et la mise en page avant impression. </a:t>
            </a:r>
          </a:p>
          <a:p>
            <a:pPr algn="just"/>
            <a:endParaRPr lang="fr-FR" sz="1400" b="0" i="0" dirty="0">
              <a:solidFill>
                <a:srgbClr val="000000"/>
              </a:solidFill>
              <a:effectLst/>
              <a:latin typeface="Silka" panose="00000500000000000000" pitchFamily="50" charset="0"/>
            </a:endParaRPr>
          </a:p>
          <a:p>
            <a:pPr algn="just"/>
            <a:r>
              <a:rPr lang="fr-FR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 Lorem Ipsum est le faux texte standard de l'imprimerie depuis les années 1500,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90306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3C76A76C-9649-40BC-AD23-D02F73515A4D}"/>
              </a:ext>
            </a:extLst>
          </p:cNvPr>
          <p:cNvSpPr txBox="1">
            <a:spLocks/>
          </p:cNvSpPr>
          <p:nvPr/>
        </p:nvSpPr>
        <p:spPr>
          <a:xfrm>
            <a:off x="144967" y="719456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/>
              <a:t>combinaison de polices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64E8CC1-CA98-4B0B-87BC-C9F4EFFA6963}"/>
              </a:ext>
            </a:extLst>
          </p:cNvPr>
          <p:cNvSpPr txBox="1">
            <a:spLocks/>
          </p:cNvSpPr>
          <p:nvPr/>
        </p:nvSpPr>
        <p:spPr>
          <a:xfrm>
            <a:off x="10056717" y="6381841"/>
            <a:ext cx="2974195" cy="355475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  <a:hlinkClick r:id="rId2"/>
              </a:rPr>
              <a:t>fontpair.co</a:t>
            </a:r>
            <a:endParaRPr lang="fr-FR" sz="1800" b="0" i="0" dirty="0">
              <a:solidFill>
                <a:srgbClr val="303030"/>
              </a:solidFill>
              <a:effectLst/>
              <a:latin typeface="Poppins" panose="00000500000000000000" pitchFamily="2" charset="0"/>
            </a:endParaRPr>
          </a:p>
          <a:p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  <a:hlinkClick r:id="rId3"/>
              </a:rPr>
              <a:t>font.google.co</a:t>
            </a:r>
            <a:endParaRPr lang="fr-FR" sz="1800" b="0" i="0" dirty="0">
              <a:solidFill>
                <a:srgbClr val="303030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02A81C2-4168-470B-8FE9-47D2C50DA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16" y="1566589"/>
            <a:ext cx="5990182" cy="489117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FE80A70-8584-43FC-8F9D-70F80D66B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010" y="1566589"/>
            <a:ext cx="4986856" cy="28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53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74576" y="4869323"/>
            <a:ext cx="6508544" cy="167283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une charte graphique est un recueil des règles constituant une identité visuelle. C’est un document qui regroupe l’ensemble des éléments caractéristiques d’une marque.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74576" y="3842602"/>
            <a:ext cx="84186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Charte graphique : C’est quoi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4CC8AB8-E6AF-4003-8C93-D24D3DAFB4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3" t="12807" r="6588" b="12205"/>
          <a:stretch/>
        </p:blipFill>
        <p:spPr>
          <a:xfrm>
            <a:off x="560949" y="273004"/>
            <a:ext cx="6351526" cy="3048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F850D78-CA07-4DCC-AF9B-8FC81110B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974"/>
          <a:stretch/>
        </p:blipFill>
        <p:spPr>
          <a:xfrm>
            <a:off x="7285098" y="1786564"/>
            <a:ext cx="4534279" cy="411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9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20533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73819" y="2040874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à n’importe quel designer d’assimiler les codes de la marque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crée de la cohérence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détermine les attributs de la marque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73819" y="324440"/>
            <a:ext cx="41204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À quoi ça sert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06AD26F-1C0F-4A9D-9D4C-E99EE64C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47" y="3277565"/>
            <a:ext cx="5788435" cy="3255995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CD3B5AFC-5509-47B6-89DE-848A32C7661C}"/>
              </a:ext>
            </a:extLst>
          </p:cNvPr>
          <p:cNvSpPr txBox="1">
            <a:spLocks/>
          </p:cNvSpPr>
          <p:nvPr/>
        </p:nvSpPr>
        <p:spPr>
          <a:xfrm>
            <a:off x="7679149" y="2974247"/>
            <a:ext cx="41204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HISTOIRE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MISSION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Logo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Couleurs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Polices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Espacements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Fonds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Photos</a:t>
            </a:r>
          </a:p>
          <a:p>
            <a:r>
              <a:rPr lang="fr-FR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icones</a:t>
            </a:r>
          </a:p>
        </p:txBody>
      </p:sp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20533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F41BD8-3EF0-422A-A1F1-9C5FB125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18" y="406689"/>
            <a:ext cx="6172200" cy="62293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30B80E5-3584-4AD8-B414-D1838746AAF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77475" y="4068038"/>
            <a:ext cx="3943350" cy="190009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F7B736E-A85B-4CE5-AD18-42AAB7F1B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300" y="1688348"/>
            <a:ext cx="4685700" cy="150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96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Quelques mauvais designs </a:t>
            </a:r>
          </a:p>
        </p:txBody>
      </p:sp>
      <p:pic>
        <p:nvPicPr>
          <p:cNvPr id="18442" name="Picture 10" descr="kerning">
            <a:extLst>
              <a:ext uri="{FF2B5EF4-FFF2-40B4-BE49-F238E27FC236}">
                <a16:creationId xmlns:a16="http://schemas.microsoft.com/office/drawing/2014/main" id="{3D9C3026-440E-40CC-8152-74467DDBD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004" y="2253609"/>
            <a:ext cx="7477991" cy="372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15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Quelques mauvais designs </a:t>
            </a:r>
          </a:p>
        </p:txBody>
      </p:sp>
      <p:pic>
        <p:nvPicPr>
          <p:cNvPr id="6" name="Picture 12" descr="font variants examples">
            <a:extLst>
              <a:ext uri="{FF2B5EF4-FFF2-40B4-BE49-F238E27FC236}">
                <a16:creationId xmlns:a16="http://schemas.microsoft.com/office/drawing/2014/main" id="{9FC76942-ED78-4172-A0D6-24A605710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004" y="2216660"/>
            <a:ext cx="7477991" cy="372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7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Quelques mauvais designs </a:t>
            </a:r>
          </a:p>
        </p:txBody>
      </p:sp>
      <p:pic>
        <p:nvPicPr>
          <p:cNvPr id="8" name="Picture 2" descr="alignment example">
            <a:extLst>
              <a:ext uri="{FF2B5EF4-FFF2-40B4-BE49-F238E27FC236}">
                <a16:creationId xmlns:a16="http://schemas.microsoft.com/office/drawing/2014/main" id="{ABD4F742-DF02-4154-959C-C57C32972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240" y="2216660"/>
            <a:ext cx="7477990" cy="372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279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Quelques mauvais designs </a:t>
            </a:r>
          </a:p>
        </p:txBody>
      </p:sp>
      <p:pic>
        <p:nvPicPr>
          <p:cNvPr id="6" name="Picture 4" descr="textures example">
            <a:extLst>
              <a:ext uri="{FF2B5EF4-FFF2-40B4-BE49-F238E27FC236}">
                <a16:creationId xmlns:a16="http://schemas.microsoft.com/office/drawing/2014/main" id="{331BCBBE-0904-4557-A187-217193AE8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240" y="2223367"/>
            <a:ext cx="7477990" cy="372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432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459CD71-A8BD-4141-9F0C-8945920E3D83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93022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Quelques mauvais designs </a:t>
            </a:r>
          </a:p>
        </p:txBody>
      </p:sp>
      <p:pic>
        <p:nvPicPr>
          <p:cNvPr id="22530" name="Picture 2" descr="colour example">
            <a:extLst>
              <a:ext uri="{FF2B5EF4-FFF2-40B4-BE49-F238E27FC236}">
                <a16:creationId xmlns:a16="http://schemas.microsoft.com/office/drawing/2014/main" id="{EDB4735D-F2DD-4C25-A203-F14446F9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770" y="2216660"/>
            <a:ext cx="7477990" cy="372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34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Etude de cas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832136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The Right Guys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8A05B60-AD07-4004-9AF7-E632EC5BD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28" y="2911989"/>
            <a:ext cx="4943200" cy="35540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153ADE-60EF-4F35-A1E3-7B9EC8A4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28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69FB36D-D355-4B46-8B7B-6C9A407A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679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3288" y="3993661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UX/UI design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enjeux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UX </a:t>
            </a:r>
            <a:r>
              <a:rPr lang="fr-FR" sz="6600" dirty="0" err="1">
                <a:solidFill>
                  <a:schemeClr val="bg1"/>
                </a:solidFill>
                <a:latin typeface="Poppins" panose="00000500000000000000" pitchFamily="2" charset="0"/>
              </a:rPr>
              <a:t>writing</a:t>
            </a: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 </a:t>
            </a:r>
            <a:endParaRPr lang="fr-FR" sz="66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E1C059-12D6-45B8-AF6B-8266F86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29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646436-9056-4EE3-A6CD-0EE5846C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351</Words>
  <Application>Microsoft Office PowerPoint</Application>
  <PresentationFormat>Grand écran</PresentationFormat>
  <Paragraphs>75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Arial</vt:lpstr>
      <vt:lpstr>Bebas Neue</vt:lpstr>
      <vt:lpstr>Calibri</vt:lpstr>
      <vt:lpstr>Calibri Light</vt:lpstr>
      <vt:lpstr>Open Sans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Fayçal Sellam</dc:creator>
  <cp:lastModifiedBy>User1</cp:lastModifiedBy>
  <cp:revision>9</cp:revision>
  <dcterms:created xsi:type="dcterms:W3CDTF">2021-11-17T16:56:37Z</dcterms:created>
  <dcterms:modified xsi:type="dcterms:W3CDTF">2022-11-24T06:46:57Z</dcterms:modified>
</cp:coreProperties>
</file>